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3.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1.xml" ContentType="application/vnd.openxmlformats-officedocument.drawingml.chart+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sldIdLst>
    <p:sldId id="256" r:id="rId5"/>
    <p:sldId id="257" r:id="rId6"/>
    <p:sldId id="258" r:id="rId7"/>
    <p:sldId id="259" r:id="rId8"/>
    <p:sldId id="260" r:id="rId9"/>
    <p:sldId id="282" r:id="rId10"/>
    <p:sldId id="308" r:id="rId11"/>
    <p:sldId id="286" r:id="rId12"/>
    <p:sldId id="309" r:id="rId13"/>
    <p:sldId id="310" r:id="rId14"/>
    <p:sldId id="262" r:id="rId15"/>
    <p:sldId id="263" r:id="rId16"/>
    <p:sldId id="264" r:id="rId17"/>
    <p:sldId id="289" r:id="rId18"/>
    <p:sldId id="290" r:id="rId19"/>
    <p:sldId id="266" r:id="rId20"/>
    <p:sldId id="305" r:id="rId21"/>
    <p:sldId id="267" r:id="rId22"/>
    <p:sldId id="268" r:id="rId23"/>
    <p:sldId id="293" r:id="rId24"/>
    <p:sldId id="272" r:id="rId25"/>
    <p:sldId id="302" r:id="rId26"/>
    <p:sldId id="299" r:id="rId27"/>
    <p:sldId id="273" r:id="rId28"/>
    <p:sldId id="295" r:id="rId29"/>
    <p:sldId id="297" r:id="rId30"/>
    <p:sldId id="296" r:id="rId31"/>
    <p:sldId id="275" r:id="rId32"/>
    <p:sldId id="277" r:id="rId33"/>
    <p:sldId id="278" r:id="rId34"/>
    <p:sldId id="291" r:id="rId35"/>
    <p:sldId id="279" r:id="rId36"/>
    <p:sldId id="281" r:id="rId37"/>
    <p:sldId id="284" r:id="rId38"/>
    <p:sldId id="285" r:id="rId39"/>
    <p:sldId id="283" r:id="rId40"/>
    <p:sldId id="261" r:id="rId41"/>
    <p:sldId id="307" r:id="rId42"/>
    <p:sldId id="265" r:id="rId43"/>
    <p:sldId id="288" r:id="rId44"/>
    <p:sldId id="270" r:id="rId45"/>
    <p:sldId id="292" r:id="rId46"/>
    <p:sldId id="271" r:id="rId47"/>
    <p:sldId id="294" r:id="rId48"/>
    <p:sldId id="301" r:id="rId49"/>
    <p:sldId id="274" r:id="rId50"/>
    <p:sldId id="300" r:id="rId51"/>
    <p:sldId id="306" r:id="rId52"/>
    <p:sldId id="298" r:id="rId53"/>
    <p:sldId id="276" r:id="rId54"/>
    <p:sldId id="303" r:id="rId5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15B96-F50F-4361-8B70-7853D01CA7A1}" v="23" dt="2026-05-06T13:41:01.6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2" autoAdjust="0"/>
    <p:restoredTop sz="75545" autoAdjust="0"/>
  </p:normalViewPr>
  <p:slideViewPr>
    <p:cSldViewPr snapToGrid="0" snapToObjects="1">
      <p:cViewPr>
        <p:scale>
          <a:sx n="100" d="100"/>
          <a:sy n="100" d="100"/>
        </p:scale>
        <p:origin x="2100" y="2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XIN WEI#" userId="c7541720-8262-414d-81f4-cf2bccc0ac97" providerId="ADAL" clId="{6E1469B3-B60B-4068-94AD-7F37BFC1336D}"/>
    <pc:docChg chg="undo custSel addSld delSld modSld sldOrd">
      <pc:chgData name="#LIM XIN WEI#" userId="c7541720-8262-414d-81f4-cf2bccc0ac97" providerId="ADAL" clId="{6E1469B3-B60B-4068-94AD-7F37BFC1336D}" dt="2026-05-07T03:23:05.578" v="34595" actId="20577"/>
      <pc:docMkLst>
        <pc:docMk/>
      </pc:docMkLst>
      <pc:sldChg chg="addSp delSp modSp mod modNotesTx">
        <pc:chgData name="#LIM XIN WEI#" userId="c7541720-8262-414d-81f4-cf2bccc0ac97" providerId="ADAL" clId="{6E1469B3-B60B-4068-94AD-7F37BFC1336D}" dt="2026-04-29T08:55:03.174" v="20491" actId="20577"/>
        <pc:sldMkLst>
          <pc:docMk/>
          <pc:sldMk cId="0" sldId="256"/>
        </pc:sldMkLst>
        <pc:spChg chg="mod">
          <ac:chgData name="#LIM XIN WEI#" userId="c7541720-8262-414d-81f4-cf2bccc0ac97" providerId="ADAL" clId="{6E1469B3-B60B-4068-94AD-7F37BFC1336D}" dt="2026-04-26T13:13:25.738" v="0" actId="1076"/>
          <ac:spMkLst>
            <pc:docMk/>
            <pc:sldMk cId="0" sldId="256"/>
            <ac:spMk id="3" creationId="{00000000-0000-0000-0000-000000000000}"/>
          </ac:spMkLst>
        </pc:spChg>
        <pc:picChg chg="add mod">
          <ac:chgData name="#LIM XIN WEI#" userId="c7541720-8262-414d-81f4-cf2bccc0ac97" providerId="ADAL" clId="{6E1469B3-B60B-4068-94AD-7F37BFC1336D}" dt="2026-04-27T03:02:08.197" v="8" actId="1076"/>
          <ac:picMkLst>
            <pc:docMk/>
            <pc:sldMk cId="0" sldId="256"/>
            <ac:picMk id="11" creationId="{97B1C75C-48E8-F9E6-1503-17657E76432F}"/>
          </ac:picMkLst>
        </pc:picChg>
      </pc:sldChg>
      <pc:sldChg chg="modSp mod modNotesTx">
        <pc:chgData name="#LIM XIN WEI#" userId="c7541720-8262-414d-81f4-cf2bccc0ac97" providerId="ADAL" clId="{6E1469B3-B60B-4068-94AD-7F37BFC1336D}" dt="2026-05-07T03:19:25.496" v="34380" actId="20577"/>
        <pc:sldMkLst>
          <pc:docMk/>
          <pc:sldMk cId="0" sldId="257"/>
        </pc:sldMkLst>
        <pc:spChg chg="mod">
          <ac:chgData name="#LIM XIN WEI#" userId="c7541720-8262-414d-81f4-cf2bccc0ac97" providerId="ADAL" clId="{6E1469B3-B60B-4068-94AD-7F37BFC1336D}" dt="2026-05-07T03:19:25.496" v="34380" actId="20577"/>
          <ac:spMkLst>
            <pc:docMk/>
            <pc:sldMk cId="0" sldId="257"/>
            <ac:spMk id="2" creationId="{00000000-0000-0000-0000-000000000000}"/>
          </ac:spMkLst>
        </pc:spChg>
        <pc:spChg chg="mod">
          <ac:chgData name="#LIM XIN WEI#" userId="c7541720-8262-414d-81f4-cf2bccc0ac97" providerId="ADAL" clId="{6E1469B3-B60B-4068-94AD-7F37BFC1336D}" dt="2026-04-27T03:48:23.870" v="681" actId="20577"/>
          <ac:spMkLst>
            <pc:docMk/>
            <pc:sldMk cId="0" sldId="257"/>
            <ac:spMk id="10" creationId="{00000000-0000-0000-0000-000000000000}"/>
          </ac:spMkLst>
        </pc:spChg>
        <pc:spChg chg="mod">
          <ac:chgData name="#LIM XIN WEI#" userId="c7541720-8262-414d-81f4-cf2bccc0ac97" providerId="ADAL" clId="{6E1469B3-B60B-4068-94AD-7F37BFC1336D}" dt="2026-04-27T03:10:22.395" v="174" actId="20577"/>
          <ac:spMkLst>
            <pc:docMk/>
            <pc:sldMk cId="0" sldId="257"/>
            <ac:spMk id="14" creationId="{00000000-0000-0000-0000-000000000000}"/>
          </ac:spMkLst>
        </pc:spChg>
        <pc:spChg chg="mod">
          <ac:chgData name="#LIM XIN WEI#" userId="c7541720-8262-414d-81f4-cf2bccc0ac97" providerId="ADAL" clId="{6E1469B3-B60B-4068-94AD-7F37BFC1336D}" dt="2026-04-27T03:10:04.690" v="159" actId="20577"/>
          <ac:spMkLst>
            <pc:docMk/>
            <pc:sldMk cId="0" sldId="257"/>
            <ac:spMk id="18" creationId="{00000000-0000-0000-0000-000000000000}"/>
          </ac:spMkLst>
        </pc:spChg>
        <pc:spChg chg="mod">
          <ac:chgData name="#LIM XIN WEI#" userId="c7541720-8262-414d-81f4-cf2bccc0ac97" providerId="ADAL" clId="{6E1469B3-B60B-4068-94AD-7F37BFC1336D}" dt="2026-04-29T08:54:28.057" v="20475" actId="20577"/>
          <ac:spMkLst>
            <pc:docMk/>
            <pc:sldMk cId="0" sldId="257"/>
            <ac:spMk id="21" creationId="{00000000-0000-0000-0000-000000000000}"/>
          </ac:spMkLst>
        </pc:spChg>
        <pc:spChg chg="mod">
          <ac:chgData name="#LIM XIN WEI#" userId="c7541720-8262-414d-81f4-cf2bccc0ac97" providerId="ADAL" clId="{6E1469B3-B60B-4068-94AD-7F37BFC1336D}" dt="2026-04-29T08:54:04.841" v="20457" actId="20577"/>
          <ac:spMkLst>
            <pc:docMk/>
            <pc:sldMk cId="0" sldId="257"/>
            <ac:spMk id="22" creationId="{00000000-0000-0000-0000-000000000000}"/>
          </ac:spMkLst>
        </pc:spChg>
      </pc:sldChg>
      <pc:sldChg chg="addSp modSp mod modNotesTx">
        <pc:chgData name="#LIM XIN WEI#" userId="c7541720-8262-414d-81f4-cf2bccc0ac97" providerId="ADAL" clId="{6E1469B3-B60B-4068-94AD-7F37BFC1336D}" dt="2026-05-07T03:19:30.245" v="34382" actId="20577"/>
        <pc:sldMkLst>
          <pc:docMk/>
          <pc:sldMk cId="0" sldId="258"/>
        </pc:sldMkLst>
        <pc:spChg chg="mod">
          <ac:chgData name="#LIM XIN WEI#" userId="c7541720-8262-414d-81f4-cf2bccc0ac97" providerId="ADAL" clId="{6E1469B3-B60B-4068-94AD-7F37BFC1336D}" dt="2026-05-07T03:19:30.245" v="34382" actId="20577"/>
          <ac:spMkLst>
            <pc:docMk/>
            <pc:sldMk cId="0" sldId="258"/>
            <ac:spMk id="4" creationId="{00000000-0000-0000-0000-000000000000}"/>
          </ac:spMkLst>
        </pc:spChg>
        <pc:spChg chg="mod">
          <ac:chgData name="#LIM XIN WEI#" userId="c7541720-8262-414d-81f4-cf2bccc0ac97" providerId="ADAL" clId="{6E1469B3-B60B-4068-94AD-7F37BFC1336D}" dt="2026-04-27T03:15:49.782" v="190" actId="1076"/>
          <ac:spMkLst>
            <pc:docMk/>
            <pc:sldMk cId="0" sldId="258"/>
            <ac:spMk id="12" creationId="{00000000-0000-0000-0000-000000000000}"/>
          </ac:spMkLst>
        </pc:spChg>
        <pc:picChg chg="add mod">
          <ac:chgData name="#LIM XIN WEI#" userId="c7541720-8262-414d-81f4-cf2bccc0ac97" providerId="ADAL" clId="{6E1469B3-B60B-4068-94AD-7F37BFC1336D}" dt="2026-04-27T03:15:39.783" v="188" actId="1076"/>
          <ac:picMkLst>
            <pc:docMk/>
            <pc:sldMk cId="0" sldId="258"/>
            <ac:picMk id="16" creationId="{35F42DB3-2BA5-CF9B-B159-1C84BBD0277E}"/>
          </ac:picMkLst>
        </pc:picChg>
      </pc:sldChg>
      <pc:sldChg chg="addSp delSp modSp mod modNotesTx">
        <pc:chgData name="#LIM XIN WEI#" userId="c7541720-8262-414d-81f4-cf2bccc0ac97" providerId="ADAL" clId="{6E1469B3-B60B-4068-94AD-7F37BFC1336D}" dt="2026-05-07T03:19:36.366" v="34384" actId="20577"/>
        <pc:sldMkLst>
          <pc:docMk/>
          <pc:sldMk cId="0" sldId="259"/>
        </pc:sldMkLst>
        <pc:spChg chg="mod">
          <ac:chgData name="#LIM XIN WEI#" userId="c7541720-8262-414d-81f4-cf2bccc0ac97" providerId="ADAL" clId="{6E1469B3-B60B-4068-94AD-7F37BFC1336D}" dt="2026-05-07T03:19:36.366" v="34384" actId="20577"/>
          <ac:spMkLst>
            <pc:docMk/>
            <pc:sldMk cId="0" sldId="259"/>
            <ac:spMk id="4"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8"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9" creationId="{00000000-0000-0000-0000-000000000000}"/>
          </ac:spMkLst>
        </pc:spChg>
        <pc:spChg chg="mod">
          <ac:chgData name="#LIM XIN WEI#" userId="c7541720-8262-414d-81f4-cf2bccc0ac97" providerId="ADAL" clId="{6E1469B3-B60B-4068-94AD-7F37BFC1336D}" dt="2026-04-29T09:33:07.870" v="21603" actId="1076"/>
          <ac:spMkLst>
            <pc:docMk/>
            <pc:sldMk cId="0" sldId="259"/>
            <ac:spMk id="11"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2"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3"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5"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6"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7"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8"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19" creationId="{00000000-0000-0000-0000-000000000000}"/>
          </ac:spMkLst>
        </pc:spChg>
        <pc:spChg chg="mod">
          <ac:chgData name="#LIM XIN WEI#" userId="c7541720-8262-414d-81f4-cf2bccc0ac97" providerId="ADAL" clId="{6E1469B3-B60B-4068-94AD-7F37BFC1336D}" dt="2026-04-29T09:34:22.353" v="21609" actId="1076"/>
          <ac:spMkLst>
            <pc:docMk/>
            <pc:sldMk cId="0" sldId="259"/>
            <ac:spMk id="21" creationId="{00000000-0000-0000-0000-000000000000}"/>
          </ac:spMkLst>
        </pc:spChg>
        <pc:spChg chg="add mod">
          <ac:chgData name="#LIM XIN WEI#" userId="c7541720-8262-414d-81f4-cf2bccc0ac97" providerId="ADAL" clId="{6E1469B3-B60B-4068-94AD-7F37BFC1336D}" dt="2026-04-29T09:26:10.369" v="21397" actId="1076"/>
          <ac:spMkLst>
            <pc:docMk/>
            <pc:sldMk cId="0" sldId="259"/>
            <ac:spMk id="34" creationId="{2A1FFD82-7E46-10F6-62DD-2076093D4EB6}"/>
          </ac:spMkLst>
        </pc:spChg>
        <pc:spChg chg="add mod">
          <ac:chgData name="#LIM XIN WEI#" userId="c7541720-8262-414d-81f4-cf2bccc0ac97" providerId="ADAL" clId="{6E1469B3-B60B-4068-94AD-7F37BFC1336D}" dt="2026-04-29T09:23:58.880" v="21376" actId="164"/>
          <ac:spMkLst>
            <pc:docMk/>
            <pc:sldMk cId="0" sldId="259"/>
            <ac:spMk id="35" creationId="{429E93C3-D4C9-F2D5-17B8-73D83FD54431}"/>
          </ac:spMkLst>
        </pc:spChg>
        <pc:spChg chg="add mod">
          <ac:chgData name="#LIM XIN WEI#" userId="c7541720-8262-414d-81f4-cf2bccc0ac97" providerId="ADAL" clId="{6E1469B3-B60B-4068-94AD-7F37BFC1336D}" dt="2026-04-30T13:09:16.447" v="24438" actId="20577"/>
          <ac:spMkLst>
            <pc:docMk/>
            <pc:sldMk cId="0" sldId="259"/>
            <ac:spMk id="36" creationId="{9526CB67-1C6C-4ACD-ABF0-6D1BB7DD3906}"/>
          </ac:spMkLst>
        </pc:spChg>
        <pc:spChg chg="mod">
          <ac:chgData name="#LIM XIN WEI#" userId="c7541720-8262-414d-81f4-cf2bccc0ac97" providerId="ADAL" clId="{6E1469B3-B60B-4068-94AD-7F37BFC1336D}" dt="2026-04-29T09:31:41.146" v="21574"/>
          <ac:spMkLst>
            <pc:docMk/>
            <pc:sldMk cId="0" sldId="259"/>
            <ac:spMk id="39" creationId="{15CCB0A6-E277-60BC-88AF-B320461C8376}"/>
          </ac:spMkLst>
        </pc:spChg>
        <pc:spChg chg="mod">
          <ac:chgData name="#LIM XIN WEI#" userId="c7541720-8262-414d-81f4-cf2bccc0ac97" providerId="ADAL" clId="{6E1469B3-B60B-4068-94AD-7F37BFC1336D}" dt="2026-04-29T09:31:57.974" v="21586" actId="20577"/>
          <ac:spMkLst>
            <pc:docMk/>
            <pc:sldMk cId="0" sldId="259"/>
            <ac:spMk id="40" creationId="{F3686EFD-FC0D-2417-8A6B-44E484132537}"/>
          </ac:spMkLst>
        </pc:spChg>
        <pc:spChg chg="mod">
          <ac:chgData name="#LIM XIN WEI#" userId="c7541720-8262-414d-81f4-cf2bccc0ac97" providerId="ADAL" clId="{6E1469B3-B60B-4068-94AD-7F37BFC1336D}" dt="2026-04-29T09:32:43.372" v="21600" actId="20577"/>
          <ac:spMkLst>
            <pc:docMk/>
            <pc:sldMk cId="0" sldId="259"/>
            <ac:spMk id="41" creationId="{0772CDD0-0269-E9C6-C101-B3ADCC1BE13A}"/>
          </ac:spMkLst>
        </pc:spChg>
        <pc:grpChg chg="add del mod">
          <ac:chgData name="#LIM XIN WEI#" userId="c7541720-8262-414d-81f4-cf2bccc0ac97" providerId="ADAL" clId="{6E1469B3-B60B-4068-94AD-7F37BFC1336D}" dt="2026-04-29T09:27:40.898" v="21408" actId="1076"/>
          <ac:grpSpMkLst>
            <pc:docMk/>
            <pc:sldMk cId="0" sldId="259"/>
            <ac:grpSpMk id="37" creationId="{B6E8D217-56FB-ACC6-F798-6D7A2EF512BA}"/>
          </ac:grpSpMkLst>
        </pc:grpChg>
        <pc:grpChg chg="add mod">
          <ac:chgData name="#LIM XIN WEI#" userId="c7541720-8262-414d-81f4-cf2bccc0ac97" providerId="ADAL" clId="{6E1469B3-B60B-4068-94AD-7F37BFC1336D}" dt="2026-04-29T09:33:48.522" v="21607" actId="1076"/>
          <ac:grpSpMkLst>
            <pc:docMk/>
            <pc:sldMk cId="0" sldId="259"/>
            <ac:grpSpMk id="38" creationId="{55129897-26B3-370F-8BD9-1322820BFBBC}"/>
          </ac:grpSpMkLst>
        </pc:grpChg>
      </pc:sldChg>
      <pc:sldChg chg="addSp delSp modSp mod ord modNotesTx">
        <pc:chgData name="#LIM XIN WEI#" userId="c7541720-8262-414d-81f4-cf2bccc0ac97" providerId="ADAL" clId="{6E1469B3-B60B-4068-94AD-7F37BFC1336D}" dt="2026-05-07T03:19:40.353" v="34386" actId="20577"/>
        <pc:sldMkLst>
          <pc:docMk/>
          <pc:sldMk cId="0" sldId="260"/>
        </pc:sldMkLst>
        <pc:spChg chg="mod">
          <ac:chgData name="#LIM XIN WEI#" userId="c7541720-8262-414d-81f4-cf2bccc0ac97" providerId="ADAL" clId="{6E1469B3-B60B-4068-94AD-7F37BFC1336D}" dt="2026-05-07T03:19:40.353" v="34386" actId="20577"/>
          <ac:spMkLst>
            <pc:docMk/>
            <pc:sldMk cId="0" sldId="260"/>
            <ac:spMk id="4" creationId="{00000000-0000-0000-0000-000000000000}"/>
          </ac:spMkLst>
        </pc:spChg>
        <pc:spChg chg="mod">
          <ac:chgData name="#LIM XIN WEI#" userId="c7541720-8262-414d-81f4-cf2bccc0ac97" providerId="ADAL" clId="{6E1469B3-B60B-4068-94AD-7F37BFC1336D}" dt="2026-04-29T09:36:19.057" v="21681" actId="20577"/>
          <ac:spMkLst>
            <pc:docMk/>
            <pc:sldMk cId="0" sldId="260"/>
            <ac:spMk id="5" creationId="{00000000-0000-0000-0000-000000000000}"/>
          </ac:spMkLst>
        </pc:spChg>
        <pc:spChg chg="mod">
          <ac:chgData name="#LIM XIN WEI#" userId="c7541720-8262-414d-81f4-cf2bccc0ac97" providerId="ADAL" clId="{6E1469B3-B60B-4068-94AD-7F37BFC1336D}" dt="2026-04-27T11:23:47.488" v="3361" actId="1076"/>
          <ac:spMkLst>
            <pc:docMk/>
            <pc:sldMk cId="0" sldId="260"/>
            <ac:spMk id="6" creationId="{00000000-0000-0000-0000-000000000000}"/>
          </ac:spMkLst>
        </pc:spChg>
        <pc:spChg chg="mod">
          <ac:chgData name="#LIM XIN WEI#" userId="c7541720-8262-414d-81f4-cf2bccc0ac97" providerId="ADAL" clId="{6E1469B3-B60B-4068-94AD-7F37BFC1336D}" dt="2026-04-27T11:23:14.932" v="3354" actId="255"/>
          <ac:spMkLst>
            <pc:docMk/>
            <pc:sldMk cId="0" sldId="260"/>
            <ac:spMk id="7" creationId="{00000000-0000-0000-0000-000000000000}"/>
          </ac:spMkLst>
        </pc:spChg>
        <pc:spChg chg="mod">
          <ac:chgData name="#LIM XIN WEI#" userId="c7541720-8262-414d-81f4-cf2bccc0ac97" providerId="ADAL" clId="{6E1469B3-B60B-4068-94AD-7F37BFC1336D}" dt="2026-04-27T11:25:04.817" v="3388" actId="1076"/>
          <ac:spMkLst>
            <pc:docMk/>
            <pc:sldMk cId="0" sldId="260"/>
            <ac:spMk id="8" creationId="{00000000-0000-0000-0000-000000000000}"/>
          </ac:spMkLst>
        </pc:spChg>
        <pc:spChg chg="mod">
          <ac:chgData name="#LIM XIN WEI#" userId="c7541720-8262-414d-81f4-cf2bccc0ac97" providerId="ADAL" clId="{6E1469B3-B60B-4068-94AD-7F37BFC1336D}" dt="2026-04-27T11:21:53.654" v="3338" actId="20577"/>
          <ac:spMkLst>
            <pc:docMk/>
            <pc:sldMk cId="0" sldId="260"/>
            <ac:spMk id="9" creationId="{00000000-0000-0000-0000-000000000000}"/>
          </ac:spMkLst>
        </pc:spChg>
        <pc:spChg chg="mod">
          <ac:chgData name="#LIM XIN WEI#" userId="c7541720-8262-414d-81f4-cf2bccc0ac97" providerId="ADAL" clId="{6E1469B3-B60B-4068-94AD-7F37BFC1336D}" dt="2026-04-27T11:23:53.015" v="3362" actId="1076"/>
          <ac:spMkLst>
            <pc:docMk/>
            <pc:sldMk cId="0" sldId="260"/>
            <ac:spMk id="12" creationId="{00000000-0000-0000-0000-000000000000}"/>
          </ac:spMkLst>
        </pc:spChg>
        <pc:spChg chg="add del">
          <ac:chgData name="#LIM XIN WEI#" userId="c7541720-8262-414d-81f4-cf2bccc0ac97" providerId="ADAL" clId="{6E1469B3-B60B-4068-94AD-7F37BFC1336D}" dt="2026-04-27T04:21:18.696" v="1843" actId="21"/>
          <ac:spMkLst>
            <pc:docMk/>
            <pc:sldMk cId="0" sldId="260"/>
            <ac:spMk id="14" creationId="{00000000-0000-0000-0000-000000000000}"/>
          </ac:spMkLst>
        </pc:spChg>
        <pc:spChg chg="mod">
          <ac:chgData name="#LIM XIN WEI#" userId="c7541720-8262-414d-81f4-cf2bccc0ac97" providerId="ADAL" clId="{6E1469B3-B60B-4068-94AD-7F37BFC1336D}" dt="2026-04-27T13:26:23.342" v="4708" actId="20577"/>
          <ac:spMkLst>
            <pc:docMk/>
            <pc:sldMk cId="0" sldId="260"/>
            <ac:spMk id="16" creationId="{00000000-0000-0000-0000-000000000000}"/>
          </ac:spMkLst>
        </pc:spChg>
        <pc:spChg chg="add mod">
          <ac:chgData name="#LIM XIN WEI#" userId="c7541720-8262-414d-81f4-cf2bccc0ac97" providerId="ADAL" clId="{6E1469B3-B60B-4068-94AD-7F37BFC1336D}" dt="2026-04-27T11:25:30.768" v="3396" actId="1076"/>
          <ac:spMkLst>
            <pc:docMk/>
            <pc:sldMk cId="0" sldId="260"/>
            <ac:spMk id="18" creationId="{5A5FCA68-7E22-B4F1-5361-B74A76F4FEFB}"/>
          </ac:spMkLst>
        </pc:spChg>
        <pc:spChg chg="add mod">
          <ac:chgData name="#LIM XIN WEI#" userId="c7541720-8262-414d-81f4-cf2bccc0ac97" providerId="ADAL" clId="{6E1469B3-B60B-4068-94AD-7F37BFC1336D}" dt="2026-04-27T11:25:37.985" v="3397" actId="1076"/>
          <ac:spMkLst>
            <pc:docMk/>
            <pc:sldMk cId="0" sldId="260"/>
            <ac:spMk id="19" creationId="{16777FB5-0520-7BD4-1066-3008F66F32D8}"/>
          </ac:spMkLst>
        </pc:spChg>
        <pc:spChg chg="add mod">
          <ac:chgData name="#LIM XIN WEI#" userId="c7541720-8262-414d-81f4-cf2bccc0ac97" providerId="ADAL" clId="{6E1469B3-B60B-4068-94AD-7F37BFC1336D}" dt="2026-04-27T11:25:01.494" v="3387" actId="1076"/>
          <ac:spMkLst>
            <pc:docMk/>
            <pc:sldMk cId="0" sldId="260"/>
            <ac:spMk id="20" creationId="{C0258295-C157-1B4F-FA0C-132DFEA80155}"/>
          </ac:spMkLst>
        </pc:spChg>
        <pc:spChg chg="add mod">
          <ac:chgData name="#LIM XIN WEI#" userId="c7541720-8262-414d-81f4-cf2bccc0ac97" providerId="ADAL" clId="{6E1469B3-B60B-4068-94AD-7F37BFC1336D}" dt="2026-04-27T11:23:53.015" v="3362" actId="1076"/>
          <ac:spMkLst>
            <pc:docMk/>
            <pc:sldMk cId="0" sldId="260"/>
            <ac:spMk id="21" creationId="{B24BED0E-613D-82D9-3B4E-1EE08D5AF141}"/>
          </ac:spMkLst>
        </pc:spChg>
      </pc:sldChg>
      <pc:sldChg chg="addSp delSp modSp mod ord modShow modNotesTx">
        <pc:chgData name="#LIM XIN WEI#" userId="c7541720-8262-414d-81f4-cf2bccc0ac97" providerId="ADAL" clId="{6E1469B3-B60B-4068-94AD-7F37BFC1336D}" dt="2026-05-01T11:03:50.369" v="27210"/>
        <pc:sldMkLst>
          <pc:docMk/>
          <pc:sldMk cId="0" sldId="261"/>
        </pc:sldMkLst>
        <pc:spChg chg="mod">
          <ac:chgData name="#LIM XIN WEI#" userId="c7541720-8262-414d-81f4-cf2bccc0ac97" providerId="ADAL" clId="{6E1469B3-B60B-4068-94AD-7F37BFC1336D}" dt="2026-04-27T11:59:36.892" v="3813" actId="1076"/>
          <ac:spMkLst>
            <pc:docMk/>
            <pc:sldMk cId="0" sldId="261"/>
            <ac:spMk id="5" creationId="{00000000-0000-0000-0000-000000000000}"/>
          </ac:spMkLst>
        </pc:spChg>
        <pc:spChg chg="mod">
          <ac:chgData name="#LIM XIN WEI#" userId="c7541720-8262-414d-81f4-cf2bccc0ac97" providerId="ADAL" clId="{6E1469B3-B60B-4068-94AD-7F37BFC1336D}" dt="2026-04-27T12:00:22.659" v="3818" actId="1076"/>
          <ac:spMkLst>
            <pc:docMk/>
            <pc:sldMk cId="0" sldId="261"/>
            <ac:spMk id="20" creationId="{00000000-0000-0000-0000-000000000000}"/>
          </ac:spMkLst>
        </pc:spChg>
        <pc:spChg chg="mod">
          <ac:chgData name="#LIM XIN WEI#" userId="c7541720-8262-414d-81f4-cf2bccc0ac97" providerId="ADAL" clId="{6E1469B3-B60B-4068-94AD-7F37BFC1336D}" dt="2026-04-27T12:00:22.659" v="3818" actId="1076"/>
          <ac:spMkLst>
            <pc:docMk/>
            <pc:sldMk cId="0" sldId="261"/>
            <ac:spMk id="21" creationId="{00000000-0000-0000-0000-000000000000}"/>
          </ac:spMkLst>
        </pc:spChg>
        <pc:spChg chg="mod">
          <ac:chgData name="#LIM XIN WEI#" userId="c7541720-8262-414d-81f4-cf2bccc0ac97" providerId="ADAL" clId="{6E1469B3-B60B-4068-94AD-7F37BFC1336D}" dt="2026-04-27T13:27:33.045" v="4810" actId="14100"/>
          <ac:spMkLst>
            <pc:docMk/>
            <pc:sldMk cId="0" sldId="261"/>
            <ac:spMk id="22" creationId="{00000000-0000-0000-0000-000000000000}"/>
          </ac:spMkLst>
        </pc:spChg>
        <pc:spChg chg="mod">
          <ac:chgData name="#LIM XIN WEI#" userId="c7541720-8262-414d-81f4-cf2bccc0ac97" providerId="ADAL" clId="{6E1469B3-B60B-4068-94AD-7F37BFC1336D}" dt="2026-04-27T12:00:22.659" v="3818" actId="1076"/>
          <ac:spMkLst>
            <pc:docMk/>
            <pc:sldMk cId="0" sldId="261"/>
            <ac:spMk id="23" creationId="{00000000-0000-0000-0000-000000000000}"/>
          </ac:spMkLst>
        </pc:spChg>
        <pc:spChg chg="mod">
          <ac:chgData name="#LIM XIN WEI#" userId="c7541720-8262-414d-81f4-cf2bccc0ac97" providerId="ADAL" clId="{6E1469B3-B60B-4068-94AD-7F37BFC1336D}" dt="2026-04-27T12:00:22.659" v="3818" actId="1076"/>
          <ac:spMkLst>
            <pc:docMk/>
            <pc:sldMk cId="0" sldId="261"/>
            <ac:spMk id="24" creationId="{00000000-0000-0000-0000-000000000000}"/>
          </ac:spMkLst>
        </pc:spChg>
        <pc:spChg chg="mod">
          <ac:chgData name="#LIM XIN WEI#" userId="c7541720-8262-414d-81f4-cf2bccc0ac97" providerId="ADAL" clId="{6E1469B3-B60B-4068-94AD-7F37BFC1336D}" dt="2026-04-27T12:00:22.659" v="3818" actId="1076"/>
          <ac:spMkLst>
            <pc:docMk/>
            <pc:sldMk cId="0" sldId="261"/>
            <ac:spMk id="25" creationId="{00000000-0000-0000-0000-000000000000}"/>
          </ac:spMkLst>
        </pc:spChg>
        <pc:spChg chg="mod">
          <ac:chgData name="#LIM XIN WEI#" userId="c7541720-8262-414d-81f4-cf2bccc0ac97" providerId="ADAL" clId="{6E1469B3-B60B-4068-94AD-7F37BFC1336D}" dt="2026-04-27T12:00:22.659" v="3818" actId="1076"/>
          <ac:spMkLst>
            <pc:docMk/>
            <pc:sldMk cId="0" sldId="261"/>
            <ac:spMk id="26" creationId="{00000000-0000-0000-0000-000000000000}"/>
          </ac:spMkLst>
        </pc:spChg>
        <pc:spChg chg="mod">
          <ac:chgData name="#LIM XIN WEI#" userId="c7541720-8262-414d-81f4-cf2bccc0ac97" providerId="ADAL" clId="{6E1469B3-B60B-4068-94AD-7F37BFC1336D}" dt="2026-04-27T13:32:14.881" v="4854" actId="1076"/>
          <ac:spMkLst>
            <pc:docMk/>
            <pc:sldMk cId="0" sldId="261"/>
            <ac:spMk id="27" creationId="{00000000-0000-0000-0000-000000000000}"/>
          </ac:spMkLst>
        </pc:spChg>
        <pc:picChg chg="add mod">
          <ac:chgData name="#LIM XIN WEI#" userId="c7541720-8262-414d-81f4-cf2bccc0ac97" providerId="ADAL" clId="{6E1469B3-B60B-4068-94AD-7F37BFC1336D}" dt="2026-04-27T13:32:21.722" v="4856" actId="1076"/>
          <ac:picMkLst>
            <pc:docMk/>
            <pc:sldMk cId="0" sldId="261"/>
            <ac:picMk id="31" creationId="{766877EA-2607-3907-7091-07244E33CA6B}"/>
          </ac:picMkLst>
        </pc:picChg>
      </pc:sldChg>
      <pc:sldChg chg="delSp modSp mod modNotesTx">
        <pc:chgData name="#LIM XIN WEI#" userId="c7541720-8262-414d-81f4-cf2bccc0ac97" providerId="ADAL" clId="{6E1469B3-B60B-4068-94AD-7F37BFC1336D}" dt="2026-05-07T03:20:34.078" v="34430" actId="20577"/>
        <pc:sldMkLst>
          <pc:docMk/>
          <pc:sldMk cId="0" sldId="262"/>
        </pc:sldMkLst>
        <pc:spChg chg="mod">
          <ac:chgData name="#LIM XIN WEI#" userId="c7541720-8262-414d-81f4-cf2bccc0ac97" providerId="ADAL" clId="{6E1469B3-B60B-4068-94AD-7F37BFC1336D}" dt="2026-05-07T03:20:34.078" v="34430" actId="20577"/>
          <ac:spMkLst>
            <pc:docMk/>
            <pc:sldMk cId="0" sldId="262"/>
            <ac:spMk id="4" creationId="{00000000-0000-0000-0000-000000000000}"/>
          </ac:spMkLst>
        </pc:spChg>
        <pc:spChg chg="mod">
          <ac:chgData name="#LIM XIN WEI#" userId="c7541720-8262-414d-81f4-cf2bccc0ac97" providerId="ADAL" clId="{6E1469B3-B60B-4068-94AD-7F37BFC1336D}" dt="2026-04-30T13:59:04.327" v="24470" actId="20577"/>
          <ac:spMkLst>
            <pc:docMk/>
            <pc:sldMk cId="0" sldId="262"/>
            <ac:spMk id="7" creationId="{00000000-0000-0000-0000-000000000000}"/>
          </ac:spMkLst>
        </pc:spChg>
      </pc:sldChg>
      <pc:sldChg chg="modSp mod modNotesTx">
        <pc:chgData name="#LIM XIN WEI#" userId="c7541720-8262-414d-81f4-cf2bccc0ac97" providerId="ADAL" clId="{6E1469B3-B60B-4068-94AD-7F37BFC1336D}" dt="2026-05-07T03:20:41.272" v="34442" actId="20577"/>
        <pc:sldMkLst>
          <pc:docMk/>
          <pc:sldMk cId="0" sldId="263"/>
        </pc:sldMkLst>
        <pc:spChg chg="mod">
          <ac:chgData name="#LIM XIN WEI#" userId="c7541720-8262-414d-81f4-cf2bccc0ac97" providerId="ADAL" clId="{6E1469B3-B60B-4068-94AD-7F37BFC1336D}" dt="2026-05-07T03:20:41.272" v="34442" actId="20577"/>
          <ac:spMkLst>
            <pc:docMk/>
            <pc:sldMk cId="0" sldId="263"/>
            <ac:spMk id="4" creationId="{00000000-0000-0000-0000-000000000000}"/>
          </ac:spMkLst>
        </pc:spChg>
        <pc:spChg chg="mod">
          <ac:chgData name="#LIM XIN WEI#" userId="c7541720-8262-414d-81f4-cf2bccc0ac97" providerId="ADAL" clId="{6E1469B3-B60B-4068-94AD-7F37BFC1336D}" dt="2026-05-03T14:00:11.069" v="32439" actId="20577"/>
          <ac:spMkLst>
            <pc:docMk/>
            <pc:sldMk cId="0" sldId="263"/>
            <ac:spMk id="8" creationId="{00000000-0000-0000-0000-000000000000}"/>
          </ac:spMkLst>
        </pc:spChg>
      </pc:sldChg>
      <pc:sldChg chg="delSp modSp mod modNotesTx">
        <pc:chgData name="#LIM XIN WEI#" userId="c7541720-8262-414d-81f4-cf2bccc0ac97" providerId="ADAL" clId="{6E1469B3-B60B-4068-94AD-7F37BFC1336D}" dt="2026-05-07T03:20:47.002" v="34449" actId="20577"/>
        <pc:sldMkLst>
          <pc:docMk/>
          <pc:sldMk cId="0" sldId="264"/>
        </pc:sldMkLst>
        <pc:spChg chg="mod">
          <ac:chgData name="#LIM XIN WEI#" userId="c7541720-8262-414d-81f4-cf2bccc0ac97" providerId="ADAL" clId="{6E1469B3-B60B-4068-94AD-7F37BFC1336D}" dt="2026-05-07T03:20:47.002" v="34449" actId="20577"/>
          <ac:spMkLst>
            <pc:docMk/>
            <pc:sldMk cId="0" sldId="264"/>
            <ac:spMk id="4" creationId="{00000000-0000-0000-0000-000000000000}"/>
          </ac:spMkLst>
        </pc:spChg>
        <pc:spChg chg="mod">
          <ac:chgData name="#LIM XIN WEI#" userId="c7541720-8262-414d-81f4-cf2bccc0ac97" providerId="ADAL" clId="{6E1469B3-B60B-4068-94AD-7F37BFC1336D}" dt="2026-05-01T10:42:52.920" v="27009" actId="21"/>
          <ac:spMkLst>
            <pc:docMk/>
            <pc:sldMk cId="0" sldId="264"/>
            <ac:spMk id="5" creationId="{00000000-0000-0000-0000-000000000000}"/>
          </ac:spMkLst>
        </pc:spChg>
        <pc:spChg chg="mod">
          <ac:chgData name="#LIM XIN WEI#" userId="c7541720-8262-414d-81f4-cf2bccc0ac97" providerId="ADAL" clId="{6E1469B3-B60B-4068-94AD-7F37BFC1336D}" dt="2026-05-03T14:28:05.862" v="32783" actId="20577"/>
          <ac:spMkLst>
            <pc:docMk/>
            <pc:sldMk cId="0" sldId="264"/>
            <ac:spMk id="6" creationId="{00000000-0000-0000-0000-000000000000}"/>
          </ac:spMkLst>
        </pc:spChg>
        <pc:graphicFrameChg chg="modGraphic">
          <ac:chgData name="#LIM XIN WEI#" userId="c7541720-8262-414d-81f4-cf2bccc0ac97" providerId="ADAL" clId="{6E1469B3-B60B-4068-94AD-7F37BFC1336D}" dt="2026-04-28T09:07:31.832" v="7430" actId="20577"/>
          <ac:graphicFrameMkLst>
            <pc:docMk/>
            <pc:sldMk cId="0" sldId="264"/>
            <ac:graphicFrameMk id="10" creationId="{00000000-0000-0000-0000-000000000000}"/>
          </ac:graphicFrameMkLst>
        </pc:graphicFrameChg>
      </pc:sldChg>
      <pc:sldChg chg="addSp modSp mod ord modShow modNotesTx">
        <pc:chgData name="#LIM XIN WEI#" userId="c7541720-8262-414d-81f4-cf2bccc0ac97" providerId="ADAL" clId="{6E1469B3-B60B-4068-94AD-7F37BFC1336D}" dt="2026-04-29T09:53:12.528" v="21968"/>
        <pc:sldMkLst>
          <pc:docMk/>
          <pc:sldMk cId="0" sldId="265"/>
        </pc:sldMkLst>
        <pc:spChg chg="add mod">
          <ac:chgData name="#LIM XIN WEI#" userId="c7541720-8262-414d-81f4-cf2bccc0ac97" providerId="ADAL" clId="{6E1469B3-B60B-4068-94AD-7F37BFC1336D}" dt="2026-04-28T01:27:08.795" v="5339" actId="1076"/>
          <ac:spMkLst>
            <pc:docMk/>
            <pc:sldMk cId="0" sldId="265"/>
            <ac:spMk id="29" creationId="{9829BF7A-6B89-7EAE-324C-EC0F6E93BD5E}"/>
          </ac:spMkLst>
        </pc:spChg>
        <pc:spChg chg="add mod">
          <ac:chgData name="#LIM XIN WEI#" userId="c7541720-8262-414d-81f4-cf2bccc0ac97" providerId="ADAL" clId="{6E1469B3-B60B-4068-94AD-7F37BFC1336D}" dt="2026-04-28T01:29:32.226" v="5413" actId="1076"/>
          <ac:spMkLst>
            <pc:docMk/>
            <pc:sldMk cId="0" sldId="265"/>
            <ac:spMk id="30" creationId="{93C83C20-A8DC-7B1F-06A4-5A4BF20E8AA5}"/>
          </ac:spMkLst>
        </pc:spChg>
        <pc:picChg chg="add mod">
          <ac:chgData name="#LIM XIN WEI#" userId="c7541720-8262-414d-81f4-cf2bccc0ac97" providerId="ADAL" clId="{6E1469B3-B60B-4068-94AD-7F37BFC1336D}" dt="2026-04-28T01:29:02.324" v="5408" actId="1076"/>
          <ac:picMkLst>
            <pc:docMk/>
            <pc:sldMk cId="0" sldId="265"/>
            <ac:picMk id="28" creationId="{FA1DB68A-1490-5CFC-30C0-E34387AD4DEF}"/>
          </ac:picMkLst>
        </pc:picChg>
      </pc:sldChg>
      <pc:sldChg chg="addSp delSp modSp mod ord modNotesTx">
        <pc:chgData name="#LIM XIN WEI#" userId="c7541720-8262-414d-81f4-cf2bccc0ac97" providerId="ADAL" clId="{6E1469B3-B60B-4068-94AD-7F37BFC1336D}" dt="2026-05-07T03:21:07.451" v="34468" actId="20577"/>
        <pc:sldMkLst>
          <pc:docMk/>
          <pc:sldMk cId="0" sldId="266"/>
        </pc:sldMkLst>
        <pc:spChg chg="mod">
          <ac:chgData name="#LIM XIN WEI#" userId="c7541720-8262-414d-81f4-cf2bccc0ac97" providerId="ADAL" clId="{6E1469B3-B60B-4068-94AD-7F37BFC1336D}" dt="2026-05-07T03:21:07.451" v="34468" actId="20577"/>
          <ac:spMkLst>
            <pc:docMk/>
            <pc:sldMk cId="0" sldId="266"/>
            <ac:spMk id="4" creationId="{00000000-0000-0000-0000-000000000000}"/>
          </ac:spMkLst>
        </pc:spChg>
      </pc:sldChg>
      <pc:sldChg chg="modSp mod modNotesTx">
        <pc:chgData name="#LIM XIN WEI#" userId="c7541720-8262-414d-81f4-cf2bccc0ac97" providerId="ADAL" clId="{6E1469B3-B60B-4068-94AD-7F37BFC1336D}" dt="2026-05-07T03:21:23.048" v="34480" actId="20577"/>
        <pc:sldMkLst>
          <pc:docMk/>
          <pc:sldMk cId="0" sldId="267"/>
        </pc:sldMkLst>
        <pc:spChg chg="mod">
          <ac:chgData name="#LIM XIN WEI#" userId="c7541720-8262-414d-81f4-cf2bccc0ac97" providerId="ADAL" clId="{6E1469B3-B60B-4068-94AD-7F37BFC1336D}" dt="2026-05-07T03:21:23.048" v="34480" actId="20577"/>
          <ac:spMkLst>
            <pc:docMk/>
            <pc:sldMk cId="0" sldId="267"/>
            <ac:spMk id="4" creationId="{00000000-0000-0000-0000-000000000000}"/>
          </ac:spMkLst>
        </pc:spChg>
        <pc:spChg chg="mod">
          <ac:chgData name="#LIM XIN WEI#" userId="c7541720-8262-414d-81f4-cf2bccc0ac97" providerId="ADAL" clId="{6E1469B3-B60B-4068-94AD-7F37BFC1336D}" dt="2026-04-28T12:08:22.486" v="11962" actId="20577"/>
          <ac:spMkLst>
            <pc:docMk/>
            <pc:sldMk cId="0" sldId="267"/>
            <ac:spMk id="19" creationId="{00000000-0000-0000-0000-000000000000}"/>
          </ac:spMkLst>
        </pc:spChg>
        <pc:spChg chg="mod">
          <ac:chgData name="#LIM XIN WEI#" userId="c7541720-8262-414d-81f4-cf2bccc0ac97" providerId="ADAL" clId="{6E1469B3-B60B-4068-94AD-7F37BFC1336D}" dt="2026-04-28T12:08:52.253" v="11984" actId="20577"/>
          <ac:spMkLst>
            <pc:docMk/>
            <pc:sldMk cId="0" sldId="267"/>
            <ac:spMk id="24" creationId="{00000000-0000-0000-0000-000000000000}"/>
          </ac:spMkLst>
        </pc:spChg>
      </pc:sldChg>
      <pc:sldChg chg="modSp mod modNotesTx">
        <pc:chgData name="#LIM XIN WEI#" userId="c7541720-8262-414d-81f4-cf2bccc0ac97" providerId="ADAL" clId="{6E1469B3-B60B-4068-94AD-7F37BFC1336D}" dt="2026-05-07T03:21:29.908" v="34488" actId="20577"/>
        <pc:sldMkLst>
          <pc:docMk/>
          <pc:sldMk cId="0" sldId="268"/>
        </pc:sldMkLst>
        <pc:spChg chg="mod">
          <ac:chgData name="#LIM XIN WEI#" userId="c7541720-8262-414d-81f4-cf2bccc0ac97" providerId="ADAL" clId="{6E1469B3-B60B-4068-94AD-7F37BFC1336D}" dt="2026-05-07T03:21:29.908" v="34488" actId="20577"/>
          <ac:spMkLst>
            <pc:docMk/>
            <pc:sldMk cId="0" sldId="268"/>
            <ac:spMk id="4" creationId="{00000000-0000-0000-0000-000000000000}"/>
          </ac:spMkLst>
        </pc:spChg>
        <pc:spChg chg="mod">
          <ac:chgData name="#LIM XIN WEI#" userId="c7541720-8262-414d-81f4-cf2bccc0ac97" providerId="ADAL" clId="{6E1469B3-B60B-4068-94AD-7F37BFC1336D}" dt="2026-04-29T11:41:16.993" v="23452" actId="20577"/>
          <ac:spMkLst>
            <pc:docMk/>
            <pc:sldMk cId="0" sldId="268"/>
            <ac:spMk id="5" creationId="{00000000-0000-0000-0000-000000000000}"/>
          </ac:spMkLst>
        </pc:spChg>
        <pc:spChg chg="mod">
          <ac:chgData name="#LIM XIN WEI#" userId="c7541720-8262-414d-81f4-cf2bccc0ac97" providerId="ADAL" clId="{6E1469B3-B60B-4068-94AD-7F37BFC1336D}" dt="2026-04-28T11:53:45.926" v="11308" actId="20577"/>
          <ac:spMkLst>
            <pc:docMk/>
            <pc:sldMk cId="0" sldId="268"/>
            <ac:spMk id="15" creationId="{00000000-0000-0000-0000-000000000000}"/>
          </ac:spMkLst>
        </pc:spChg>
      </pc:sldChg>
      <pc:sldChg chg="addSp delSp modSp mod ord modShow modNotesTx">
        <pc:chgData name="#LIM XIN WEI#" userId="c7541720-8262-414d-81f4-cf2bccc0ac97" providerId="ADAL" clId="{6E1469B3-B60B-4068-94AD-7F37BFC1336D}" dt="2026-05-01T09:07:54.774" v="24965"/>
        <pc:sldMkLst>
          <pc:docMk/>
          <pc:sldMk cId="0" sldId="270"/>
        </pc:sldMkLst>
        <pc:spChg chg="mod">
          <ac:chgData name="#LIM XIN WEI#" userId="c7541720-8262-414d-81f4-cf2bccc0ac97" providerId="ADAL" clId="{6E1469B3-B60B-4068-94AD-7F37BFC1336D}" dt="2026-04-28T02:09:30.738" v="5730" actId="207"/>
          <ac:spMkLst>
            <pc:docMk/>
            <pc:sldMk cId="0" sldId="270"/>
            <ac:spMk id="6" creationId="{00000000-0000-0000-0000-000000000000}"/>
          </ac:spMkLst>
        </pc:spChg>
        <pc:spChg chg="add mod">
          <ac:chgData name="#LIM XIN WEI#" userId="c7541720-8262-414d-81f4-cf2bccc0ac97" providerId="ADAL" clId="{6E1469B3-B60B-4068-94AD-7F37BFC1336D}" dt="2026-04-28T02:09:37.543" v="5731" actId="207"/>
          <ac:spMkLst>
            <pc:docMk/>
            <pc:sldMk cId="0" sldId="270"/>
            <ac:spMk id="7" creationId="{B5C4D04B-80D7-B817-3CB6-D6EB717F11B2}"/>
          </ac:spMkLst>
        </pc:spChg>
        <pc:graphicFrameChg chg="add mod modGraphic">
          <ac:chgData name="#LIM XIN WEI#" userId="c7541720-8262-414d-81f4-cf2bccc0ac97" providerId="ADAL" clId="{6E1469B3-B60B-4068-94AD-7F37BFC1336D}" dt="2026-04-28T02:12:55.972" v="5871" actId="20577"/>
          <ac:graphicFrameMkLst>
            <pc:docMk/>
            <pc:sldMk cId="0" sldId="270"/>
            <ac:graphicFrameMk id="10" creationId="{06C29996-87A2-2339-6F67-6F265B659863}"/>
          </ac:graphicFrameMkLst>
        </pc:graphicFrameChg>
        <pc:graphicFrameChg chg="mod modGraphic">
          <ac:chgData name="#LIM XIN WEI#" userId="c7541720-8262-414d-81f4-cf2bccc0ac97" providerId="ADAL" clId="{6E1469B3-B60B-4068-94AD-7F37BFC1336D}" dt="2026-04-28T02:13:53.854" v="5962" actId="20577"/>
          <ac:graphicFrameMkLst>
            <pc:docMk/>
            <pc:sldMk cId="0" sldId="270"/>
            <ac:graphicFrameMk id="16" creationId="{00000000-0000-0000-0000-000000000000}"/>
          </ac:graphicFrameMkLst>
        </pc:graphicFrameChg>
      </pc:sldChg>
      <pc:sldChg chg="addSp delSp modSp mod ord modShow modNotesTx">
        <pc:chgData name="#LIM XIN WEI#" userId="c7541720-8262-414d-81f4-cf2bccc0ac97" providerId="ADAL" clId="{6E1469B3-B60B-4068-94AD-7F37BFC1336D}" dt="2026-05-01T09:29:00.977" v="25015"/>
        <pc:sldMkLst>
          <pc:docMk/>
          <pc:sldMk cId="0" sldId="271"/>
        </pc:sldMkLst>
        <pc:spChg chg="mod">
          <ac:chgData name="#LIM XIN WEI#" userId="c7541720-8262-414d-81f4-cf2bccc0ac97" providerId="ADAL" clId="{6E1469B3-B60B-4068-94AD-7F37BFC1336D}" dt="2026-04-28T02:40:30.287" v="6331" actId="1036"/>
          <ac:spMkLst>
            <pc:docMk/>
            <pc:sldMk cId="0" sldId="271"/>
            <ac:spMk id="7" creationId="{00000000-0000-0000-0000-000000000000}"/>
          </ac:spMkLst>
        </pc:spChg>
        <pc:spChg chg="mod">
          <ac:chgData name="#LIM XIN WEI#" userId="c7541720-8262-414d-81f4-cf2bccc0ac97" providerId="ADAL" clId="{6E1469B3-B60B-4068-94AD-7F37BFC1336D}" dt="2026-04-28T02:40:30.287" v="6331" actId="1036"/>
          <ac:spMkLst>
            <pc:docMk/>
            <pc:sldMk cId="0" sldId="271"/>
            <ac:spMk id="8" creationId="{00000000-0000-0000-0000-000000000000}"/>
          </ac:spMkLst>
        </pc:spChg>
        <pc:spChg chg="mod">
          <ac:chgData name="#LIM XIN WEI#" userId="c7541720-8262-414d-81f4-cf2bccc0ac97" providerId="ADAL" clId="{6E1469B3-B60B-4068-94AD-7F37BFC1336D}" dt="2026-04-28T02:40:30.287" v="6331" actId="1036"/>
          <ac:spMkLst>
            <pc:docMk/>
            <pc:sldMk cId="0" sldId="271"/>
            <ac:spMk id="9" creationId="{00000000-0000-0000-0000-000000000000}"/>
          </ac:spMkLst>
        </pc:spChg>
        <pc:spChg chg="add del mod">
          <ac:chgData name="#LIM XIN WEI#" userId="c7541720-8262-414d-81f4-cf2bccc0ac97" providerId="ADAL" clId="{6E1469B3-B60B-4068-94AD-7F37BFC1336D}" dt="2026-04-28T02:46:28.940" v="6389" actId="1076"/>
          <ac:spMkLst>
            <pc:docMk/>
            <pc:sldMk cId="0" sldId="271"/>
            <ac:spMk id="12" creationId="{00000000-0000-0000-0000-000000000000}"/>
          </ac:spMkLst>
        </pc:spChg>
        <pc:spChg chg="del mod">
          <ac:chgData name="#LIM XIN WEI#" userId="c7541720-8262-414d-81f4-cf2bccc0ac97" providerId="ADAL" clId="{6E1469B3-B60B-4068-94AD-7F37BFC1336D}" dt="2026-04-28T02:46:28.940" v="6389" actId="1076"/>
          <ac:spMkLst>
            <pc:docMk/>
            <pc:sldMk cId="0" sldId="271"/>
            <ac:spMk id="15" creationId="{00000000-0000-0000-0000-000000000000}"/>
          </ac:spMkLst>
        </pc:spChg>
        <pc:spChg chg="add mod">
          <ac:chgData name="#LIM XIN WEI#" userId="c7541720-8262-414d-81f4-cf2bccc0ac97" providerId="ADAL" clId="{6E1469B3-B60B-4068-94AD-7F37BFC1336D}" dt="2026-04-28T02:46:28.940" v="6389" actId="1076"/>
          <ac:spMkLst>
            <pc:docMk/>
            <pc:sldMk cId="0" sldId="271"/>
            <ac:spMk id="18" creationId="{00000000-0000-0000-0000-000000000000}"/>
          </ac:spMkLst>
        </pc:spChg>
        <pc:spChg chg="add del mod">
          <ac:chgData name="#LIM XIN WEI#" userId="c7541720-8262-414d-81f4-cf2bccc0ac97" providerId="ADAL" clId="{6E1469B3-B60B-4068-94AD-7F37BFC1336D}" dt="2026-04-28T02:40:10.114" v="6306" actId="1076"/>
          <ac:spMkLst>
            <pc:docMk/>
            <pc:sldMk cId="0" sldId="271"/>
            <ac:spMk id="19" creationId="{00000000-0000-0000-0000-000000000000}"/>
          </ac:spMkLst>
        </pc:spChg>
        <pc:spChg chg="add del mod">
          <ac:chgData name="#LIM XIN WEI#" userId="c7541720-8262-414d-81f4-cf2bccc0ac97" providerId="ADAL" clId="{6E1469B3-B60B-4068-94AD-7F37BFC1336D}" dt="2026-04-28T02:40:30.287" v="6331" actId="1036"/>
          <ac:spMkLst>
            <pc:docMk/>
            <pc:sldMk cId="0" sldId="271"/>
            <ac:spMk id="20" creationId="{A45E9D4B-D730-3DE9-45A2-FEACC91C1B27}"/>
          </ac:spMkLst>
        </pc:spChg>
        <pc:graphicFrameChg chg="mod modGraphic">
          <ac:chgData name="#LIM XIN WEI#" userId="c7541720-8262-414d-81f4-cf2bccc0ac97" providerId="ADAL" clId="{6E1469B3-B60B-4068-94AD-7F37BFC1336D}" dt="2026-04-28T02:46:20.479" v="6388" actId="14734"/>
          <ac:graphicFrameMkLst>
            <pc:docMk/>
            <pc:sldMk cId="0" sldId="271"/>
            <ac:graphicFrameMk id="17" creationId="{00000000-0000-0000-0000-000000000000}"/>
          </ac:graphicFrameMkLst>
        </pc:graphicFrameChg>
        <pc:graphicFrameChg chg="add mod modGraphic">
          <ac:chgData name="#LIM XIN WEI#" userId="c7541720-8262-414d-81f4-cf2bccc0ac97" providerId="ADAL" clId="{6E1469B3-B60B-4068-94AD-7F37BFC1336D}" dt="2026-04-28T02:47:12.861" v="6397" actId="1076"/>
          <ac:graphicFrameMkLst>
            <pc:docMk/>
            <pc:sldMk cId="0" sldId="271"/>
            <ac:graphicFrameMk id="25" creationId="{3BC718FC-84B4-B891-964A-528C0B9686A5}"/>
          </ac:graphicFrameMkLst>
        </pc:graphicFrameChg>
        <pc:picChg chg="add mod ord">
          <ac:chgData name="#LIM XIN WEI#" userId="c7541720-8262-414d-81f4-cf2bccc0ac97" providerId="ADAL" clId="{6E1469B3-B60B-4068-94AD-7F37BFC1336D}" dt="2026-04-28T02:46:28.940" v="6389" actId="1076"/>
          <ac:picMkLst>
            <pc:docMk/>
            <pc:sldMk cId="0" sldId="271"/>
            <ac:picMk id="24" creationId="{B6019411-BA73-8994-ED8C-65C40352D2AC}"/>
          </ac:picMkLst>
        </pc:picChg>
      </pc:sldChg>
      <pc:sldChg chg="addSp delSp modSp mod modNotesTx">
        <pc:chgData name="#LIM XIN WEI#" userId="c7541720-8262-414d-81f4-cf2bccc0ac97" providerId="ADAL" clId="{6E1469B3-B60B-4068-94AD-7F37BFC1336D}" dt="2026-05-07T03:21:44.408" v="34505" actId="20577"/>
        <pc:sldMkLst>
          <pc:docMk/>
          <pc:sldMk cId="0" sldId="272"/>
        </pc:sldMkLst>
        <pc:spChg chg="mod">
          <ac:chgData name="#LIM XIN WEI#" userId="c7541720-8262-414d-81f4-cf2bccc0ac97" providerId="ADAL" clId="{6E1469B3-B60B-4068-94AD-7F37BFC1336D}" dt="2026-05-07T03:21:44.408" v="34505" actId="20577"/>
          <ac:spMkLst>
            <pc:docMk/>
            <pc:sldMk cId="0" sldId="272"/>
            <ac:spMk id="4" creationId="{00000000-0000-0000-0000-000000000000}"/>
          </ac:spMkLst>
        </pc:spChg>
        <pc:spChg chg="mod">
          <ac:chgData name="#LIM XIN WEI#" userId="c7541720-8262-414d-81f4-cf2bccc0ac97" providerId="ADAL" clId="{6E1469B3-B60B-4068-94AD-7F37BFC1336D}" dt="2026-04-28T06:16:57.188" v="6472" actId="1076"/>
          <ac:spMkLst>
            <pc:docMk/>
            <pc:sldMk cId="0" sldId="272"/>
            <ac:spMk id="5" creationId="{00000000-0000-0000-0000-000000000000}"/>
          </ac:spMkLst>
        </pc:spChg>
        <pc:spChg chg="add mod">
          <ac:chgData name="#LIM XIN WEI#" userId="c7541720-8262-414d-81f4-cf2bccc0ac97" providerId="ADAL" clId="{6E1469B3-B60B-4068-94AD-7F37BFC1336D}" dt="2026-04-28T06:19:55.412" v="6531" actId="1076"/>
          <ac:spMkLst>
            <pc:docMk/>
            <pc:sldMk cId="0" sldId="272"/>
            <ac:spMk id="37" creationId="{27CE3419-A76F-8A82-33A8-4148B5E678EB}"/>
          </ac:spMkLst>
        </pc:spChg>
        <pc:spChg chg="add mod">
          <ac:chgData name="#LIM XIN WEI#" userId="c7541720-8262-414d-81f4-cf2bccc0ac97" providerId="ADAL" clId="{6E1469B3-B60B-4068-94AD-7F37BFC1336D}" dt="2026-04-28T06:19:55.412" v="6531" actId="1076"/>
          <ac:spMkLst>
            <pc:docMk/>
            <pc:sldMk cId="0" sldId="272"/>
            <ac:spMk id="38" creationId="{6D1236E8-46ED-05E8-541F-1F5B528BDC3E}"/>
          </ac:spMkLst>
        </pc:spChg>
        <pc:spChg chg="add mod">
          <ac:chgData name="#LIM XIN WEI#" userId="c7541720-8262-414d-81f4-cf2bccc0ac97" providerId="ADAL" clId="{6E1469B3-B60B-4068-94AD-7F37BFC1336D}" dt="2026-04-28T06:18:43.998" v="6524" actId="1076"/>
          <ac:spMkLst>
            <pc:docMk/>
            <pc:sldMk cId="0" sldId="272"/>
            <ac:spMk id="40" creationId="{CA521753-28F3-1DAD-AB66-A7BE6EF974D6}"/>
          </ac:spMkLst>
        </pc:spChg>
        <pc:spChg chg="add mod">
          <ac:chgData name="#LIM XIN WEI#" userId="c7541720-8262-414d-81f4-cf2bccc0ac97" providerId="ADAL" clId="{6E1469B3-B60B-4068-94AD-7F37BFC1336D}" dt="2026-04-28T06:17:07.316" v="6475" actId="14100"/>
          <ac:spMkLst>
            <pc:docMk/>
            <pc:sldMk cId="0" sldId="272"/>
            <ac:spMk id="41" creationId="{96434F8D-FADD-DA0A-D433-ECFD6097D5E0}"/>
          </ac:spMkLst>
        </pc:spChg>
        <pc:spChg chg="add mod">
          <ac:chgData name="#LIM XIN WEI#" userId="c7541720-8262-414d-81f4-cf2bccc0ac97" providerId="ADAL" clId="{6E1469B3-B60B-4068-94AD-7F37BFC1336D}" dt="2026-04-28T06:17:21.265" v="6481" actId="14100"/>
          <ac:spMkLst>
            <pc:docMk/>
            <pc:sldMk cId="0" sldId="272"/>
            <ac:spMk id="43" creationId="{A340DFC7-185B-99B7-DA99-C42F8A52E960}"/>
          </ac:spMkLst>
        </pc:spChg>
        <pc:spChg chg="add mod">
          <ac:chgData name="#LIM XIN WEI#" userId="c7541720-8262-414d-81f4-cf2bccc0ac97" providerId="ADAL" clId="{6E1469B3-B60B-4068-94AD-7F37BFC1336D}" dt="2026-04-28T06:17:07.316" v="6475" actId="14100"/>
          <ac:spMkLst>
            <pc:docMk/>
            <pc:sldMk cId="0" sldId="272"/>
            <ac:spMk id="44" creationId="{412A3B39-B02F-A143-8978-2F7BF0B33A8B}"/>
          </ac:spMkLst>
        </pc:spChg>
        <pc:spChg chg="mod">
          <ac:chgData name="#LIM XIN WEI#" userId="c7541720-8262-414d-81f4-cf2bccc0ac97" providerId="ADAL" clId="{6E1469B3-B60B-4068-94AD-7F37BFC1336D}" dt="2026-04-28T06:18:33.010" v="6522" actId="1076"/>
          <ac:spMkLst>
            <pc:docMk/>
            <pc:sldMk cId="0" sldId="272"/>
            <ac:spMk id="46" creationId="{C3977EE3-91F3-6C0F-A8B3-A169FB54E234}"/>
          </ac:spMkLst>
        </pc:spChg>
        <pc:spChg chg="add mod">
          <ac:chgData name="#LIM XIN WEI#" userId="c7541720-8262-414d-81f4-cf2bccc0ac97" providerId="ADAL" clId="{6E1469B3-B60B-4068-94AD-7F37BFC1336D}" dt="2026-04-28T06:18:14.230" v="6520" actId="14100"/>
          <ac:spMkLst>
            <pc:docMk/>
            <pc:sldMk cId="0" sldId="272"/>
            <ac:spMk id="47" creationId="{030CF37B-AC55-DB29-328D-283C4712655F}"/>
          </ac:spMkLst>
        </pc:spChg>
        <pc:spChg chg="add mod">
          <ac:chgData name="#LIM XIN WEI#" userId="c7541720-8262-414d-81f4-cf2bccc0ac97" providerId="ADAL" clId="{6E1469B3-B60B-4068-94AD-7F37BFC1336D}" dt="2026-04-28T06:20:39.768" v="6547" actId="14100"/>
          <ac:spMkLst>
            <pc:docMk/>
            <pc:sldMk cId="0" sldId="272"/>
            <ac:spMk id="49" creationId="{42CF389D-F292-ED35-EE7E-FB2BFFC5B6B0}"/>
          </ac:spMkLst>
        </pc:spChg>
        <pc:spChg chg="add mod">
          <ac:chgData name="#LIM XIN WEI#" userId="c7541720-8262-414d-81f4-cf2bccc0ac97" providerId="ADAL" clId="{6E1469B3-B60B-4068-94AD-7F37BFC1336D}" dt="2026-04-28T06:20:33.844" v="6546" actId="14100"/>
          <ac:spMkLst>
            <pc:docMk/>
            <pc:sldMk cId="0" sldId="272"/>
            <ac:spMk id="50" creationId="{B78E4FF4-053E-1CCF-8972-BB80963EE7E9}"/>
          </ac:spMkLst>
        </pc:spChg>
        <pc:picChg chg="add del mod">
          <ac:chgData name="#LIM XIN WEI#" userId="c7541720-8262-414d-81f4-cf2bccc0ac97" providerId="ADAL" clId="{6E1469B3-B60B-4068-94AD-7F37BFC1336D}" dt="2026-04-28T06:20:00.581" v="6532" actId="1076"/>
          <ac:picMkLst>
            <pc:docMk/>
            <pc:sldMk cId="0" sldId="272"/>
            <ac:picMk id="34" creationId="{2C150CB8-4515-F962-BBEC-0B7F9D8AB08C}"/>
          </ac:picMkLst>
        </pc:picChg>
      </pc:sldChg>
      <pc:sldChg chg="addSp delSp modSp mod ord modNotesTx">
        <pc:chgData name="#LIM XIN WEI#" userId="c7541720-8262-414d-81f4-cf2bccc0ac97" providerId="ADAL" clId="{6E1469B3-B60B-4068-94AD-7F37BFC1336D}" dt="2026-05-07T03:22:09.423" v="34534" actId="20577"/>
        <pc:sldMkLst>
          <pc:docMk/>
          <pc:sldMk cId="0" sldId="273"/>
        </pc:sldMkLst>
        <pc:spChg chg="mod">
          <ac:chgData name="#LIM XIN WEI#" userId="c7541720-8262-414d-81f4-cf2bccc0ac97" providerId="ADAL" clId="{6E1469B3-B60B-4068-94AD-7F37BFC1336D}" dt="2026-05-07T03:22:09.423" v="34534" actId="20577"/>
          <ac:spMkLst>
            <pc:docMk/>
            <pc:sldMk cId="0" sldId="273"/>
            <ac:spMk id="4"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9"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10"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11"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12"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13"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14" creationId="{00000000-0000-0000-0000-000000000000}"/>
          </ac:spMkLst>
        </pc:spChg>
        <pc:spChg chg="mod">
          <ac:chgData name="#LIM XIN WEI#" userId="c7541720-8262-414d-81f4-cf2bccc0ac97" providerId="ADAL" clId="{6E1469B3-B60B-4068-94AD-7F37BFC1336D}" dt="2026-04-28T06:32:47.888" v="6637" actId="1076"/>
          <ac:spMkLst>
            <pc:docMk/>
            <pc:sldMk cId="0" sldId="273"/>
            <ac:spMk id="15" creationId="{00000000-0000-0000-0000-000000000000}"/>
          </ac:spMkLst>
        </pc:spChg>
        <pc:picChg chg="add mod">
          <ac:chgData name="#LIM XIN WEI#" userId="c7541720-8262-414d-81f4-cf2bccc0ac97" providerId="ADAL" clId="{6E1469B3-B60B-4068-94AD-7F37BFC1336D}" dt="2026-05-07T02:04:18.469" v="33950" actId="1076"/>
          <ac:picMkLst>
            <pc:docMk/>
            <pc:sldMk cId="0" sldId="273"/>
            <ac:picMk id="36" creationId="{94C9835A-27C7-8588-AA36-5B0359DB6A8E}"/>
          </ac:picMkLst>
        </pc:picChg>
        <pc:picChg chg="add mod">
          <ac:chgData name="#LIM XIN WEI#" userId="c7541720-8262-414d-81f4-cf2bccc0ac97" providerId="ADAL" clId="{6E1469B3-B60B-4068-94AD-7F37BFC1336D}" dt="2026-04-29T02:04:11.969" v="15300" actId="1076"/>
          <ac:picMkLst>
            <pc:docMk/>
            <pc:sldMk cId="0" sldId="273"/>
            <ac:picMk id="38" creationId="{D433F89A-BBD8-9F58-3D8B-2BC94059B7E3}"/>
          </ac:picMkLst>
        </pc:picChg>
      </pc:sldChg>
      <pc:sldChg chg="mod ord modShow modNotesTx">
        <pc:chgData name="#LIM XIN WEI#" userId="c7541720-8262-414d-81f4-cf2bccc0ac97" providerId="ADAL" clId="{6E1469B3-B60B-4068-94AD-7F37BFC1336D}" dt="2026-04-29T12:51:11.204" v="23892"/>
        <pc:sldMkLst>
          <pc:docMk/>
          <pc:sldMk cId="0" sldId="274"/>
        </pc:sldMkLst>
      </pc:sldChg>
      <pc:sldChg chg="addSp delSp modSp mod ord modNotesTx">
        <pc:chgData name="#LIM XIN WEI#" userId="c7541720-8262-414d-81f4-cf2bccc0ac97" providerId="ADAL" clId="{6E1469B3-B60B-4068-94AD-7F37BFC1336D}" dt="2026-05-07T03:22:40.491" v="34567" actId="20577"/>
        <pc:sldMkLst>
          <pc:docMk/>
          <pc:sldMk cId="0" sldId="275"/>
        </pc:sldMkLst>
        <pc:spChg chg="mod">
          <ac:chgData name="#LIM XIN WEI#" userId="c7541720-8262-414d-81f4-cf2bccc0ac97" providerId="ADAL" clId="{6E1469B3-B60B-4068-94AD-7F37BFC1336D}" dt="2026-05-07T03:22:40.491" v="34567" actId="20577"/>
          <ac:spMkLst>
            <pc:docMk/>
            <pc:sldMk cId="0" sldId="275"/>
            <ac:spMk id="4" creationId="{00000000-0000-0000-0000-000000000000}"/>
          </ac:spMkLst>
        </pc:spChg>
        <pc:spChg chg="mod">
          <ac:chgData name="#LIM XIN WEI#" userId="c7541720-8262-414d-81f4-cf2bccc0ac97" providerId="ADAL" clId="{6E1469B3-B60B-4068-94AD-7F37BFC1336D}" dt="2026-04-29T02:24:50.543" v="16366" actId="20577"/>
          <ac:spMkLst>
            <pc:docMk/>
            <pc:sldMk cId="0" sldId="275"/>
            <ac:spMk id="5" creationId="{00000000-0000-0000-0000-000000000000}"/>
          </ac:spMkLst>
        </pc:spChg>
        <pc:spChg chg="mod">
          <ac:chgData name="#LIM XIN WEI#" userId="c7541720-8262-414d-81f4-cf2bccc0ac97" providerId="ADAL" clId="{6E1469B3-B60B-4068-94AD-7F37BFC1336D}" dt="2026-05-07T02:18:29.695" v="34163" actId="20577"/>
          <ac:spMkLst>
            <pc:docMk/>
            <pc:sldMk cId="0" sldId="275"/>
            <ac:spMk id="20" creationId="{00000000-0000-0000-0000-000000000000}"/>
          </ac:spMkLst>
        </pc:spChg>
        <pc:picChg chg="add mod">
          <ac:chgData name="#LIM XIN WEI#" userId="c7541720-8262-414d-81f4-cf2bccc0ac97" providerId="ADAL" clId="{6E1469B3-B60B-4068-94AD-7F37BFC1336D}" dt="2026-04-28T07:02:18.545" v="6789" actId="1076"/>
          <ac:picMkLst>
            <pc:docMk/>
            <pc:sldMk cId="0" sldId="275"/>
            <ac:picMk id="22" creationId="{68137630-2901-FB2E-960C-DC911F409A06}"/>
          </ac:picMkLst>
        </pc:picChg>
        <pc:picChg chg="add mod">
          <ac:chgData name="#LIM XIN WEI#" userId="c7541720-8262-414d-81f4-cf2bccc0ac97" providerId="ADAL" clId="{6E1469B3-B60B-4068-94AD-7F37BFC1336D}" dt="2026-04-28T07:04:08.248" v="6802" actId="1076"/>
          <ac:picMkLst>
            <pc:docMk/>
            <pc:sldMk cId="0" sldId="275"/>
            <ac:picMk id="28" creationId="{D42EA7E1-906F-ED63-EDCA-D4E69827A2BE}"/>
          </ac:picMkLst>
        </pc:picChg>
        <pc:picChg chg="add mod">
          <ac:chgData name="#LIM XIN WEI#" userId="c7541720-8262-414d-81f4-cf2bccc0ac97" providerId="ADAL" clId="{6E1469B3-B60B-4068-94AD-7F37BFC1336D}" dt="2026-04-28T07:04:10.781" v="6803" actId="1076"/>
          <ac:picMkLst>
            <pc:docMk/>
            <pc:sldMk cId="0" sldId="275"/>
            <ac:picMk id="30" creationId="{085E583D-0263-9B0B-DE28-427DB6315BB4}"/>
          </ac:picMkLst>
        </pc:picChg>
        <pc:inkChg chg="add">
          <ac:chgData name="#LIM XIN WEI#" userId="c7541720-8262-414d-81f4-cf2bccc0ac97" providerId="ADAL" clId="{6E1469B3-B60B-4068-94AD-7F37BFC1336D}" dt="2026-04-28T07:03:04.197" v="6794" actId="9405"/>
          <ac:inkMkLst>
            <pc:docMk/>
            <pc:sldMk cId="0" sldId="275"/>
            <ac:inkMk id="25" creationId="{310B986F-DC25-90EB-1192-27DFEEA7F336}"/>
          </ac:inkMkLst>
        </pc:inkChg>
        <pc:inkChg chg="add">
          <ac:chgData name="#LIM XIN WEI#" userId="c7541720-8262-414d-81f4-cf2bccc0ac97" providerId="ADAL" clId="{6E1469B3-B60B-4068-94AD-7F37BFC1336D}" dt="2026-04-28T07:03:13.556" v="6795" actId="9405"/>
          <ac:inkMkLst>
            <pc:docMk/>
            <pc:sldMk cId="0" sldId="275"/>
            <ac:inkMk id="26" creationId="{BC20AF58-A820-CE37-B4AF-9B8E887BD90C}"/>
          </ac:inkMkLst>
        </pc:inkChg>
        <pc:inkChg chg="add">
          <ac:chgData name="#LIM XIN WEI#" userId="c7541720-8262-414d-81f4-cf2bccc0ac97" providerId="ADAL" clId="{6E1469B3-B60B-4068-94AD-7F37BFC1336D}" dt="2026-04-29T02:27:50.054" v="16563" actId="9405"/>
          <ac:inkMkLst>
            <pc:docMk/>
            <pc:sldMk cId="0" sldId="275"/>
            <ac:inkMk id="31" creationId="{BC42AC6A-C7A7-2CC9-E9DC-A56675409D6E}"/>
          </ac:inkMkLst>
        </pc:inkChg>
      </pc:sldChg>
      <pc:sldChg chg="mod ord modShow modNotesTx">
        <pc:chgData name="#LIM XIN WEI#" userId="c7541720-8262-414d-81f4-cf2bccc0ac97" providerId="ADAL" clId="{6E1469B3-B60B-4068-94AD-7F37BFC1336D}" dt="2026-05-01T09:00:45.646" v="24758"/>
        <pc:sldMkLst>
          <pc:docMk/>
          <pc:sldMk cId="0" sldId="276"/>
        </pc:sldMkLst>
      </pc:sldChg>
      <pc:sldChg chg="modSp mod modNotesTx">
        <pc:chgData name="#LIM XIN WEI#" userId="c7541720-8262-414d-81f4-cf2bccc0ac97" providerId="ADAL" clId="{6E1469B3-B60B-4068-94AD-7F37BFC1336D}" dt="2026-05-07T03:22:47.190" v="34573" actId="20577"/>
        <pc:sldMkLst>
          <pc:docMk/>
          <pc:sldMk cId="0" sldId="277"/>
        </pc:sldMkLst>
        <pc:spChg chg="mod">
          <ac:chgData name="#LIM XIN WEI#" userId="c7541720-8262-414d-81f4-cf2bccc0ac97" providerId="ADAL" clId="{6E1469B3-B60B-4068-94AD-7F37BFC1336D}" dt="2026-05-07T03:22:47.190" v="34573" actId="20577"/>
          <ac:spMkLst>
            <pc:docMk/>
            <pc:sldMk cId="0" sldId="277"/>
            <ac:spMk id="2" creationId="{00000000-0000-0000-0000-000000000000}"/>
          </ac:spMkLst>
        </pc:spChg>
        <pc:spChg chg="mod">
          <ac:chgData name="#LIM XIN WEI#" userId="c7541720-8262-414d-81f4-cf2bccc0ac97" providerId="ADAL" clId="{6E1469B3-B60B-4068-94AD-7F37BFC1336D}" dt="2026-05-07T02:36:02.420" v="34277" actId="1076"/>
          <ac:spMkLst>
            <pc:docMk/>
            <pc:sldMk cId="0" sldId="277"/>
            <ac:spMk id="8" creationId="{00000000-0000-0000-0000-000000000000}"/>
          </ac:spMkLst>
        </pc:spChg>
        <pc:spChg chg="mod">
          <ac:chgData name="#LIM XIN WEI#" userId="c7541720-8262-414d-81f4-cf2bccc0ac97" providerId="ADAL" clId="{6E1469B3-B60B-4068-94AD-7F37BFC1336D}" dt="2026-05-07T02:35:59.583" v="34276" actId="1076"/>
          <ac:spMkLst>
            <pc:docMk/>
            <pc:sldMk cId="0" sldId="277"/>
            <ac:spMk id="10" creationId="{00000000-0000-0000-0000-000000000000}"/>
          </ac:spMkLst>
        </pc:spChg>
        <pc:spChg chg="mod">
          <ac:chgData name="#LIM XIN WEI#" userId="c7541720-8262-414d-81f4-cf2bccc0ac97" providerId="ADAL" clId="{6E1469B3-B60B-4068-94AD-7F37BFC1336D}" dt="2026-05-07T02:35:48.781" v="34273" actId="1076"/>
          <ac:spMkLst>
            <pc:docMk/>
            <pc:sldMk cId="0" sldId="277"/>
            <ac:spMk id="12" creationId="{00000000-0000-0000-0000-000000000000}"/>
          </ac:spMkLst>
        </pc:spChg>
      </pc:sldChg>
      <pc:sldChg chg="modSp mod modNotesTx">
        <pc:chgData name="#LIM XIN WEI#" userId="c7541720-8262-414d-81f4-cf2bccc0ac97" providerId="ADAL" clId="{6E1469B3-B60B-4068-94AD-7F37BFC1336D}" dt="2026-05-07T03:22:54.411" v="34581" actId="20577"/>
        <pc:sldMkLst>
          <pc:docMk/>
          <pc:sldMk cId="0" sldId="278"/>
        </pc:sldMkLst>
        <pc:spChg chg="mod">
          <ac:chgData name="#LIM XIN WEI#" userId="c7541720-8262-414d-81f4-cf2bccc0ac97" providerId="ADAL" clId="{6E1469B3-B60B-4068-94AD-7F37BFC1336D}" dt="2026-05-07T03:22:54.411" v="34581" actId="20577"/>
          <ac:spMkLst>
            <pc:docMk/>
            <pc:sldMk cId="0" sldId="278"/>
            <ac:spMk id="4" creationId="{00000000-0000-0000-0000-000000000000}"/>
          </ac:spMkLst>
        </pc:spChg>
      </pc:sldChg>
      <pc:sldChg chg="modNotesTx">
        <pc:chgData name="#LIM XIN WEI#" userId="c7541720-8262-414d-81f4-cf2bccc0ac97" providerId="ADAL" clId="{6E1469B3-B60B-4068-94AD-7F37BFC1336D}" dt="2026-04-29T12:07:24.957" v="23744" actId="20577"/>
        <pc:sldMkLst>
          <pc:docMk/>
          <pc:sldMk cId="0" sldId="279"/>
        </pc:sldMkLst>
      </pc:sldChg>
      <pc:sldChg chg="addSp delSp modSp add mod ord modShow modNotesTx">
        <pc:chgData name="#LIM XIN WEI#" userId="c7541720-8262-414d-81f4-cf2bccc0ac97" providerId="ADAL" clId="{6E1469B3-B60B-4068-94AD-7F37BFC1336D}" dt="2026-04-29T09:52:16.457" v="21964"/>
        <pc:sldMkLst>
          <pc:docMk/>
          <pc:sldMk cId="2544829679" sldId="281"/>
        </pc:sldMkLst>
        <pc:spChg chg="mod">
          <ac:chgData name="#LIM XIN WEI#" userId="c7541720-8262-414d-81f4-cf2bccc0ac97" providerId="ADAL" clId="{6E1469B3-B60B-4068-94AD-7F37BFC1336D}" dt="2026-04-27T04:26:12.796" v="1866" actId="1076"/>
          <ac:spMkLst>
            <pc:docMk/>
            <pc:sldMk cId="2544829679" sldId="281"/>
            <ac:spMk id="5" creationId="{2A75B995-B3FF-F2A2-A939-140CBBD79155}"/>
          </ac:spMkLst>
        </pc:spChg>
        <pc:spChg chg="mod">
          <ac:chgData name="#LIM XIN WEI#" userId="c7541720-8262-414d-81f4-cf2bccc0ac97" providerId="ADAL" clId="{6E1469B3-B60B-4068-94AD-7F37BFC1336D}" dt="2026-04-27T04:30:18.802" v="1959" actId="1076"/>
          <ac:spMkLst>
            <pc:docMk/>
            <pc:sldMk cId="2544829679" sldId="281"/>
            <ac:spMk id="6" creationId="{31C56C20-7733-EF65-2AD9-58D6038A8FB6}"/>
          </ac:spMkLst>
        </pc:spChg>
        <pc:spChg chg="mod">
          <ac:chgData name="#LIM XIN WEI#" userId="c7541720-8262-414d-81f4-cf2bccc0ac97" providerId="ADAL" clId="{6E1469B3-B60B-4068-94AD-7F37BFC1336D}" dt="2026-04-27T04:30:18.802" v="1959" actId="1076"/>
          <ac:spMkLst>
            <pc:docMk/>
            <pc:sldMk cId="2544829679" sldId="281"/>
            <ac:spMk id="7" creationId="{534C470B-B7EF-8ACA-DB61-F5D7C83D18BF}"/>
          </ac:spMkLst>
        </pc:spChg>
        <pc:spChg chg="mod">
          <ac:chgData name="#LIM XIN WEI#" userId="c7541720-8262-414d-81f4-cf2bccc0ac97" providerId="ADAL" clId="{6E1469B3-B60B-4068-94AD-7F37BFC1336D}" dt="2026-04-27T04:30:18.802" v="1959" actId="1076"/>
          <ac:spMkLst>
            <pc:docMk/>
            <pc:sldMk cId="2544829679" sldId="281"/>
            <ac:spMk id="8" creationId="{465681F8-1B54-AD17-398C-F61048541E3A}"/>
          </ac:spMkLst>
        </pc:spChg>
        <pc:spChg chg="mod">
          <ac:chgData name="#LIM XIN WEI#" userId="c7541720-8262-414d-81f4-cf2bccc0ac97" providerId="ADAL" clId="{6E1469B3-B60B-4068-94AD-7F37BFC1336D}" dt="2026-04-27T04:30:18.802" v="1959" actId="1076"/>
          <ac:spMkLst>
            <pc:docMk/>
            <pc:sldMk cId="2544829679" sldId="281"/>
            <ac:spMk id="9" creationId="{C6C5D19D-F2B5-ACF0-B7BC-199233FDE540}"/>
          </ac:spMkLst>
        </pc:spChg>
        <pc:spChg chg="mod">
          <ac:chgData name="#LIM XIN WEI#" userId="c7541720-8262-414d-81f4-cf2bccc0ac97" providerId="ADAL" clId="{6E1469B3-B60B-4068-94AD-7F37BFC1336D}" dt="2026-04-27T04:27:10.733" v="1895" actId="20577"/>
          <ac:spMkLst>
            <pc:docMk/>
            <pc:sldMk cId="2544829679" sldId="281"/>
            <ac:spMk id="13" creationId="{A2016EEE-1486-A8C3-6566-2009585FD237}"/>
          </ac:spMkLst>
        </pc:spChg>
        <pc:picChg chg="add mod">
          <ac:chgData name="#LIM XIN WEI#" userId="c7541720-8262-414d-81f4-cf2bccc0ac97" providerId="ADAL" clId="{6E1469B3-B60B-4068-94AD-7F37BFC1336D}" dt="2026-04-27T04:26:56.135" v="1875" actId="1076"/>
          <ac:picMkLst>
            <pc:docMk/>
            <pc:sldMk cId="2544829679" sldId="281"/>
            <ac:picMk id="15" creationId="{830320CB-4DDD-E053-2C99-D76E0F256158}"/>
          </ac:picMkLst>
        </pc:picChg>
        <pc:picChg chg="add mod">
          <ac:chgData name="#LIM XIN WEI#" userId="c7541720-8262-414d-81f4-cf2bccc0ac97" providerId="ADAL" clId="{6E1469B3-B60B-4068-94AD-7F37BFC1336D}" dt="2026-04-27T04:26:49.550" v="1874" actId="1076"/>
          <ac:picMkLst>
            <pc:docMk/>
            <pc:sldMk cId="2544829679" sldId="281"/>
            <ac:picMk id="17" creationId="{DD3B36FB-2F2C-72DB-3DF7-48FEBB9A7795}"/>
          </ac:picMkLst>
        </pc:picChg>
        <pc:picChg chg="add mod">
          <ac:chgData name="#LIM XIN WEI#" userId="c7541720-8262-414d-81f4-cf2bccc0ac97" providerId="ADAL" clId="{6E1469B3-B60B-4068-94AD-7F37BFC1336D}" dt="2026-04-27T04:29:59.594" v="1956" actId="14100"/>
          <ac:picMkLst>
            <pc:docMk/>
            <pc:sldMk cId="2544829679" sldId="281"/>
            <ac:picMk id="20" creationId="{D9274FC1-7D36-C5D0-7B7B-D586AA8ED492}"/>
          </ac:picMkLst>
        </pc:picChg>
        <pc:picChg chg="add mod">
          <ac:chgData name="#LIM XIN WEI#" userId="c7541720-8262-414d-81f4-cf2bccc0ac97" providerId="ADAL" clId="{6E1469B3-B60B-4068-94AD-7F37BFC1336D}" dt="2026-04-27T04:31:04.581" v="1965" actId="1076"/>
          <ac:picMkLst>
            <pc:docMk/>
            <pc:sldMk cId="2544829679" sldId="281"/>
            <ac:picMk id="22" creationId="{C37B3C45-9A6A-1FC2-9716-6BF170C7143A}"/>
          </ac:picMkLst>
        </pc:picChg>
      </pc:sldChg>
      <pc:sldChg chg="modSp add mod ord modNotesTx">
        <pc:chgData name="#LIM XIN WEI#" userId="c7541720-8262-414d-81f4-cf2bccc0ac97" providerId="ADAL" clId="{6E1469B3-B60B-4068-94AD-7F37BFC1336D}" dt="2026-05-07T03:19:47.517" v="34388" actId="20577"/>
        <pc:sldMkLst>
          <pc:docMk/>
          <pc:sldMk cId="5554743" sldId="282"/>
        </pc:sldMkLst>
        <pc:spChg chg="mod">
          <ac:chgData name="#LIM XIN WEI#" userId="c7541720-8262-414d-81f4-cf2bccc0ac97" providerId="ADAL" clId="{6E1469B3-B60B-4068-94AD-7F37BFC1336D}" dt="2026-05-07T03:19:47.517" v="34388" actId="20577"/>
          <ac:spMkLst>
            <pc:docMk/>
            <pc:sldMk cId="5554743" sldId="282"/>
            <ac:spMk id="4" creationId="{BE7FCA43-7583-CFA3-B30F-60DF1463644C}"/>
          </ac:spMkLst>
        </pc:spChg>
        <pc:spChg chg="mod">
          <ac:chgData name="#LIM XIN WEI#" userId="c7541720-8262-414d-81f4-cf2bccc0ac97" providerId="ADAL" clId="{6E1469B3-B60B-4068-94AD-7F37BFC1336D}" dt="2026-04-27T13:26:58.808" v="4766" actId="14100"/>
          <ac:spMkLst>
            <pc:docMk/>
            <pc:sldMk cId="5554743" sldId="282"/>
            <ac:spMk id="22" creationId="{1529B9A4-5E54-983E-E1B5-4A11FF2A8354}"/>
          </ac:spMkLst>
        </pc:spChg>
      </pc:sldChg>
      <pc:sldChg chg="addSp delSp modSp add mod ord modShow modNotesTx">
        <pc:chgData name="#LIM XIN WEI#" userId="c7541720-8262-414d-81f4-cf2bccc0ac97" providerId="ADAL" clId="{6E1469B3-B60B-4068-94AD-7F37BFC1336D}" dt="2026-05-01T10:57:56.812" v="27082"/>
        <pc:sldMkLst>
          <pc:docMk/>
          <pc:sldMk cId="2343791027" sldId="283"/>
        </pc:sldMkLst>
        <pc:spChg chg="mod">
          <ac:chgData name="#LIM XIN WEI#" userId="c7541720-8262-414d-81f4-cf2bccc0ac97" providerId="ADAL" clId="{6E1469B3-B60B-4068-94AD-7F37BFC1336D}" dt="2026-04-27T11:49:30.389" v="3727" actId="1076"/>
          <ac:spMkLst>
            <pc:docMk/>
            <pc:sldMk cId="2343791027" sldId="283"/>
            <ac:spMk id="13" creationId="{40A42F00-9397-D774-D441-A8AEC8289348}"/>
          </ac:spMkLst>
        </pc:spChg>
        <pc:spChg chg="mod">
          <ac:chgData name="#LIM XIN WEI#" userId="c7541720-8262-414d-81f4-cf2bccc0ac97" providerId="ADAL" clId="{6E1469B3-B60B-4068-94AD-7F37BFC1336D}" dt="2026-04-27T11:49:30.389" v="3727" actId="1076"/>
          <ac:spMkLst>
            <pc:docMk/>
            <pc:sldMk cId="2343791027" sldId="283"/>
            <ac:spMk id="14" creationId="{0816E1BA-CB73-6FAB-5A7A-C70CDCF94CA7}"/>
          </ac:spMkLst>
        </pc:spChg>
        <pc:spChg chg="mod">
          <ac:chgData name="#LIM XIN WEI#" userId="c7541720-8262-414d-81f4-cf2bccc0ac97" providerId="ADAL" clId="{6E1469B3-B60B-4068-94AD-7F37BFC1336D}" dt="2026-04-27T11:49:30.389" v="3727" actId="1076"/>
          <ac:spMkLst>
            <pc:docMk/>
            <pc:sldMk cId="2343791027" sldId="283"/>
            <ac:spMk id="15" creationId="{F4F7C407-F4E6-4A72-DCF6-F5D825BF1A81}"/>
          </ac:spMkLst>
        </pc:spChg>
        <pc:spChg chg="mod">
          <ac:chgData name="#LIM XIN WEI#" userId="c7541720-8262-414d-81f4-cf2bccc0ac97" providerId="ADAL" clId="{6E1469B3-B60B-4068-94AD-7F37BFC1336D}" dt="2026-04-27T11:49:30.389" v="3727" actId="1076"/>
          <ac:spMkLst>
            <pc:docMk/>
            <pc:sldMk cId="2343791027" sldId="283"/>
            <ac:spMk id="16" creationId="{9140DFF8-8D0B-C9E1-55BE-B5CFBC257C05}"/>
          </ac:spMkLst>
        </pc:spChg>
        <pc:spChg chg="mod">
          <ac:chgData name="#LIM XIN WEI#" userId="c7541720-8262-414d-81f4-cf2bccc0ac97" providerId="ADAL" clId="{6E1469B3-B60B-4068-94AD-7F37BFC1336D}" dt="2026-04-27T11:49:30.389" v="3727" actId="1076"/>
          <ac:spMkLst>
            <pc:docMk/>
            <pc:sldMk cId="2343791027" sldId="283"/>
            <ac:spMk id="17" creationId="{44B791A7-B7B9-AFF7-452C-4FC053B1876E}"/>
          </ac:spMkLst>
        </pc:spChg>
        <pc:spChg chg="mod">
          <ac:chgData name="#LIM XIN WEI#" userId="c7541720-8262-414d-81f4-cf2bccc0ac97" providerId="ADAL" clId="{6E1469B3-B60B-4068-94AD-7F37BFC1336D}" dt="2026-04-27T11:49:30.389" v="3727" actId="1076"/>
          <ac:spMkLst>
            <pc:docMk/>
            <pc:sldMk cId="2343791027" sldId="283"/>
            <ac:spMk id="18" creationId="{311A4EBF-3A62-3A13-6A36-7D7F82C17F27}"/>
          </ac:spMkLst>
        </pc:spChg>
        <pc:spChg chg="mod">
          <ac:chgData name="#LIM XIN WEI#" userId="c7541720-8262-414d-81f4-cf2bccc0ac97" providerId="ADAL" clId="{6E1469B3-B60B-4068-94AD-7F37BFC1336D}" dt="2026-04-27T11:49:30.389" v="3727" actId="1076"/>
          <ac:spMkLst>
            <pc:docMk/>
            <pc:sldMk cId="2343791027" sldId="283"/>
            <ac:spMk id="19" creationId="{F87637A4-6FD7-422A-33C4-30B2114138E9}"/>
          </ac:spMkLst>
        </pc:spChg>
        <pc:picChg chg="add mod">
          <ac:chgData name="#LIM XIN WEI#" userId="c7541720-8262-414d-81f4-cf2bccc0ac97" providerId="ADAL" clId="{6E1469B3-B60B-4068-94AD-7F37BFC1336D}" dt="2026-04-27T11:50:21.313" v="3740" actId="1076"/>
          <ac:picMkLst>
            <pc:docMk/>
            <pc:sldMk cId="2343791027" sldId="283"/>
            <ac:picMk id="29" creationId="{DCEF6368-F961-FD93-A96B-901672B870D1}"/>
          </ac:picMkLst>
        </pc:picChg>
      </pc:sldChg>
      <pc:sldChg chg="addSp delSp modSp add mod ord modShow modNotesTx">
        <pc:chgData name="#LIM XIN WEI#" userId="c7541720-8262-414d-81f4-cf2bccc0ac97" providerId="ADAL" clId="{6E1469B3-B60B-4068-94AD-7F37BFC1336D}" dt="2026-05-01T10:57:56.812" v="27082"/>
        <pc:sldMkLst>
          <pc:docMk/>
          <pc:sldMk cId="523428093" sldId="284"/>
        </pc:sldMkLst>
        <pc:picChg chg="add mod">
          <ac:chgData name="#LIM XIN WEI#" userId="c7541720-8262-414d-81f4-cf2bccc0ac97" providerId="ADAL" clId="{6E1469B3-B60B-4068-94AD-7F37BFC1336D}" dt="2026-04-27T11:48:31.093" v="3723" actId="1076"/>
          <ac:picMkLst>
            <pc:docMk/>
            <pc:sldMk cId="523428093" sldId="284"/>
            <ac:picMk id="34" creationId="{21B8B631-D170-E502-909E-D47CD9F7B9B8}"/>
          </ac:picMkLst>
        </pc:picChg>
      </pc:sldChg>
      <pc:sldChg chg="addSp delSp modSp add mod ord modShow modNotesTx">
        <pc:chgData name="#LIM XIN WEI#" userId="c7541720-8262-414d-81f4-cf2bccc0ac97" providerId="ADAL" clId="{6E1469B3-B60B-4068-94AD-7F37BFC1336D}" dt="2026-05-01T10:57:56.812" v="27082"/>
        <pc:sldMkLst>
          <pc:docMk/>
          <pc:sldMk cId="88099354" sldId="285"/>
        </pc:sldMkLst>
        <pc:graphicFrameChg chg="add mod modGraphic">
          <ac:chgData name="#LIM XIN WEI#" userId="c7541720-8262-414d-81f4-cf2bccc0ac97" providerId="ADAL" clId="{6E1469B3-B60B-4068-94AD-7F37BFC1336D}" dt="2026-05-01T10:57:09.632" v="27074" actId="1076"/>
          <ac:graphicFrameMkLst>
            <pc:docMk/>
            <pc:sldMk cId="88099354" sldId="285"/>
            <ac:graphicFrameMk id="15" creationId="{7FBA876F-9986-A8AB-685C-B0F3C16FC227}"/>
          </ac:graphicFrameMkLst>
        </pc:graphicFrameChg>
      </pc:sldChg>
      <pc:sldChg chg="addSp delSp modSp add mod ord modNotesTx">
        <pc:chgData name="#LIM XIN WEI#" userId="c7541720-8262-414d-81f4-cf2bccc0ac97" providerId="ADAL" clId="{6E1469B3-B60B-4068-94AD-7F37BFC1336D}" dt="2026-05-07T03:20:05.814" v="34400" actId="20577"/>
        <pc:sldMkLst>
          <pc:docMk/>
          <pc:sldMk cId="862417299" sldId="286"/>
        </pc:sldMkLst>
        <pc:spChg chg="mod">
          <ac:chgData name="#LIM XIN WEI#" userId="c7541720-8262-414d-81f4-cf2bccc0ac97" providerId="ADAL" clId="{6E1469B3-B60B-4068-94AD-7F37BFC1336D}" dt="2026-05-07T03:20:05.814" v="34400" actId="20577"/>
          <ac:spMkLst>
            <pc:docMk/>
            <pc:sldMk cId="862417299" sldId="286"/>
            <ac:spMk id="4" creationId="{6E68E57D-1E2F-2C84-9B44-170DF815DE45}"/>
          </ac:spMkLst>
        </pc:spChg>
        <pc:spChg chg="mod">
          <ac:chgData name="#LIM XIN WEI#" userId="c7541720-8262-414d-81f4-cf2bccc0ac97" providerId="ADAL" clId="{6E1469B3-B60B-4068-94AD-7F37BFC1336D}" dt="2026-05-02T14:16:02.882" v="31192" actId="20577"/>
          <ac:spMkLst>
            <pc:docMk/>
            <pc:sldMk cId="862417299" sldId="286"/>
            <ac:spMk id="5" creationId="{60EE6414-9158-8D2C-42C8-55D631AF43FE}"/>
          </ac:spMkLst>
        </pc:spChg>
        <pc:graphicFrameChg chg="add mod modGraphic">
          <ac:chgData name="#LIM XIN WEI#" userId="c7541720-8262-414d-81f4-cf2bccc0ac97" providerId="ADAL" clId="{6E1469B3-B60B-4068-94AD-7F37BFC1336D}" dt="2026-05-02T14:34:46.380" v="31831" actId="113"/>
          <ac:graphicFrameMkLst>
            <pc:docMk/>
            <pc:sldMk cId="862417299" sldId="286"/>
            <ac:graphicFrameMk id="13" creationId="{8C48A2A5-EA45-3EEB-A9FA-6BB2FD81031A}"/>
          </ac:graphicFrameMkLst>
        </pc:graphicFrameChg>
      </pc:sldChg>
      <pc:sldChg chg="addSp delSp modSp add mod ord modShow modNotesTx">
        <pc:chgData name="#LIM XIN WEI#" userId="c7541720-8262-414d-81f4-cf2bccc0ac97" providerId="ADAL" clId="{6E1469B3-B60B-4068-94AD-7F37BFC1336D}" dt="2026-04-29T10:15:46.559" v="22057" actId="20577"/>
        <pc:sldMkLst>
          <pc:docMk/>
          <pc:sldMk cId="940298071" sldId="288"/>
        </pc:sldMkLst>
        <pc:picChg chg="add del mod">
          <ac:chgData name="#LIM XIN WEI#" userId="c7541720-8262-414d-81f4-cf2bccc0ac97" providerId="ADAL" clId="{6E1469B3-B60B-4068-94AD-7F37BFC1336D}" dt="2026-04-28T09:44:48.410" v="9490" actId="1037"/>
          <ac:picMkLst>
            <pc:docMk/>
            <pc:sldMk cId="940298071" sldId="288"/>
            <ac:picMk id="28" creationId="{7E743506-C494-5C70-DF8A-29D349AC2169}"/>
          </ac:picMkLst>
        </pc:picChg>
      </pc:sldChg>
      <pc:sldChg chg="addSp delSp modSp add mod modNotesTx">
        <pc:chgData name="#LIM XIN WEI#" userId="c7541720-8262-414d-81f4-cf2bccc0ac97" providerId="ADAL" clId="{6E1469B3-B60B-4068-94AD-7F37BFC1336D}" dt="2026-05-07T03:20:54.877" v="34455" actId="20577"/>
        <pc:sldMkLst>
          <pc:docMk/>
          <pc:sldMk cId="3764680845" sldId="289"/>
        </pc:sldMkLst>
        <pc:spChg chg="mod">
          <ac:chgData name="#LIM XIN WEI#" userId="c7541720-8262-414d-81f4-cf2bccc0ac97" providerId="ADAL" clId="{6E1469B3-B60B-4068-94AD-7F37BFC1336D}" dt="2026-05-07T03:20:54.877" v="34455" actId="20577"/>
          <ac:spMkLst>
            <pc:docMk/>
            <pc:sldMk cId="3764680845" sldId="289"/>
            <ac:spMk id="4" creationId="{B47E2D23-41DA-BE20-2892-79319EAD0D8C}"/>
          </ac:spMkLst>
        </pc:spChg>
        <pc:spChg chg="mod">
          <ac:chgData name="#LIM XIN WEI#" userId="c7541720-8262-414d-81f4-cf2bccc0ac97" providerId="ADAL" clId="{6E1469B3-B60B-4068-94AD-7F37BFC1336D}" dt="2026-04-29T10:19:06.391" v="22216" actId="20577"/>
          <ac:spMkLst>
            <pc:docMk/>
            <pc:sldMk cId="3764680845" sldId="289"/>
            <ac:spMk id="8" creationId="{AADBC509-86C3-7C70-65C7-A17E71010AC8}"/>
          </ac:spMkLst>
        </pc:spChg>
        <pc:spChg chg="mod">
          <ac:chgData name="#LIM XIN WEI#" userId="c7541720-8262-414d-81f4-cf2bccc0ac97" providerId="ADAL" clId="{6E1469B3-B60B-4068-94AD-7F37BFC1336D}" dt="2026-04-28T09:14:35.429" v="7583" actId="14100"/>
          <ac:spMkLst>
            <pc:docMk/>
            <pc:sldMk cId="3764680845" sldId="289"/>
            <ac:spMk id="21" creationId="{E51A42FC-46CD-5156-D908-48B30A23DD8F}"/>
          </ac:spMkLst>
        </pc:spChg>
        <pc:spChg chg="mod">
          <ac:chgData name="#LIM XIN WEI#" userId="c7541720-8262-414d-81f4-cf2bccc0ac97" providerId="ADAL" clId="{6E1469B3-B60B-4068-94AD-7F37BFC1336D}" dt="2026-04-28T09:14:28.541" v="7577" actId="1076"/>
          <ac:spMkLst>
            <pc:docMk/>
            <pc:sldMk cId="3764680845" sldId="289"/>
            <ac:spMk id="22" creationId="{70F3B361-604C-DD17-6B5E-4C6B0FB21CD9}"/>
          </ac:spMkLst>
        </pc:spChg>
        <pc:spChg chg="mod">
          <ac:chgData name="#LIM XIN WEI#" userId="c7541720-8262-414d-81f4-cf2bccc0ac97" providerId="ADAL" clId="{6E1469B3-B60B-4068-94AD-7F37BFC1336D}" dt="2026-04-28T09:14:28.541" v="7577" actId="1076"/>
          <ac:spMkLst>
            <pc:docMk/>
            <pc:sldMk cId="3764680845" sldId="289"/>
            <ac:spMk id="23" creationId="{F87A961A-259E-C8FE-11F9-72024C8D9E04}"/>
          </ac:spMkLst>
        </pc:spChg>
        <pc:spChg chg="mod">
          <ac:chgData name="#LIM XIN WEI#" userId="c7541720-8262-414d-81f4-cf2bccc0ac97" providerId="ADAL" clId="{6E1469B3-B60B-4068-94AD-7F37BFC1336D}" dt="2026-04-28T09:14:34.027" v="7581" actId="1076"/>
          <ac:spMkLst>
            <pc:docMk/>
            <pc:sldMk cId="3764680845" sldId="289"/>
            <ac:spMk id="24" creationId="{B60DC64C-27C5-14BF-411C-D57863ACF44E}"/>
          </ac:spMkLst>
        </pc:spChg>
      </pc:sldChg>
      <pc:sldChg chg="addSp delSp modSp add mod modNotesTx">
        <pc:chgData name="#LIM XIN WEI#" userId="c7541720-8262-414d-81f4-cf2bccc0ac97" providerId="ADAL" clId="{6E1469B3-B60B-4068-94AD-7F37BFC1336D}" dt="2026-05-07T03:21:02.216" v="34462" actId="20577"/>
        <pc:sldMkLst>
          <pc:docMk/>
          <pc:sldMk cId="64030679" sldId="290"/>
        </pc:sldMkLst>
        <pc:spChg chg="mod">
          <ac:chgData name="#LIM XIN WEI#" userId="c7541720-8262-414d-81f4-cf2bccc0ac97" providerId="ADAL" clId="{6E1469B3-B60B-4068-94AD-7F37BFC1336D}" dt="2026-05-07T03:21:02.216" v="34462" actId="20577"/>
          <ac:spMkLst>
            <pc:docMk/>
            <pc:sldMk cId="64030679" sldId="290"/>
            <ac:spMk id="4" creationId="{8CF1252B-524B-C0B0-912B-7B38EC5A142A}"/>
          </ac:spMkLst>
        </pc:spChg>
        <pc:spChg chg="mod">
          <ac:chgData name="#LIM XIN WEI#" userId="c7541720-8262-414d-81f4-cf2bccc0ac97" providerId="ADAL" clId="{6E1469B3-B60B-4068-94AD-7F37BFC1336D}" dt="2026-05-01T10:43:13.739" v="27025" actId="20577"/>
          <ac:spMkLst>
            <pc:docMk/>
            <pc:sldMk cId="64030679" sldId="290"/>
            <ac:spMk id="5" creationId="{4485F298-C22F-9DC3-3628-5848B1286947}"/>
          </ac:spMkLst>
        </pc:spChg>
        <pc:spChg chg="add mod">
          <ac:chgData name="#LIM XIN WEI#" userId="c7541720-8262-414d-81f4-cf2bccc0ac97" providerId="ADAL" clId="{6E1469B3-B60B-4068-94AD-7F37BFC1336D}" dt="2026-05-01T10:38:36.072" v="26856" actId="1076"/>
          <ac:spMkLst>
            <pc:docMk/>
            <pc:sldMk cId="64030679" sldId="290"/>
            <ac:spMk id="8"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14"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15"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16"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17"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18"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19" creationId="{00000000-0000-0000-0000-000000000000}"/>
          </ac:spMkLst>
        </pc:spChg>
        <pc:spChg chg="add mod">
          <ac:chgData name="#LIM XIN WEI#" userId="c7541720-8262-414d-81f4-cf2bccc0ac97" providerId="ADAL" clId="{6E1469B3-B60B-4068-94AD-7F37BFC1336D}" dt="2026-05-01T10:38:30.926" v="26854" actId="1076"/>
          <ac:spMkLst>
            <pc:docMk/>
            <pc:sldMk cId="64030679" sldId="290"/>
            <ac:spMk id="20" creationId="{00000000-0000-0000-0000-000000000000}"/>
          </ac:spMkLst>
        </pc:spChg>
        <pc:picChg chg="add mod">
          <ac:chgData name="#LIM XIN WEI#" userId="c7541720-8262-414d-81f4-cf2bccc0ac97" providerId="ADAL" clId="{6E1469B3-B60B-4068-94AD-7F37BFC1336D}" dt="2026-05-01T10:38:17.512" v="26851" actId="1076"/>
          <ac:picMkLst>
            <pc:docMk/>
            <pc:sldMk cId="64030679" sldId="290"/>
            <ac:picMk id="28" creationId="{B720B065-1815-0819-D67A-D344C905E1CD}"/>
          </ac:picMkLst>
        </pc:picChg>
        <pc:picChg chg="add mod">
          <ac:chgData name="#LIM XIN WEI#" userId="c7541720-8262-414d-81f4-cf2bccc0ac97" providerId="ADAL" clId="{6E1469B3-B60B-4068-94AD-7F37BFC1336D}" dt="2026-05-01T10:39:17.465" v="26886" actId="14100"/>
          <ac:picMkLst>
            <pc:docMk/>
            <pc:sldMk cId="64030679" sldId="290"/>
            <ac:picMk id="32" creationId="{EF62FC74-E174-994C-BDA6-BFBAE78F791E}"/>
          </ac:picMkLst>
        </pc:picChg>
        <pc:picChg chg="add mod">
          <ac:chgData name="#LIM XIN WEI#" userId="c7541720-8262-414d-81f4-cf2bccc0ac97" providerId="ADAL" clId="{6E1469B3-B60B-4068-94AD-7F37BFC1336D}" dt="2026-05-01T10:39:20.787" v="26887" actId="1076"/>
          <ac:picMkLst>
            <pc:docMk/>
            <pc:sldMk cId="64030679" sldId="290"/>
            <ac:picMk id="34" creationId="{3231C1D1-E4A9-1114-DACD-841D9A2FB216}"/>
          </ac:picMkLst>
        </pc:picChg>
        <pc:inkChg chg="add">
          <ac:chgData name="#LIM XIN WEI#" userId="c7541720-8262-414d-81f4-cf2bccc0ac97" providerId="ADAL" clId="{6E1469B3-B60B-4068-94AD-7F37BFC1336D}" dt="2026-05-03T14:19:40.255" v="32773" actId="9405"/>
          <ac:inkMkLst>
            <pc:docMk/>
            <pc:sldMk cId="64030679" sldId="290"/>
            <ac:inkMk id="9" creationId="{6641F7AA-5772-CDF8-4A3C-FC0B17CC08C5}"/>
          </ac:inkMkLst>
        </pc:inkChg>
        <pc:inkChg chg="add">
          <ac:chgData name="#LIM XIN WEI#" userId="c7541720-8262-414d-81f4-cf2bccc0ac97" providerId="ADAL" clId="{6E1469B3-B60B-4068-94AD-7F37BFC1336D}" dt="2026-05-03T14:19:42.123" v="32774" actId="9405"/>
          <ac:inkMkLst>
            <pc:docMk/>
            <pc:sldMk cId="64030679" sldId="290"/>
            <ac:inkMk id="10" creationId="{731797D6-2766-6AF1-EC5D-E2B38F0A6CEF}"/>
          </ac:inkMkLst>
        </pc:inkChg>
      </pc:sldChg>
      <pc:sldChg chg="addSp delSp modSp add mod ord modNotesTx">
        <pc:chgData name="#LIM XIN WEI#" userId="c7541720-8262-414d-81f4-cf2bccc0ac97" providerId="ADAL" clId="{6E1469B3-B60B-4068-94AD-7F37BFC1336D}" dt="2026-05-07T03:23:05.578" v="34595" actId="20577"/>
        <pc:sldMkLst>
          <pc:docMk/>
          <pc:sldMk cId="480690883" sldId="291"/>
        </pc:sldMkLst>
        <pc:spChg chg="mod">
          <ac:chgData name="#LIM XIN WEI#" userId="c7541720-8262-414d-81f4-cf2bccc0ac97" providerId="ADAL" clId="{6E1469B3-B60B-4068-94AD-7F37BFC1336D}" dt="2026-04-29T09:50:00.216" v="21960" actId="20577"/>
          <ac:spMkLst>
            <pc:docMk/>
            <pc:sldMk cId="480690883" sldId="291"/>
            <ac:spMk id="3" creationId="{ED44F830-A9B1-19EF-E476-1FA2DCC94AA3}"/>
          </ac:spMkLst>
        </pc:spChg>
        <pc:spChg chg="mod">
          <ac:chgData name="#LIM XIN WEI#" userId="c7541720-8262-414d-81f4-cf2bccc0ac97" providerId="ADAL" clId="{6E1469B3-B60B-4068-94AD-7F37BFC1336D}" dt="2026-05-07T03:23:05.578" v="34595" actId="20577"/>
          <ac:spMkLst>
            <pc:docMk/>
            <pc:sldMk cId="480690883" sldId="291"/>
            <ac:spMk id="4" creationId="{27007735-71C0-356E-44B0-3C0B7A5E09BB}"/>
          </ac:spMkLst>
        </pc:spChg>
        <pc:spChg chg="mod">
          <ac:chgData name="#LIM XIN WEI#" userId="c7541720-8262-414d-81f4-cf2bccc0ac97" providerId="ADAL" clId="{6E1469B3-B60B-4068-94AD-7F37BFC1336D}" dt="2026-04-29T09:50:13.678" v="21962" actId="14100"/>
          <ac:spMkLst>
            <pc:docMk/>
            <pc:sldMk cId="480690883" sldId="291"/>
            <ac:spMk id="5" creationId="{EFA32B85-F984-FD1B-7DB9-0F0110C86492}"/>
          </ac:spMkLst>
        </pc:spChg>
        <pc:spChg chg="add del mod">
          <ac:chgData name="#LIM XIN WEI#" userId="c7541720-8262-414d-81f4-cf2bccc0ac97" providerId="ADAL" clId="{6E1469B3-B60B-4068-94AD-7F37BFC1336D}" dt="2026-04-28T01:55:15.801" v="5574" actId="1076"/>
          <ac:spMkLst>
            <pc:docMk/>
            <pc:sldMk cId="480690883" sldId="291"/>
            <ac:spMk id="22" creationId="{8C032A69-0715-6304-71E2-D77BAEB1DC01}"/>
          </ac:spMkLst>
        </pc:spChg>
        <pc:spChg chg="add del mod">
          <ac:chgData name="#LIM XIN WEI#" userId="c7541720-8262-414d-81f4-cf2bccc0ac97" providerId="ADAL" clId="{6E1469B3-B60B-4068-94AD-7F37BFC1336D}" dt="2026-04-28T01:52:47.279" v="5533" actId="1076"/>
          <ac:spMkLst>
            <pc:docMk/>
            <pc:sldMk cId="480690883" sldId="291"/>
            <ac:spMk id="23" creationId="{C0CA17C6-90D3-BC92-59EB-3C6CC35B870D}"/>
          </ac:spMkLst>
        </pc:spChg>
        <pc:spChg chg="mod">
          <ac:chgData name="#LIM XIN WEI#" userId="c7541720-8262-414d-81f4-cf2bccc0ac97" providerId="ADAL" clId="{6E1469B3-B60B-4068-94AD-7F37BFC1336D}" dt="2026-04-28T01:55:09.839" v="5573" actId="1076"/>
          <ac:spMkLst>
            <pc:docMk/>
            <pc:sldMk cId="480690883" sldId="291"/>
            <ac:spMk id="26" creationId="{0B9F3D91-382B-037E-C785-DB4BA956B0B4}"/>
          </ac:spMkLst>
        </pc:spChg>
        <pc:spChg chg="mod">
          <ac:chgData name="#LIM XIN WEI#" userId="c7541720-8262-414d-81f4-cf2bccc0ac97" providerId="ADAL" clId="{6E1469B3-B60B-4068-94AD-7F37BFC1336D}" dt="2026-04-28T01:54:54.113" v="5562" actId="14100"/>
          <ac:spMkLst>
            <pc:docMk/>
            <pc:sldMk cId="480690883" sldId="291"/>
            <ac:spMk id="27" creationId="{2F2DDD02-EAB3-F3E1-8F79-1E37512F7022}"/>
          </ac:spMkLst>
        </pc:spChg>
        <pc:picChg chg="add mod">
          <ac:chgData name="#LIM XIN WEI#" userId="c7541720-8262-414d-81f4-cf2bccc0ac97" providerId="ADAL" clId="{6E1469B3-B60B-4068-94AD-7F37BFC1336D}" dt="2026-04-28T01:59:26.257" v="5586" actId="1076"/>
          <ac:picMkLst>
            <pc:docMk/>
            <pc:sldMk cId="480690883" sldId="291"/>
            <ac:picMk id="32" creationId="{9B6B70FE-963B-57D4-7341-F3364C8B1F22}"/>
          </ac:picMkLst>
        </pc:picChg>
        <pc:picChg chg="add mod">
          <ac:chgData name="#LIM XIN WEI#" userId="c7541720-8262-414d-81f4-cf2bccc0ac97" providerId="ADAL" clId="{6E1469B3-B60B-4068-94AD-7F37BFC1336D}" dt="2026-04-28T01:59:22.215" v="5585" actId="1076"/>
          <ac:picMkLst>
            <pc:docMk/>
            <pc:sldMk cId="480690883" sldId="291"/>
            <ac:picMk id="34" creationId="{733A2B89-A5E6-6F35-BF54-045ECD9F2C3E}"/>
          </ac:picMkLst>
        </pc:picChg>
        <pc:picChg chg="add mod">
          <ac:chgData name="#LIM XIN WEI#" userId="c7541720-8262-414d-81f4-cf2bccc0ac97" providerId="ADAL" clId="{6E1469B3-B60B-4068-94AD-7F37BFC1336D}" dt="2026-04-28T01:53:28.499" v="5544" actId="1076"/>
          <ac:picMkLst>
            <pc:docMk/>
            <pc:sldMk cId="480690883" sldId="291"/>
            <ac:picMk id="40" creationId="{C28A0791-0E09-2B03-1F75-8FC43CF42067}"/>
          </ac:picMkLst>
        </pc:picChg>
      </pc:sldChg>
      <pc:sldChg chg="modSp add mod ord modShow modNotesTx">
        <pc:chgData name="#LIM XIN WEI#" userId="c7541720-8262-414d-81f4-cf2bccc0ac97" providerId="ADAL" clId="{6E1469B3-B60B-4068-94AD-7F37BFC1336D}" dt="2026-05-01T09:07:54.774" v="24965"/>
        <pc:sldMkLst>
          <pc:docMk/>
          <pc:sldMk cId="2793507381" sldId="292"/>
        </pc:sldMkLst>
        <pc:spChg chg="mod">
          <ac:chgData name="#LIM XIN WEI#" userId="c7541720-8262-414d-81f4-cf2bccc0ac97" providerId="ADAL" clId="{6E1469B3-B60B-4068-94AD-7F37BFC1336D}" dt="2026-04-28T02:21:08.662" v="6266" actId="207"/>
          <ac:spMkLst>
            <pc:docMk/>
            <pc:sldMk cId="2793507381" sldId="292"/>
            <ac:spMk id="6" creationId="{DEBCC4BF-3BF1-0960-27AF-759EF7CCB601}"/>
          </ac:spMkLst>
        </pc:spChg>
        <pc:spChg chg="mod">
          <ac:chgData name="#LIM XIN WEI#" userId="c7541720-8262-414d-81f4-cf2bccc0ac97" providerId="ADAL" clId="{6E1469B3-B60B-4068-94AD-7F37BFC1336D}" dt="2026-04-28T02:20:58.694" v="6265" actId="20577"/>
          <ac:spMkLst>
            <pc:docMk/>
            <pc:sldMk cId="2793507381" sldId="292"/>
            <ac:spMk id="9" creationId="{5D2D48AE-80BE-9C27-410B-F4736D5777F8}"/>
          </ac:spMkLst>
        </pc:spChg>
        <pc:graphicFrameChg chg="mod modGraphic">
          <ac:chgData name="#LIM XIN WEI#" userId="c7541720-8262-414d-81f4-cf2bccc0ac97" providerId="ADAL" clId="{6E1469B3-B60B-4068-94AD-7F37BFC1336D}" dt="2026-04-28T02:18:50.106" v="6153" actId="20577"/>
          <ac:graphicFrameMkLst>
            <pc:docMk/>
            <pc:sldMk cId="2793507381" sldId="292"/>
            <ac:graphicFrameMk id="16" creationId="{43220423-10D0-7B47-5BB1-3BB42035E70D}"/>
          </ac:graphicFrameMkLst>
        </pc:graphicFrameChg>
      </pc:sldChg>
      <pc:sldChg chg="modSp add mod ord modNotesTx">
        <pc:chgData name="#LIM XIN WEI#" userId="c7541720-8262-414d-81f4-cf2bccc0ac97" providerId="ADAL" clId="{6E1469B3-B60B-4068-94AD-7F37BFC1336D}" dt="2026-05-07T03:21:37.145" v="34497" actId="20577"/>
        <pc:sldMkLst>
          <pc:docMk/>
          <pc:sldMk cId="2653500442" sldId="293"/>
        </pc:sldMkLst>
        <pc:spChg chg="mod">
          <ac:chgData name="#LIM XIN WEI#" userId="c7541720-8262-414d-81f4-cf2bccc0ac97" providerId="ADAL" clId="{6E1469B3-B60B-4068-94AD-7F37BFC1336D}" dt="2026-05-07T03:21:37.145" v="34497" actId="20577"/>
          <ac:spMkLst>
            <pc:docMk/>
            <pc:sldMk cId="2653500442" sldId="293"/>
            <ac:spMk id="4" creationId="{D63FBC73-2AE4-73FB-C9C3-AB76B6C49616}"/>
          </ac:spMkLst>
        </pc:spChg>
      </pc:sldChg>
      <pc:sldChg chg="modSp add mod ord modShow">
        <pc:chgData name="#LIM XIN WEI#" userId="c7541720-8262-414d-81f4-cf2bccc0ac97" providerId="ADAL" clId="{6E1469B3-B60B-4068-94AD-7F37BFC1336D}" dt="2026-04-28T12:26:56.934" v="13023"/>
        <pc:sldMkLst>
          <pc:docMk/>
          <pc:sldMk cId="1690959506" sldId="294"/>
        </pc:sldMkLst>
        <pc:spChg chg="mod">
          <ac:chgData name="#LIM XIN WEI#" userId="c7541720-8262-414d-81f4-cf2bccc0ac97" providerId="ADAL" clId="{6E1469B3-B60B-4068-94AD-7F37BFC1336D}" dt="2026-04-28T06:14:02.959" v="6459" actId="20577"/>
          <ac:spMkLst>
            <pc:docMk/>
            <pc:sldMk cId="1690959506" sldId="294"/>
            <ac:spMk id="5" creationId="{584F2CFA-7DD3-FFFF-CBE5-354694A9C9AE}"/>
          </ac:spMkLst>
        </pc:spChg>
      </pc:sldChg>
      <pc:sldChg chg="addSp delSp modSp add mod modNotesTx">
        <pc:chgData name="#LIM XIN WEI#" userId="c7541720-8262-414d-81f4-cf2bccc0ac97" providerId="ADAL" clId="{6E1469B3-B60B-4068-94AD-7F37BFC1336D}" dt="2026-05-07T03:22:19.339" v="34545" actId="20577"/>
        <pc:sldMkLst>
          <pc:docMk/>
          <pc:sldMk cId="3169380041" sldId="295"/>
        </pc:sldMkLst>
        <pc:spChg chg="mod">
          <ac:chgData name="#LIM XIN WEI#" userId="c7541720-8262-414d-81f4-cf2bccc0ac97" providerId="ADAL" clId="{6E1469B3-B60B-4068-94AD-7F37BFC1336D}" dt="2026-05-07T03:22:19.339" v="34545" actId="20577"/>
          <ac:spMkLst>
            <pc:docMk/>
            <pc:sldMk cId="3169380041" sldId="295"/>
            <ac:spMk id="4" creationId="{7AD5E319-9AE8-F73B-8FC6-DC908AB6A5E2}"/>
          </ac:spMkLst>
        </pc:spChg>
        <pc:spChg chg="mod">
          <ac:chgData name="#LIM XIN WEI#" userId="c7541720-8262-414d-81f4-cf2bccc0ac97" providerId="ADAL" clId="{6E1469B3-B60B-4068-94AD-7F37BFC1336D}" dt="2026-04-28T06:33:31.236" v="6645" actId="1076"/>
          <ac:spMkLst>
            <pc:docMk/>
            <pc:sldMk cId="3169380041" sldId="295"/>
            <ac:spMk id="5" creationId="{5B51237E-737B-BD95-28FE-7EC8CEF230EA}"/>
          </ac:spMkLst>
        </pc:spChg>
        <pc:spChg chg="mod">
          <ac:chgData name="#LIM XIN WEI#" userId="c7541720-8262-414d-81f4-cf2bccc0ac97" providerId="ADAL" clId="{6E1469B3-B60B-4068-94AD-7F37BFC1336D}" dt="2026-04-28T06:33:40.059" v="6646" actId="1076"/>
          <ac:spMkLst>
            <pc:docMk/>
            <pc:sldMk cId="3169380041" sldId="295"/>
            <ac:spMk id="15" creationId="{570806E4-745D-0033-CA37-67097847D404}"/>
          </ac:spMkLst>
        </pc:spChg>
        <pc:spChg chg="mod">
          <ac:chgData name="#LIM XIN WEI#" userId="c7541720-8262-414d-81f4-cf2bccc0ac97" providerId="ADAL" clId="{6E1469B3-B60B-4068-94AD-7F37BFC1336D}" dt="2026-04-28T06:33:40.059" v="6646" actId="1076"/>
          <ac:spMkLst>
            <pc:docMk/>
            <pc:sldMk cId="3169380041" sldId="295"/>
            <ac:spMk id="16" creationId="{E4FDDBAC-14F9-7381-5421-10A27AFCCF20}"/>
          </ac:spMkLst>
        </pc:spChg>
        <pc:spChg chg="mod">
          <ac:chgData name="#LIM XIN WEI#" userId="c7541720-8262-414d-81f4-cf2bccc0ac97" providerId="ADAL" clId="{6E1469B3-B60B-4068-94AD-7F37BFC1336D}" dt="2026-04-28T06:33:40.059" v="6646" actId="1076"/>
          <ac:spMkLst>
            <pc:docMk/>
            <pc:sldMk cId="3169380041" sldId="295"/>
            <ac:spMk id="17" creationId="{EB5F87E5-7D6E-00DC-B0EF-CBA00436C431}"/>
          </ac:spMkLst>
        </pc:spChg>
        <pc:spChg chg="mod">
          <ac:chgData name="#LIM XIN WEI#" userId="c7541720-8262-414d-81f4-cf2bccc0ac97" providerId="ADAL" clId="{6E1469B3-B60B-4068-94AD-7F37BFC1336D}" dt="2026-04-28T06:33:40.059" v="6646" actId="1076"/>
          <ac:spMkLst>
            <pc:docMk/>
            <pc:sldMk cId="3169380041" sldId="295"/>
            <ac:spMk id="18" creationId="{35E0B5D6-19B9-945A-F4E7-0BF4ED92C324}"/>
          </ac:spMkLst>
        </pc:spChg>
        <pc:spChg chg="mod">
          <ac:chgData name="#LIM XIN WEI#" userId="c7541720-8262-414d-81f4-cf2bccc0ac97" providerId="ADAL" clId="{6E1469B3-B60B-4068-94AD-7F37BFC1336D}" dt="2026-04-28T06:33:40.059" v="6646" actId="1076"/>
          <ac:spMkLst>
            <pc:docMk/>
            <pc:sldMk cId="3169380041" sldId="295"/>
            <ac:spMk id="19" creationId="{FD0B6CFA-2319-1DD3-88BF-6B404E9783F2}"/>
          </ac:spMkLst>
        </pc:spChg>
        <pc:spChg chg="mod">
          <ac:chgData name="#LIM XIN WEI#" userId="c7541720-8262-414d-81f4-cf2bccc0ac97" providerId="ADAL" clId="{6E1469B3-B60B-4068-94AD-7F37BFC1336D}" dt="2026-04-28T06:33:40.059" v="6646" actId="1076"/>
          <ac:spMkLst>
            <pc:docMk/>
            <pc:sldMk cId="3169380041" sldId="295"/>
            <ac:spMk id="20" creationId="{DB3AC467-6343-6DFA-8BEF-6A2D40CD06AC}"/>
          </ac:spMkLst>
        </pc:spChg>
        <pc:spChg chg="mod">
          <ac:chgData name="#LIM XIN WEI#" userId="c7541720-8262-414d-81f4-cf2bccc0ac97" providerId="ADAL" clId="{6E1469B3-B60B-4068-94AD-7F37BFC1336D}" dt="2026-04-28T06:33:40.059" v="6646" actId="1076"/>
          <ac:spMkLst>
            <pc:docMk/>
            <pc:sldMk cId="3169380041" sldId="295"/>
            <ac:spMk id="21" creationId="{3D0CCC2C-26C3-8831-76D2-0E798B065297}"/>
          </ac:spMkLst>
        </pc:spChg>
        <pc:spChg chg="mod">
          <ac:chgData name="#LIM XIN WEI#" userId="c7541720-8262-414d-81f4-cf2bccc0ac97" providerId="ADAL" clId="{6E1469B3-B60B-4068-94AD-7F37BFC1336D}" dt="2026-05-07T02:06:53.696" v="33985" actId="20577"/>
          <ac:spMkLst>
            <pc:docMk/>
            <pc:sldMk cId="3169380041" sldId="295"/>
            <ac:spMk id="22" creationId="{1B80BBA2-EDC2-7808-EAF6-8E0993EB1C9F}"/>
          </ac:spMkLst>
        </pc:spChg>
        <pc:picChg chg="add mod">
          <ac:chgData name="#LIM XIN WEI#" userId="c7541720-8262-414d-81f4-cf2bccc0ac97" providerId="ADAL" clId="{6E1469B3-B60B-4068-94AD-7F37BFC1336D}" dt="2026-04-28T06:35:40.756" v="6660" actId="14100"/>
          <ac:picMkLst>
            <pc:docMk/>
            <pc:sldMk cId="3169380041" sldId="295"/>
            <ac:picMk id="34" creationId="{241B1C83-0E20-DD40-3339-76B97749814B}"/>
          </ac:picMkLst>
        </pc:picChg>
        <pc:picChg chg="add mod">
          <ac:chgData name="#LIM XIN WEI#" userId="c7541720-8262-414d-81f4-cf2bccc0ac97" providerId="ADAL" clId="{6E1469B3-B60B-4068-94AD-7F37BFC1336D}" dt="2026-04-28T06:35:45.241" v="6662" actId="1076"/>
          <ac:picMkLst>
            <pc:docMk/>
            <pc:sldMk cId="3169380041" sldId="295"/>
            <ac:picMk id="36" creationId="{A7E4A99F-91E5-DB38-24FA-C867F83E01C8}"/>
          </ac:picMkLst>
        </pc:picChg>
      </pc:sldChg>
      <pc:sldChg chg="addSp delSp modSp add mod modNotesTx">
        <pc:chgData name="#LIM XIN WEI#" userId="c7541720-8262-414d-81f4-cf2bccc0ac97" providerId="ADAL" clId="{6E1469B3-B60B-4068-94AD-7F37BFC1336D}" dt="2026-05-07T03:22:34.630" v="34561" actId="20577"/>
        <pc:sldMkLst>
          <pc:docMk/>
          <pc:sldMk cId="807350067" sldId="296"/>
        </pc:sldMkLst>
        <pc:spChg chg="mod">
          <ac:chgData name="#LIM XIN WEI#" userId="c7541720-8262-414d-81f4-cf2bccc0ac97" providerId="ADAL" clId="{6E1469B3-B60B-4068-94AD-7F37BFC1336D}" dt="2026-05-07T03:22:34.630" v="34561" actId="20577"/>
          <ac:spMkLst>
            <pc:docMk/>
            <pc:sldMk cId="807350067" sldId="296"/>
            <ac:spMk id="4" creationId="{7CA3EABA-6EC3-79C1-0B11-6D12A2AE6CFA}"/>
          </ac:spMkLst>
        </pc:spChg>
        <pc:spChg chg="mod">
          <ac:chgData name="#LIM XIN WEI#" userId="c7541720-8262-414d-81f4-cf2bccc0ac97" providerId="ADAL" clId="{6E1469B3-B60B-4068-94AD-7F37BFC1336D}" dt="2026-04-28T06:36:08.158" v="6668" actId="1076"/>
          <ac:spMkLst>
            <pc:docMk/>
            <pc:sldMk cId="807350067" sldId="296"/>
            <ac:spMk id="5" creationId="{5774A868-D172-8707-0166-914E427972FA}"/>
          </ac:spMkLst>
        </pc:spChg>
        <pc:spChg chg="mod">
          <ac:chgData name="#LIM XIN WEI#" userId="c7541720-8262-414d-81f4-cf2bccc0ac97" providerId="ADAL" clId="{6E1469B3-B60B-4068-94AD-7F37BFC1336D}" dt="2026-04-28T06:36:25.073" v="6747" actId="1076"/>
          <ac:spMkLst>
            <pc:docMk/>
            <pc:sldMk cId="807350067" sldId="296"/>
            <ac:spMk id="23" creationId="{7DB08067-7319-8471-EF90-0CC8970A5A95}"/>
          </ac:spMkLst>
        </pc:spChg>
        <pc:spChg chg="mod">
          <ac:chgData name="#LIM XIN WEI#" userId="c7541720-8262-414d-81f4-cf2bccc0ac97" providerId="ADAL" clId="{6E1469B3-B60B-4068-94AD-7F37BFC1336D}" dt="2026-04-28T06:36:25.073" v="6747" actId="1076"/>
          <ac:spMkLst>
            <pc:docMk/>
            <pc:sldMk cId="807350067" sldId="296"/>
            <ac:spMk id="24" creationId="{5E963579-2B27-6BA7-212A-CCF3B4326E59}"/>
          </ac:spMkLst>
        </pc:spChg>
        <pc:spChg chg="mod">
          <ac:chgData name="#LIM XIN WEI#" userId="c7541720-8262-414d-81f4-cf2bccc0ac97" providerId="ADAL" clId="{6E1469B3-B60B-4068-94AD-7F37BFC1336D}" dt="2026-04-28T06:36:25.073" v="6747" actId="1076"/>
          <ac:spMkLst>
            <pc:docMk/>
            <pc:sldMk cId="807350067" sldId="296"/>
            <ac:spMk id="25" creationId="{A3F0A50C-6A96-BDE7-401D-ED8773F9A664}"/>
          </ac:spMkLst>
        </pc:spChg>
        <pc:spChg chg="mod">
          <ac:chgData name="#LIM XIN WEI#" userId="c7541720-8262-414d-81f4-cf2bccc0ac97" providerId="ADAL" clId="{6E1469B3-B60B-4068-94AD-7F37BFC1336D}" dt="2026-04-28T06:36:25.073" v="6747" actId="1076"/>
          <ac:spMkLst>
            <pc:docMk/>
            <pc:sldMk cId="807350067" sldId="296"/>
            <ac:spMk id="26" creationId="{97B4F008-B411-3B81-5361-9E174F5A10F0}"/>
          </ac:spMkLst>
        </pc:spChg>
        <pc:spChg chg="mod">
          <ac:chgData name="#LIM XIN WEI#" userId="c7541720-8262-414d-81f4-cf2bccc0ac97" providerId="ADAL" clId="{6E1469B3-B60B-4068-94AD-7F37BFC1336D}" dt="2026-04-28T06:36:25.073" v="6747" actId="1076"/>
          <ac:spMkLst>
            <pc:docMk/>
            <pc:sldMk cId="807350067" sldId="296"/>
            <ac:spMk id="27" creationId="{2946D52F-696D-F9D8-B7A7-52F8286CD1B4}"/>
          </ac:spMkLst>
        </pc:spChg>
        <pc:spChg chg="mod">
          <ac:chgData name="#LIM XIN WEI#" userId="c7541720-8262-414d-81f4-cf2bccc0ac97" providerId="ADAL" clId="{6E1469B3-B60B-4068-94AD-7F37BFC1336D}" dt="2026-04-28T06:36:25.073" v="6747" actId="1076"/>
          <ac:spMkLst>
            <pc:docMk/>
            <pc:sldMk cId="807350067" sldId="296"/>
            <ac:spMk id="28" creationId="{8781D6CF-C6E2-AA27-E0CE-1F339C5B0A52}"/>
          </ac:spMkLst>
        </pc:spChg>
        <pc:spChg chg="mod">
          <ac:chgData name="#LIM XIN WEI#" userId="c7541720-8262-414d-81f4-cf2bccc0ac97" providerId="ADAL" clId="{6E1469B3-B60B-4068-94AD-7F37BFC1336D}" dt="2026-04-28T06:36:25.073" v="6747" actId="1076"/>
          <ac:spMkLst>
            <pc:docMk/>
            <pc:sldMk cId="807350067" sldId="296"/>
            <ac:spMk id="29" creationId="{893C4ED2-8A10-D984-A8A1-978CC3AD981C}"/>
          </ac:spMkLst>
        </pc:spChg>
        <pc:spChg chg="mod">
          <ac:chgData name="#LIM XIN WEI#" userId="c7541720-8262-414d-81f4-cf2bccc0ac97" providerId="ADAL" clId="{6E1469B3-B60B-4068-94AD-7F37BFC1336D}" dt="2026-04-28T06:36:25.073" v="6747" actId="1076"/>
          <ac:spMkLst>
            <pc:docMk/>
            <pc:sldMk cId="807350067" sldId="296"/>
            <ac:spMk id="30" creationId="{93DF5CD6-29AA-54F8-4CDD-E8C9F0DB037A}"/>
          </ac:spMkLst>
        </pc:spChg>
        <pc:picChg chg="add mod">
          <ac:chgData name="#LIM XIN WEI#" userId="c7541720-8262-414d-81f4-cf2bccc0ac97" providerId="ADAL" clId="{6E1469B3-B60B-4068-94AD-7F37BFC1336D}" dt="2026-05-01T09:50:46.059" v="25839" actId="1076"/>
          <ac:picMkLst>
            <pc:docMk/>
            <pc:sldMk cId="807350067" sldId="296"/>
            <ac:picMk id="7" creationId="{405C69BD-34C8-765F-66F1-74A9527E9166}"/>
          </ac:picMkLst>
        </pc:picChg>
      </pc:sldChg>
      <pc:sldChg chg="addSp delSp modSp add mod ord modShow modNotesTx">
        <pc:chgData name="#LIM XIN WEI#" userId="c7541720-8262-414d-81f4-cf2bccc0ac97" providerId="ADAL" clId="{6E1469B3-B60B-4068-94AD-7F37BFC1336D}" dt="2026-05-07T03:22:27.306" v="34553" actId="20577"/>
        <pc:sldMkLst>
          <pc:docMk/>
          <pc:sldMk cId="3787692226" sldId="297"/>
        </pc:sldMkLst>
        <pc:spChg chg="mod">
          <ac:chgData name="#LIM XIN WEI#" userId="c7541720-8262-414d-81f4-cf2bccc0ac97" providerId="ADAL" clId="{6E1469B3-B60B-4068-94AD-7F37BFC1336D}" dt="2026-05-07T03:22:27.306" v="34553" actId="20577"/>
          <ac:spMkLst>
            <pc:docMk/>
            <pc:sldMk cId="3787692226" sldId="297"/>
            <ac:spMk id="4" creationId="{F1AE4A3E-385C-FDBF-0F11-DBE34CC3E6AD}"/>
          </ac:spMkLst>
        </pc:spChg>
        <pc:spChg chg="mod">
          <ac:chgData name="#LIM XIN WEI#" userId="c7541720-8262-414d-81f4-cf2bccc0ac97" providerId="ADAL" clId="{6E1469B3-B60B-4068-94AD-7F37BFC1336D}" dt="2026-04-28T06:38:12.446" v="6757" actId="1076"/>
          <ac:spMkLst>
            <pc:docMk/>
            <pc:sldMk cId="3787692226" sldId="297"/>
            <ac:spMk id="5" creationId="{4A776DB3-6EC6-AEAC-0A18-ECE0F19F114F}"/>
          </ac:spMkLst>
        </pc:spChg>
        <pc:spChg chg="mod">
          <ac:chgData name="#LIM XIN WEI#" userId="c7541720-8262-414d-81f4-cf2bccc0ac97" providerId="ADAL" clId="{6E1469B3-B60B-4068-94AD-7F37BFC1336D}" dt="2026-04-28T06:38:10.458" v="6755" actId="1076"/>
          <ac:spMkLst>
            <pc:docMk/>
            <pc:sldMk cId="3787692226" sldId="297"/>
            <ac:spMk id="16" creationId="{ADA48BD2-62AF-4483-2538-9CD1107C2DFA}"/>
          </ac:spMkLst>
        </pc:spChg>
        <pc:spChg chg="mod">
          <ac:chgData name="#LIM XIN WEI#" userId="c7541720-8262-414d-81f4-cf2bccc0ac97" providerId="ADAL" clId="{6E1469B3-B60B-4068-94AD-7F37BFC1336D}" dt="2026-04-28T06:38:10.458" v="6755" actId="1076"/>
          <ac:spMkLst>
            <pc:docMk/>
            <pc:sldMk cId="3787692226" sldId="297"/>
            <ac:spMk id="17" creationId="{D7AC6EAA-C36D-B067-D71B-D9633FB75DAD}"/>
          </ac:spMkLst>
        </pc:spChg>
        <pc:spChg chg="mod">
          <ac:chgData name="#LIM XIN WEI#" userId="c7541720-8262-414d-81f4-cf2bccc0ac97" providerId="ADAL" clId="{6E1469B3-B60B-4068-94AD-7F37BFC1336D}" dt="2026-04-28T06:38:10.458" v="6755" actId="1076"/>
          <ac:spMkLst>
            <pc:docMk/>
            <pc:sldMk cId="3787692226" sldId="297"/>
            <ac:spMk id="18" creationId="{65EF4228-0DA3-6FC0-723B-279934B25770}"/>
          </ac:spMkLst>
        </pc:spChg>
        <pc:spChg chg="mod">
          <ac:chgData name="#LIM XIN WEI#" userId="c7541720-8262-414d-81f4-cf2bccc0ac97" providerId="ADAL" clId="{6E1469B3-B60B-4068-94AD-7F37BFC1336D}" dt="2026-04-28T06:38:10.458" v="6755" actId="1076"/>
          <ac:spMkLst>
            <pc:docMk/>
            <pc:sldMk cId="3787692226" sldId="297"/>
            <ac:spMk id="19" creationId="{94319D60-BD65-1382-DA3A-8DFB99D70A25}"/>
          </ac:spMkLst>
        </pc:spChg>
        <pc:spChg chg="mod">
          <ac:chgData name="#LIM XIN WEI#" userId="c7541720-8262-414d-81f4-cf2bccc0ac97" providerId="ADAL" clId="{6E1469B3-B60B-4068-94AD-7F37BFC1336D}" dt="2026-05-07T02:29:29.872" v="34196" actId="20577"/>
          <ac:spMkLst>
            <pc:docMk/>
            <pc:sldMk cId="3787692226" sldId="297"/>
            <ac:spMk id="20" creationId="{9619DEBB-8E02-72BC-4ADD-DF6A544B2A90}"/>
          </ac:spMkLst>
        </pc:spChg>
        <pc:spChg chg="del mod">
          <ac:chgData name="#LIM XIN WEI#" userId="c7541720-8262-414d-81f4-cf2bccc0ac97" providerId="ADAL" clId="{6E1469B3-B60B-4068-94AD-7F37BFC1336D}" dt="2026-05-06T14:10:25.127" v="33909" actId="478"/>
          <ac:spMkLst>
            <pc:docMk/>
            <pc:sldMk cId="3787692226" sldId="297"/>
            <ac:spMk id="21" creationId="{A0928C14-E9AD-905B-61E7-808866F0EC77}"/>
          </ac:spMkLst>
        </pc:spChg>
        <pc:spChg chg="del mod">
          <ac:chgData name="#LIM XIN WEI#" userId="c7541720-8262-414d-81f4-cf2bccc0ac97" providerId="ADAL" clId="{6E1469B3-B60B-4068-94AD-7F37BFC1336D}" dt="2026-05-06T14:10:23.373" v="33908" actId="478"/>
          <ac:spMkLst>
            <pc:docMk/>
            <pc:sldMk cId="3787692226" sldId="297"/>
            <ac:spMk id="22" creationId="{F270D90B-BC18-CC88-D232-53E7AF2715BE}"/>
          </ac:spMkLst>
        </pc:spChg>
        <pc:spChg chg="mod">
          <ac:chgData name="#LIM XIN WEI#" userId="c7541720-8262-414d-81f4-cf2bccc0ac97" providerId="ADAL" clId="{6E1469B3-B60B-4068-94AD-7F37BFC1336D}" dt="2026-04-28T06:38:10.458" v="6755" actId="1076"/>
          <ac:spMkLst>
            <pc:docMk/>
            <pc:sldMk cId="3787692226" sldId="297"/>
            <ac:spMk id="24" creationId="{3E29A487-4DAB-D455-3C18-4564F69333A9}"/>
          </ac:spMkLst>
        </pc:spChg>
        <pc:picChg chg="add mod">
          <ac:chgData name="#LIM XIN WEI#" userId="c7541720-8262-414d-81f4-cf2bccc0ac97" providerId="ADAL" clId="{6E1469B3-B60B-4068-94AD-7F37BFC1336D}" dt="2026-04-28T06:39:07.322" v="6766" actId="1076"/>
          <ac:picMkLst>
            <pc:docMk/>
            <pc:sldMk cId="3787692226" sldId="297"/>
            <ac:picMk id="36" creationId="{631EA7D3-2BD4-4C6E-690D-ED058D055B86}"/>
          </ac:picMkLst>
        </pc:picChg>
        <pc:picChg chg="add mod">
          <ac:chgData name="#LIM XIN WEI#" userId="c7541720-8262-414d-81f4-cf2bccc0ac97" providerId="ADAL" clId="{6E1469B3-B60B-4068-94AD-7F37BFC1336D}" dt="2026-04-28T06:39:05.756" v="6765" actId="1076"/>
          <ac:picMkLst>
            <pc:docMk/>
            <pc:sldMk cId="3787692226" sldId="297"/>
            <ac:picMk id="38" creationId="{0DDC3BA2-F549-CFCC-CC3E-DB6CDB0BDCFC}"/>
          </ac:picMkLst>
        </pc:picChg>
      </pc:sldChg>
      <pc:sldChg chg="addSp delSp modSp add mod ord modShow modNotesTx">
        <pc:chgData name="#LIM XIN WEI#" userId="c7541720-8262-414d-81f4-cf2bccc0ac97" providerId="ADAL" clId="{6E1469B3-B60B-4068-94AD-7F37BFC1336D}" dt="2026-05-01T09:50:56.988" v="25842"/>
        <pc:sldMkLst>
          <pc:docMk/>
          <pc:sldMk cId="1191621006" sldId="298"/>
        </pc:sldMkLst>
        <pc:spChg chg="mod">
          <ac:chgData name="#LIM XIN WEI#" userId="c7541720-8262-414d-81f4-cf2bccc0ac97" providerId="ADAL" clId="{6E1469B3-B60B-4068-94AD-7F37BFC1336D}" dt="2026-04-28T06:59:18.725" v="6771" actId="1076"/>
          <ac:spMkLst>
            <pc:docMk/>
            <pc:sldMk cId="1191621006" sldId="298"/>
            <ac:spMk id="5" creationId="{F0F4E8AE-C92F-DFE6-F315-8350A13A5B46}"/>
          </ac:spMkLst>
        </pc:spChg>
        <pc:spChg chg="mod">
          <ac:chgData name="#LIM XIN WEI#" userId="c7541720-8262-414d-81f4-cf2bccc0ac97" providerId="ADAL" clId="{6E1469B3-B60B-4068-94AD-7F37BFC1336D}" dt="2026-04-28T06:59:23.133" v="6772" actId="1076"/>
          <ac:spMkLst>
            <pc:docMk/>
            <pc:sldMk cId="1191621006" sldId="298"/>
            <ac:spMk id="25" creationId="{2D9DFB93-F7EC-26D7-BC3C-65C0E7A9B08C}"/>
          </ac:spMkLst>
        </pc:spChg>
        <pc:spChg chg="mod">
          <ac:chgData name="#LIM XIN WEI#" userId="c7541720-8262-414d-81f4-cf2bccc0ac97" providerId="ADAL" clId="{6E1469B3-B60B-4068-94AD-7F37BFC1336D}" dt="2026-04-28T06:59:23.133" v="6772" actId="1076"/>
          <ac:spMkLst>
            <pc:docMk/>
            <pc:sldMk cId="1191621006" sldId="298"/>
            <ac:spMk id="26" creationId="{3ED23610-B85F-DBED-626A-7C11CBC8C3F5}"/>
          </ac:spMkLst>
        </pc:spChg>
        <pc:spChg chg="mod">
          <ac:chgData name="#LIM XIN WEI#" userId="c7541720-8262-414d-81f4-cf2bccc0ac97" providerId="ADAL" clId="{6E1469B3-B60B-4068-94AD-7F37BFC1336D}" dt="2026-04-28T06:59:23.133" v="6772" actId="1076"/>
          <ac:spMkLst>
            <pc:docMk/>
            <pc:sldMk cId="1191621006" sldId="298"/>
            <ac:spMk id="27" creationId="{93ED30EE-CA6D-ADD7-C9BD-30716B2F1364}"/>
          </ac:spMkLst>
        </pc:spChg>
        <pc:spChg chg="mod">
          <ac:chgData name="#LIM XIN WEI#" userId="c7541720-8262-414d-81f4-cf2bccc0ac97" providerId="ADAL" clId="{6E1469B3-B60B-4068-94AD-7F37BFC1336D}" dt="2026-04-28T06:59:23.133" v="6772" actId="1076"/>
          <ac:spMkLst>
            <pc:docMk/>
            <pc:sldMk cId="1191621006" sldId="298"/>
            <ac:spMk id="28" creationId="{03314660-8293-552F-0022-F2CD6499A674}"/>
          </ac:spMkLst>
        </pc:spChg>
        <pc:spChg chg="mod">
          <ac:chgData name="#LIM XIN WEI#" userId="c7541720-8262-414d-81f4-cf2bccc0ac97" providerId="ADAL" clId="{6E1469B3-B60B-4068-94AD-7F37BFC1336D}" dt="2026-04-28T06:59:23.133" v="6772" actId="1076"/>
          <ac:spMkLst>
            <pc:docMk/>
            <pc:sldMk cId="1191621006" sldId="298"/>
            <ac:spMk id="29" creationId="{447B73AB-C9B8-DB06-0307-4B880F01C310}"/>
          </ac:spMkLst>
        </pc:spChg>
        <pc:spChg chg="mod">
          <ac:chgData name="#LIM XIN WEI#" userId="c7541720-8262-414d-81f4-cf2bccc0ac97" providerId="ADAL" clId="{6E1469B3-B60B-4068-94AD-7F37BFC1336D}" dt="2026-04-28T06:59:23.133" v="6772" actId="1076"/>
          <ac:spMkLst>
            <pc:docMk/>
            <pc:sldMk cId="1191621006" sldId="298"/>
            <ac:spMk id="30" creationId="{E89CB5FA-62AD-3B4C-346B-FBB2EC6B8828}"/>
          </ac:spMkLst>
        </pc:spChg>
        <pc:spChg chg="mod">
          <ac:chgData name="#LIM XIN WEI#" userId="c7541720-8262-414d-81f4-cf2bccc0ac97" providerId="ADAL" clId="{6E1469B3-B60B-4068-94AD-7F37BFC1336D}" dt="2026-04-28T06:59:23.133" v="6772" actId="1076"/>
          <ac:spMkLst>
            <pc:docMk/>
            <pc:sldMk cId="1191621006" sldId="298"/>
            <ac:spMk id="31" creationId="{8EE13086-BCCF-7F80-E9E3-7D6D189AC9C8}"/>
          </ac:spMkLst>
        </pc:spChg>
        <pc:spChg chg="mod">
          <ac:chgData name="#LIM XIN WEI#" userId="c7541720-8262-414d-81f4-cf2bccc0ac97" providerId="ADAL" clId="{6E1469B3-B60B-4068-94AD-7F37BFC1336D}" dt="2026-04-28T06:59:23.133" v="6772" actId="1076"/>
          <ac:spMkLst>
            <pc:docMk/>
            <pc:sldMk cId="1191621006" sldId="298"/>
            <ac:spMk id="32" creationId="{ED20BDFB-9EBD-8FC3-2753-1E0BD2B4F007}"/>
          </ac:spMkLst>
        </pc:spChg>
        <pc:spChg chg="mod">
          <ac:chgData name="#LIM XIN WEI#" userId="c7541720-8262-414d-81f4-cf2bccc0ac97" providerId="ADAL" clId="{6E1469B3-B60B-4068-94AD-7F37BFC1336D}" dt="2026-04-28T06:59:23.133" v="6772" actId="1076"/>
          <ac:spMkLst>
            <pc:docMk/>
            <pc:sldMk cId="1191621006" sldId="298"/>
            <ac:spMk id="33" creationId="{C55E06F5-0D46-11F2-022D-65573372D417}"/>
          </ac:spMkLst>
        </pc:spChg>
        <pc:picChg chg="add mod">
          <ac:chgData name="#LIM XIN WEI#" userId="c7541720-8262-414d-81f4-cf2bccc0ac97" providerId="ADAL" clId="{6E1469B3-B60B-4068-94AD-7F37BFC1336D}" dt="2026-04-28T06:59:52.525" v="6781" actId="1076"/>
          <ac:picMkLst>
            <pc:docMk/>
            <pc:sldMk cId="1191621006" sldId="298"/>
            <ac:picMk id="36" creationId="{D3AAAC4E-7E2E-0C81-0401-BFC66A393CCA}"/>
          </ac:picMkLst>
        </pc:picChg>
      </pc:sldChg>
      <pc:sldChg chg="addSp delSp modSp add mod modNotesTx">
        <pc:chgData name="#LIM XIN WEI#" userId="c7541720-8262-414d-81f4-cf2bccc0ac97" providerId="ADAL" clId="{6E1469B3-B60B-4068-94AD-7F37BFC1336D}" dt="2026-05-07T03:21:59.755" v="34526" actId="20577"/>
        <pc:sldMkLst>
          <pc:docMk/>
          <pc:sldMk cId="282967975" sldId="299"/>
        </pc:sldMkLst>
        <pc:spChg chg="mod">
          <ac:chgData name="#LIM XIN WEI#" userId="c7541720-8262-414d-81f4-cf2bccc0ac97" providerId="ADAL" clId="{6E1469B3-B60B-4068-94AD-7F37BFC1336D}" dt="2026-05-07T03:21:59.755" v="34526" actId="20577"/>
          <ac:spMkLst>
            <pc:docMk/>
            <pc:sldMk cId="282967975" sldId="299"/>
            <ac:spMk id="4" creationId="{D1D5CFC8-570A-B9AF-55C7-0754FFE1C89B}"/>
          </ac:spMkLst>
        </pc:spChg>
        <pc:picChg chg="add mod">
          <ac:chgData name="#LIM XIN WEI#" userId="c7541720-8262-414d-81f4-cf2bccc0ac97" providerId="ADAL" clId="{6E1469B3-B60B-4068-94AD-7F37BFC1336D}" dt="2026-05-01T10:00:41.679" v="25896" actId="1076"/>
          <ac:picMkLst>
            <pc:docMk/>
            <pc:sldMk cId="282967975" sldId="299"/>
            <ac:picMk id="16" creationId="{79AE3CA1-2D2C-8F4E-EC44-F0A021614F48}"/>
          </ac:picMkLst>
        </pc:picChg>
        <pc:picChg chg="add mod">
          <ac:chgData name="#LIM XIN WEI#" userId="c7541720-8262-414d-81f4-cf2bccc0ac97" providerId="ADAL" clId="{6E1469B3-B60B-4068-94AD-7F37BFC1336D}" dt="2026-05-01T10:00:40.061" v="25895" actId="1076"/>
          <ac:picMkLst>
            <pc:docMk/>
            <pc:sldMk cId="282967975" sldId="299"/>
            <ac:picMk id="34" creationId="{04429D21-0603-FC42-5736-FE4D337A5F43}"/>
          </ac:picMkLst>
        </pc:picChg>
        <pc:inkChg chg="add">
          <ac:chgData name="#LIM XIN WEI#" userId="c7541720-8262-414d-81f4-cf2bccc0ac97" providerId="ADAL" clId="{6E1469B3-B60B-4068-94AD-7F37BFC1336D}" dt="2026-05-06T14:05:01.584" v="33845" actId="9405"/>
          <ac:inkMkLst>
            <pc:docMk/>
            <pc:sldMk cId="282967975" sldId="299"/>
            <ac:inkMk id="6" creationId="{8547E7C1-3221-0AB7-0E44-D5BADF87ED85}"/>
          </ac:inkMkLst>
        </pc:inkChg>
      </pc:sldChg>
      <pc:sldChg chg="addSp delSp modSp add mod ord modShow modNotesTx">
        <pc:chgData name="#LIM XIN WEI#" userId="c7541720-8262-414d-81f4-cf2bccc0ac97" providerId="ADAL" clId="{6E1469B3-B60B-4068-94AD-7F37BFC1336D}" dt="2026-05-01T10:00:59.608" v="25901"/>
        <pc:sldMkLst>
          <pc:docMk/>
          <pc:sldMk cId="1098831590" sldId="300"/>
        </pc:sldMkLst>
        <pc:spChg chg="mod">
          <ac:chgData name="#LIM XIN WEI#" userId="c7541720-8262-414d-81f4-cf2bccc0ac97" providerId="ADAL" clId="{6E1469B3-B60B-4068-94AD-7F37BFC1336D}" dt="2026-04-28T06:29:58.804" v="6617" actId="20577"/>
          <ac:spMkLst>
            <pc:docMk/>
            <pc:sldMk cId="1098831590" sldId="300"/>
            <ac:spMk id="5" creationId="{37F64338-3E97-707D-04F9-96BA4D324C31}"/>
          </ac:spMkLst>
        </pc:spChg>
        <pc:picChg chg="add mod">
          <ac:chgData name="#LIM XIN WEI#" userId="c7541720-8262-414d-81f4-cf2bccc0ac97" providerId="ADAL" clId="{6E1469B3-B60B-4068-94AD-7F37BFC1336D}" dt="2026-04-28T06:30:14.377" v="6621" actId="1076"/>
          <ac:picMkLst>
            <pc:docMk/>
            <pc:sldMk cId="1098831590" sldId="300"/>
            <ac:picMk id="16" creationId="{9DE843B1-D490-57A8-FB0E-6FA194142696}"/>
          </ac:picMkLst>
        </pc:picChg>
      </pc:sldChg>
      <pc:sldChg chg="add mod ord modShow">
        <pc:chgData name="#LIM XIN WEI#" userId="c7541720-8262-414d-81f4-cf2bccc0ac97" providerId="ADAL" clId="{6E1469B3-B60B-4068-94AD-7F37BFC1336D}" dt="2026-04-28T12:26:51.636" v="13021"/>
        <pc:sldMkLst>
          <pc:docMk/>
          <pc:sldMk cId="3936417625" sldId="301"/>
        </pc:sldMkLst>
      </pc:sldChg>
      <pc:sldChg chg="addSp delSp modSp add mod modNotesTx">
        <pc:chgData name="#LIM XIN WEI#" userId="c7541720-8262-414d-81f4-cf2bccc0ac97" providerId="ADAL" clId="{6E1469B3-B60B-4068-94AD-7F37BFC1336D}" dt="2026-05-07T03:21:52.983" v="34514" actId="20577"/>
        <pc:sldMkLst>
          <pc:docMk/>
          <pc:sldMk cId="775118426" sldId="302"/>
        </pc:sldMkLst>
        <pc:spChg chg="mod">
          <ac:chgData name="#LIM XIN WEI#" userId="c7541720-8262-414d-81f4-cf2bccc0ac97" providerId="ADAL" clId="{6E1469B3-B60B-4068-94AD-7F37BFC1336D}" dt="2026-05-07T03:21:52.983" v="34514" actId="20577"/>
          <ac:spMkLst>
            <pc:docMk/>
            <pc:sldMk cId="775118426" sldId="302"/>
            <ac:spMk id="4" creationId="{1FE4C2D6-3684-6E2F-578C-25594A8CDC30}"/>
          </ac:spMkLst>
        </pc:spChg>
        <pc:spChg chg="mod">
          <ac:chgData name="#LIM XIN WEI#" userId="c7541720-8262-414d-81f4-cf2bccc0ac97" providerId="ADAL" clId="{6E1469B3-B60B-4068-94AD-7F37BFC1336D}" dt="2026-05-06T13:45:20.400" v="33393" actId="20577"/>
          <ac:spMkLst>
            <pc:docMk/>
            <pc:sldMk cId="775118426" sldId="302"/>
            <ac:spMk id="5" creationId="{A45BF4AE-A76F-B1FE-E357-6A6B7CA593FB}"/>
          </ac:spMkLst>
        </pc:spChg>
        <pc:spChg chg="del mod">
          <ac:chgData name="#LIM XIN WEI#" userId="c7541720-8262-414d-81f4-cf2bccc0ac97" providerId="ADAL" clId="{6E1469B3-B60B-4068-94AD-7F37BFC1336D}" dt="2026-05-06T13:45:29.454" v="33394" actId="478"/>
          <ac:spMkLst>
            <pc:docMk/>
            <pc:sldMk cId="775118426" sldId="302"/>
            <ac:spMk id="43" creationId="{E15B7B73-8131-AFBC-BE9B-BBE1ACCFA219}"/>
          </ac:spMkLst>
        </pc:spChg>
        <pc:spChg chg="del mod">
          <ac:chgData name="#LIM XIN WEI#" userId="c7541720-8262-414d-81f4-cf2bccc0ac97" providerId="ADAL" clId="{6E1469B3-B60B-4068-94AD-7F37BFC1336D}" dt="2026-05-06T13:45:33.400" v="33395" actId="478"/>
          <ac:spMkLst>
            <pc:docMk/>
            <pc:sldMk cId="775118426" sldId="302"/>
            <ac:spMk id="44" creationId="{36E8A4B4-14EF-2D02-4D16-851B47D79B49}"/>
          </ac:spMkLst>
        </pc:spChg>
        <pc:spChg chg="del mod">
          <ac:chgData name="#LIM XIN WEI#" userId="c7541720-8262-414d-81f4-cf2bccc0ac97" providerId="ADAL" clId="{6E1469B3-B60B-4068-94AD-7F37BFC1336D}" dt="2026-05-06T13:45:35.241" v="33396" actId="478"/>
          <ac:spMkLst>
            <pc:docMk/>
            <pc:sldMk cId="775118426" sldId="302"/>
            <ac:spMk id="46" creationId="{8E53E942-18F5-1F44-1147-C6B82475F7B9}"/>
          </ac:spMkLst>
        </pc:spChg>
        <pc:spChg chg="del mod">
          <ac:chgData name="#LIM XIN WEI#" userId="c7541720-8262-414d-81f4-cf2bccc0ac97" providerId="ADAL" clId="{6E1469B3-B60B-4068-94AD-7F37BFC1336D}" dt="2026-05-06T13:45:33.400" v="33395" actId="478"/>
          <ac:spMkLst>
            <pc:docMk/>
            <pc:sldMk cId="775118426" sldId="302"/>
            <ac:spMk id="47" creationId="{8D2DAF36-646E-B049-92B7-8772DFB4C9C4}"/>
          </ac:spMkLst>
        </pc:spChg>
        <pc:picChg chg="add mod">
          <ac:chgData name="#LIM XIN WEI#" userId="c7541720-8262-414d-81f4-cf2bccc0ac97" providerId="ADAL" clId="{6E1469B3-B60B-4068-94AD-7F37BFC1336D}" dt="2026-05-06T13:45:49.850" v="33402" actId="1076"/>
          <ac:picMkLst>
            <pc:docMk/>
            <pc:sldMk cId="775118426" sldId="302"/>
            <ac:picMk id="7" creationId="{27459BEB-0B7C-9E2B-4FC1-B26AC16427A2}"/>
          </ac:picMkLst>
        </pc:picChg>
        <pc:picChg chg="add mod">
          <ac:chgData name="#LIM XIN WEI#" userId="c7541720-8262-414d-81f4-cf2bccc0ac97" providerId="ADAL" clId="{6E1469B3-B60B-4068-94AD-7F37BFC1336D}" dt="2026-05-06T13:45:48.522" v="33401" actId="1076"/>
          <ac:picMkLst>
            <pc:docMk/>
            <pc:sldMk cId="775118426" sldId="302"/>
            <ac:picMk id="9" creationId="{88512FFA-9DBA-376F-370D-364DC55E894B}"/>
          </ac:picMkLst>
        </pc:picChg>
      </pc:sldChg>
      <pc:sldChg chg="add mod ord modShow">
        <pc:chgData name="#LIM XIN WEI#" userId="c7541720-8262-414d-81f4-cf2bccc0ac97" providerId="ADAL" clId="{6E1469B3-B60B-4068-94AD-7F37BFC1336D}" dt="2026-04-29T03:18:23.356" v="17321" actId="729"/>
        <pc:sldMkLst>
          <pc:docMk/>
          <pc:sldMk cId="1933934263" sldId="303"/>
        </pc:sldMkLst>
      </pc:sldChg>
      <pc:sldChg chg="addSp delSp modSp add mod setBg modNotesTx">
        <pc:chgData name="#LIM XIN WEI#" userId="c7541720-8262-414d-81f4-cf2bccc0ac97" providerId="ADAL" clId="{6E1469B3-B60B-4068-94AD-7F37BFC1336D}" dt="2026-05-07T03:21:15.894" v="34474" actId="20577"/>
        <pc:sldMkLst>
          <pc:docMk/>
          <pc:sldMk cId="0" sldId="305"/>
        </pc:sldMkLst>
        <pc:spChg chg="mod">
          <ac:chgData name="#LIM XIN WEI#" userId="c7541720-8262-414d-81f4-cf2bccc0ac97" providerId="ADAL" clId="{6E1469B3-B60B-4068-94AD-7F37BFC1336D}" dt="2026-05-07T03:21:15.894" v="34474" actId="20577"/>
          <ac:spMkLst>
            <pc:docMk/>
            <pc:sldMk cId="0" sldId="305"/>
            <ac:spMk id="4" creationId="{00000000-0000-0000-0000-000000000000}"/>
          </ac:spMkLst>
        </pc:spChg>
        <pc:picChg chg="add mod">
          <ac:chgData name="#LIM XIN WEI#" userId="c7541720-8262-414d-81f4-cf2bccc0ac97" providerId="ADAL" clId="{6E1469B3-B60B-4068-94AD-7F37BFC1336D}" dt="2026-04-29T11:34:01.336" v="23066" actId="1076"/>
          <ac:picMkLst>
            <pc:docMk/>
            <pc:sldMk cId="0" sldId="305"/>
            <ac:picMk id="32" creationId="{6114E1C2-9561-4597-EB8B-00EFA290E95A}"/>
          </ac:picMkLst>
        </pc:picChg>
        <pc:picChg chg="add mod">
          <ac:chgData name="#LIM XIN WEI#" userId="c7541720-8262-414d-81f4-cf2bccc0ac97" providerId="ADAL" clId="{6E1469B3-B60B-4068-94AD-7F37BFC1336D}" dt="2026-04-29T11:34:35.004" v="23072" actId="1076"/>
          <ac:picMkLst>
            <pc:docMk/>
            <pc:sldMk cId="0" sldId="305"/>
            <ac:picMk id="34" creationId="{C14A845C-0766-887F-EF4F-A0AD9C4BB973}"/>
          </ac:picMkLst>
        </pc:picChg>
      </pc:sldChg>
      <pc:sldChg chg="add mod ord modShow modNotesTx">
        <pc:chgData name="#LIM XIN WEI#" userId="c7541720-8262-414d-81f4-cf2bccc0ac97" providerId="ADAL" clId="{6E1469B3-B60B-4068-94AD-7F37BFC1336D}" dt="2026-05-01T09:51:49.758" v="25845" actId="20577"/>
        <pc:sldMkLst>
          <pc:docMk/>
          <pc:sldMk cId="3454535811" sldId="306"/>
        </pc:sldMkLst>
      </pc:sldChg>
      <pc:sldChg chg="add mod ord modShow">
        <pc:chgData name="#LIM XIN WEI#" userId="c7541720-8262-414d-81f4-cf2bccc0ac97" providerId="ADAL" clId="{6E1469B3-B60B-4068-94AD-7F37BFC1336D}" dt="2026-05-01T10:35:01.460" v="26826"/>
        <pc:sldMkLst>
          <pc:docMk/>
          <pc:sldMk cId="687214516" sldId="307"/>
        </pc:sldMkLst>
      </pc:sldChg>
      <pc:sldChg chg="delSp modSp add mod modNotesTx">
        <pc:chgData name="#LIM XIN WEI#" userId="c7541720-8262-414d-81f4-cf2bccc0ac97" providerId="ADAL" clId="{6E1469B3-B60B-4068-94AD-7F37BFC1336D}" dt="2026-05-07T03:19:57.583" v="34394" actId="20577"/>
        <pc:sldMkLst>
          <pc:docMk/>
          <pc:sldMk cId="3615205083" sldId="308"/>
        </pc:sldMkLst>
        <pc:spChg chg="mod">
          <ac:chgData name="#LIM XIN WEI#" userId="c7541720-8262-414d-81f4-cf2bccc0ac97" providerId="ADAL" clId="{6E1469B3-B60B-4068-94AD-7F37BFC1336D}" dt="2026-05-07T03:19:57.583" v="34394" actId="20577"/>
          <ac:spMkLst>
            <pc:docMk/>
            <pc:sldMk cId="3615205083" sldId="308"/>
            <ac:spMk id="4" creationId="{DA9760F6-A538-DB56-DA94-0DF5ECA7B59C}"/>
          </ac:spMkLst>
        </pc:spChg>
        <pc:spChg chg="mod">
          <ac:chgData name="#LIM XIN WEI#" userId="c7541720-8262-414d-81f4-cf2bccc0ac97" providerId="ADAL" clId="{6E1469B3-B60B-4068-94AD-7F37BFC1336D}" dt="2026-05-01T10:58:12.155" v="27089" actId="20577"/>
          <ac:spMkLst>
            <pc:docMk/>
            <pc:sldMk cId="3615205083" sldId="308"/>
            <ac:spMk id="5" creationId="{6B2ED6A7-DFDC-6BE3-EEAD-BC54A04D3E1A}"/>
          </ac:spMkLst>
        </pc:spChg>
        <pc:graphicFrameChg chg="mod modGraphic">
          <ac:chgData name="#LIM XIN WEI#" userId="c7541720-8262-414d-81f4-cf2bccc0ac97" providerId="ADAL" clId="{6E1469B3-B60B-4068-94AD-7F37BFC1336D}" dt="2026-05-02T13:39:24.646" v="30305" actId="113"/>
          <ac:graphicFrameMkLst>
            <pc:docMk/>
            <pc:sldMk cId="3615205083" sldId="308"/>
            <ac:graphicFrameMk id="15" creationId="{95188046-25FA-02E7-514F-6137B01F2990}"/>
          </ac:graphicFrameMkLst>
        </pc:graphicFrameChg>
      </pc:sldChg>
      <pc:sldChg chg="addSp delSp modSp add mod modNotesTx">
        <pc:chgData name="#LIM XIN WEI#" userId="c7541720-8262-414d-81f4-cf2bccc0ac97" providerId="ADAL" clId="{6E1469B3-B60B-4068-94AD-7F37BFC1336D}" dt="2026-05-07T03:20:15.011" v="34409" actId="20577"/>
        <pc:sldMkLst>
          <pc:docMk/>
          <pc:sldMk cId="459726820" sldId="309"/>
        </pc:sldMkLst>
        <pc:spChg chg="mod">
          <ac:chgData name="#LIM XIN WEI#" userId="c7541720-8262-414d-81f4-cf2bccc0ac97" providerId="ADAL" clId="{6E1469B3-B60B-4068-94AD-7F37BFC1336D}" dt="2026-05-07T03:20:15.011" v="34409" actId="20577"/>
          <ac:spMkLst>
            <pc:docMk/>
            <pc:sldMk cId="459726820" sldId="309"/>
            <ac:spMk id="4" creationId="{4FBC2A63-CF35-38BE-94DA-FA5A42784522}"/>
          </ac:spMkLst>
        </pc:spChg>
        <pc:spChg chg="mod">
          <ac:chgData name="#LIM XIN WEI#" userId="c7541720-8262-414d-81f4-cf2bccc0ac97" providerId="ADAL" clId="{6E1469B3-B60B-4068-94AD-7F37BFC1336D}" dt="2026-05-01T11:02:00.038" v="27195" actId="20577"/>
          <ac:spMkLst>
            <pc:docMk/>
            <pc:sldMk cId="459726820" sldId="309"/>
            <ac:spMk id="5" creationId="{07E6DF36-F186-16B9-7F9B-89950C69A038}"/>
          </ac:spMkLst>
        </pc:spChg>
        <pc:graphicFrameChg chg="add mod modGraphic">
          <ac:chgData name="#LIM XIN WEI#" userId="c7541720-8262-414d-81f4-cf2bccc0ac97" providerId="ADAL" clId="{6E1469B3-B60B-4068-94AD-7F37BFC1336D}" dt="2026-05-01T12:47:13.025" v="29496" actId="113"/>
          <ac:graphicFrameMkLst>
            <pc:docMk/>
            <pc:sldMk cId="459726820" sldId="309"/>
            <ac:graphicFrameMk id="6" creationId="{C5EF8E26-ED0D-902A-1868-E942B2A175F6}"/>
          </ac:graphicFrameMkLst>
        </pc:graphicFrameChg>
      </pc:sldChg>
      <pc:sldChg chg="addSp delSp modSp add mod modNotesTx">
        <pc:chgData name="#LIM XIN WEI#" userId="c7541720-8262-414d-81f4-cf2bccc0ac97" providerId="ADAL" clId="{6E1469B3-B60B-4068-94AD-7F37BFC1336D}" dt="2026-05-07T03:20:25.128" v="34419" actId="20577"/>
        <pc:sldMkLst>
          <pc:docMk/>
          <pc:sldMk cId="1255670520" sldId="310"/>
        </pc:sldMkLst>
        <pc:spChg chg="mod">
          <ac:chgData name="#LIM XIN WEI#" userId="c7541720-8262-414d-81f4-cf2bccc0ac97" providerId="ADAL" clId="{6E1469B3-B60B-4068-94AD-7F37BFC1336D}" dt="2026-05-07T03:20:25.128" v="34419" actId="20577"/>
          <ac:spMkLst>
            <pc:docMk/>
            <pc:sldMk cId="1255670520" sldId="310"/>
            <ac:spMk id="4" creationId="{EAE48894-5A08-E1FD-0C6E-B57EBA4D0167}"/>
          </ac:spMkLst>
        </pc:spChg>
        <pc:spChg chg="mod">
          <ac:chgData name="#LIM XIN WEI#" userId="c7541720-8262-414d-81f4-cf2bccc0ac97" providerId="ADAL" clId="{6E1469B3-B60B-4068-94AD-7F37BFC1336D}" dt="2026-05-01T11:04:43.010" v="27220" actId="20577"/>
          <ac:spMkLst>
            <pc:docMk/>
            <pc:sldMk cId="1255670520" sldId="310"/>
            <ac:spMk id="5" creationId="{28430AE9-7F77-42FA-8667-7C6F3381AC1D}"/>
          </ac:spMkLst>
        </pc:spChg>
        <pc:graphicFrameChg chg="add mod modGraphic">
          <ac:chgData name="#LIM XIN WEI#" userId="c7541720-8262-414d-81f4-cf2bccc0ac97" providerId="ADAL" clId="{6E1469B3-B60B-4068-94AD-7F37BFC1336D}" dt="2026-05-03T13:50:00.145" v="32175" actId="20577"/>
          <ac:graphicFrameMkLst>
            <pc:docMk/>
            <pc:sldMk cId="1255670520" sldId="310"/>
            <ac:graphicFrameMk id="7" creationId="{AE3B96F3-BEA9-D221-CA4E-DB3D81FD9717}"/>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B2B2B"/>
                </a:solidFill>
                <a:latin typeface="Calibri"/>
              </a:defRPr>
            </a:pPr>
            <a:r>
              <a:rPr lang="en-US" sz="1100" b="0" i="0" u="none" strike="noStrike">
                <a:solidFill>
                  <a:srgbClr val="2B2B2B"/>
                </a:solidFill>
                <a:latin typeface="Calibri"/>
              </a:rPr>
              <a:t>Validation Top-1 Accuracy across Learning Rates</a:t>
            </a:r>
          </a:p>
        </c:rich>
      </c:tx>
      <c:overlay val="0"/>
    </c:title>
    <c:autoTitleDeleted val="0"/>
    <c:plotArea>
      <c:layout/>
      <c:lineChart>
        <c:grouping val="standard"/>
        <c:varyColors val="0"/>
        <c:ser>
          <c:idx val="0"/>
          <c:order val="0"/>
          <c:tx>
            <c:strRef>
              <c:f>Sheet1!$B$1</c:f>
              <c:strCache>
                <c:ptCount val="1"/>
                <c:pt idx="0">
                  <c:v>ResNet50</c:v>
                </c:pt>
              </c:strCache>
            </c:strRef>
          </c:tx>
          <c:spPr>
            <a:ln w="38100" cap="flat">
              <a:solidFill>
                <a:srgbClr val="C97B3F"/>
              </a:solidFill>
              <a:prstDash val="solid"/>
              <a:round/>
            </a:ln>
            <a:effectLst/>
          </c:spPr>
          <c:marker>
            <c:symbol val="circle"/>
            <c:size val="6"/>
            <c:spPr>
              <a:solidFill>
                <a:srgbClr val="C97B3F"/>
              </a:solidFill>
              <a:ln w="9525" cap="flat">
                <a:solidFill>
                  <a:srgbClr val="C97B3F"/>
                </a:solidFill>
                <a:prstDash val="solid"/>
                <a:round/>
              </a:ln>
              <a:effectLst/>
            </c:spPr>
          </c:marker>
          <c:cat>
            <c:strRef>
              <c:f>Sheet1!$A$2:$A$6</c:f>
              <c:strCache>
                <c:ptCount val="5"/>
                <c:pt idx="0">
                  <c:v>1e-5</c:v>
                </c:pt>
                <c:pt idx="1">
                  <c:v>5e-5</c:v>
                </c:pt>
                <c:pt idx="2">
                  <c:v>1e-4</c:v>
                </c:pt>
                <c:pt idx="3">
                  <c:v>3e-4</c:v>
                </c:pt>
                <c:pt idx="4">
                  <c:v>1e-3</c:v>
                </c:pt>
              </c:strCache>
            </c:strRef>
          </c:cat>
          <c:val>
            <c:numRef>
              <c:f>Sheet1!$B$2:$B$6</c:f>
              <c:numCache>
                <c:formatCode>General</c:formatCode>
                <c:ptCount val="5"/>
                <c:pt idx="0">
                  <c:v>0.4199</c:v>
                </c:pt>
                <c:pt idx="1">
                  <c:v>0.69310000000000005</c:v>
                </c:pt>
                <c:pt idx="2">
                  <c:v>0.73799999999999999</c:v>
                </c:pt>
                <c:pt idx="3">
                  <c:v>0.77710000000000001</c:v>
                </c:pt>
                <c:pt idx="4">
                  <c:v>0.78879999999999995</c:v>
                </c:pt>
              </c:numCache>
            </c:numRef>
          </c:val>
          <c:smooth val="0"/>
          <c:extLst>
            <c:ext xmlns:c16="http://schemas.microsoft.com/office/drawing/2014/chart" uri="{C3380CC4-5D6E-409C-BE32-E72D297353CC}">
              <c16:uniqueId val="{00000000-1A2C-4273-98EB-A428DA0229B6}"/>
            </c:ext>
          </c:extLst>
        </c:ser>
        <c:ser>
          <c:idx val="1"/>
          <c:order val="1"/>
          <c:tx>
            <c:strRef>
              <c:f>Sheet1!$C$1</c:f>
              <c:strCache>
                <c:ptCount val="1"/>
                <c:pt idx="0">
                  <c:v>ViT</c:v>
                </c:pt>
              </c:strCache>
            </c:strRef>
          </c:tx>
          <c:spPr>
            <a:ln w="38100" cap="flat">
              <a:solidFill>
                <a:srgbClr val="5C7A55"/>
              </a:solidFill>
              <a:prstDash val="solid"/>
              <a:round/>
            </a:ln>
            <a:effectLst/>
          </c:spPr>
          <c:marker>
            <c:symbol val="circle"/>
            <c:size val="6"/>
            <c:spPr>
              <a:solidFill>
                <a:srgbClr val="5C7A55"/>
              </a:solidFill>
              <a:ln w="9525" cap="flat">
                <a:solidFill>
                  <a:srgbClr val="5C7A55"/>
                </a:solidFill>
                <a:prstDash val="solid"/>
                <a:round/>
              </a:ln>
              <a:effectLst/>
            </c:spPr>
          </c:marker>
          <c:cat>
            <c:strRef>
              <c:f>Sheet1!$A$2:$A$6</c:f>
              <c:strCache>
                <c:ptCount val="5"/>
                <c:pt idx="0">
                  <c:v>1e-5</c:v>
                </c:pt>
                <c:pt idx="1">
                  <c:v>5e-5</c:v>
                </c:pt>
                <c:pt idx="2">
                  <c:v>1e-4</c:v>
                </c:pt>
                <c:pt idx="3">
                  <c:v>3e-4</c:v>
                </c:pt>
                <c:pt idx="4">
                  <c:v>1e-3</c:v>
                </c:pt>
              </c:strCache>
            </c:strRef>
          </c:cat>
          <c:val>
            <c:numRef>
              <c:f>Sheet1!$C$2:$C$6</c:f>
              <c:numCache>
                <c:formatCode>General</c:formatCode>
                <c:ptCount val="5"/>
                <c:pt idx="0">
                  <c:v>0.81440000000000001</c:v>
                </c:pt>
                <c:pt idx="1">
                  <c:v>0.82530000000000003</c:v>
                </c:pt>
                <c:pt idx="2">
                  <c:v>0.81030000000000002</c:v>
                </c:pt>
                <c:pt idx="3">
                  <c:v>0.66759999999999997</c:v>
                </c:pt>
                <c:pt idx="4">
                  <c:v>0.34200000000000003</c:v>
                </c:pt>
              </c:numCache>
            </c:numRef>
          </c:val>
          <c:smooth val="0"/>
          <c:extLst>
            <c:ext xmlns:c16="http://schemas.microsoft.com/office/drawing/2014/chart" uri="{C3380CC4-5D6E-409C-BE32-E72D297353CC}">
              <c16:uniqueId val="{00000001-1A2C-4273-98EB-A428DA0229B6}"/>
            </c:ext>
          </c:extLst>
        </c:ser>
        <c:ser>
          <c:idx val="2"/>
          <c:order val="2"/>
          <c:tx>
            <c:strRef>
              <c:f>Sheet1!$D$1</c:f>
              <c:strCache>
                <c:ptCount val="1"/>
                <c:pt idx="0">
                  <c:v>ConvNeXt</c:v>
                </c:pt>
              </c:strCache>
            </c:strRef>
          </c:tx>
          <c:spPr>
            <a:ln w="38100" cap="flat">
              <a:solidFill>
                <a:srgbClr val="8B3A3A"/>
              </a:solidFill>
              <a:prstDash val="solid"/>
              <a:round/>
            </a:ln>
            <a:effectLst/>
          </c:spPr>
          <c:marker>
            <c:symbol val="circle"/>
            <c:size val="6"/>
            <c:spPr>
              <a:solidFill>
                <a:srgbClr val="8B3A3A"/>
              </a:solidFill>
              <a:ln w="9525" cap="flat">
                <a:solidFill>
                  <a:srgbClr val="8B3A3A"/>
                </a:solidFill>
                <a:prstDash val="solid"/>
                <a:round/>
              </a:ln>
              <a:effectLst/>
            </c:spPr>
          </c:marker>
          <c:cat>
            <c:strRef>
              <c:f>Sheet1!$A$2:$A$6</c:f>
              <c:strCache>
                <c:ptCount val="5"/>
                <c:pt idx="0">
                  <c:v>1e-5</c:v>
                </c:pt>
                <c:pt idx="1">
                  <c:v>5e-5</c:v>
                </c:pt>
                <c:pt idx="2">
                  <c:v>1e-4</c:v>
                </c:pt>
                <c:pt idx="3">
                  <c:v>3e-4</c:v>
                </c:pt>
                <c:pt idx="4">
                  <c:v>1e-3</c:v>
                </c:pt>
              </c:strCache>
            </c:strRef>
          </c:cat>
          <c:val>
            <c:numRef>
              <c:f>Sheet1!$D$2:$D$6</c:f>
              <c:numCache>
                <c:formatCode>General</c:formatCode>
                <c:ptCount val="5"/>
                <c:pt idx="0">
                  <c:v>0.82120000000000004</c:v>
                </c:pt>
                <c:pt idx="1">
                  <c:v>0.83989999999999998</c:v>
                </c:pt>
                <c:pt idx="2">
                  <c:v>0.84299999999999997</c:v>
                </c:pt>
                <c:pt idx="3">
                  <c:v>0.82350000000000001</c:v>
                </c:pt>
                <c:pt idx="4">
                  <c:v>0.75700000000000001</c:v>
                </c:pt>
              </c:numCache>
            </c:numRef>
          </c:val>
          <c:smooth val="0"/>
          <c:extLst>
            <c:ext xmlns:c16="http://schemas.microsoft.com/office/drawing/2014/chart" uri="{C3380CC4-5D6E-409C-BE32-E72D297353CC}">
              <c16:uniqueId val="{00000002-1A2C-4273-98EB-A428DA0229B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9"/>
          <c:min val="0.3"/>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54545"/>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3T14:19:40.2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1,'52'2,"85"16,-87-10,95 4,-26-13,-108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3T14:19:42.1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0,'25'2,"-1"1,36 8,17 3,-17-8,34 5,1-4,136-8,-137-11,-53 6,69-2,-73 3,-28 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6T14:05:01.5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95,'55'-21,"-18"17,1 1,-1 1,46 5,-34-1,49-4,-26-11,-53 9,1 0,28-1,20 5,-50 2,0-2,0 0,0 0,0-2,0 0,0-1,0-1,-1-1,0 0,20-10,-22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07:03:04.19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1,'1086'0,"-1064"0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8T07:03:13.5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29,'3'-3,"1"1,-1 0,1 0,-1 0,1 0,0 0,0 1,0 0,0-1,0 2,6-2,51-2,-45 3,677-2,-354 6,-281-3,-34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29T02:27:50.0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38,'42'-10,"-10"0,69-1,1 4,137 9,-76 1,-134-3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187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Good morning. </a:t>
            </a:r>
          </a:p>
          <a:p>
            <a:endParaRPr lang="en-US" dirty="0"/>
          </a:p>
          <a:p>
            <a:r>
              <a:rPr lang="en-US" dirty="0"/>
              <a:t>I am Xin Wei. </a:t>
            </a:r>
          </a:p>
          <a:p>
            <a:endParaRPr lang="en-US" dirty="0"/>
          </a:p>
          <a:p>
            <a:r>
              <a:rPr lang="en-US" dirty="0"/>
              <a:t>Today I’ll be presenting to you my FYP </a:t>
            </a:r>
          </a:p>
          <a:p>
            <a:endParaRPr lang="en-US" dirty="0"/>
          </a:p>
          <a:p>
            <a:r>
              <a:rPr lang="en-US" dirty="0"/>
              <a:t>building a food recognition and classification model to count calories.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outline of my presentation. </a:t>
            </a:r>
          </a:p>
          <a:p>
            <a:endParaRPr lang="en-US" dirty="0"/>
          </a:p>
          <a:p>
            <a:r>
              <a:rPr lang="en-US" dirty="0"/>
              <a:t>Towards the end ill show a live demo of an app I created.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One question we always ask is “what to eat”</a:t>
            </a:r>
          </a:p>
          <a:p>
            <a:endParaRPr lang="en-US" dirty="0"/>
          </a:p>
          <a:p>
            <a:r>
              <a:rPr lang="en-US" dirty="0"/>
              <a:t>but this is ironic because most people don’t know what they are putting into their bodies. </a:t>
            </a:r>
          </a:p>
          <a:p>
            <a:endParaRPr lang="en-US" dirty="0"/>
          </a:p>
          <a:p>
            <a:r>
              <a:rPr lang="en-US" dirty="0"/>
              <a:t>Diet is one of the few major risk factors for chronic disease that we can actually change—unlike genetics.</a:t>
            </a:r>
          </a:p>
          <a:p>
            <a:br>
              <a:rPr lang="en-US" dirty="0"/>
            </a:br>
            <a:r>
              <a:rPr lang="en-US" dirty="0"/>
              <a:t>Excess fats, sodium, and sugar are directly linked to chronic diseases, resulting in major health and economic costs globally.</a:t>
            </a:r>
          </a:p>
          <a:p>
            <a:br>
              <a:rPr lang="en-US" dirty="0"/>
            </a:br>
            <a:r>
              <a:rPr lang="en-US" dirty="0"/>
              <a:t>In Singapore, this is exactly what Healthier SG targets—addressing the ‘3H problems’.</a:t>
            </a:r>
          </a:p>
          <a:p>
            <a:br>
              <a:rPr lang="en-US" dirty="0"/>
            </a:br>
            <a:r>
              <a:rPr lang="en-US" dirty="0"/>
              <a:t>But preventive care depends on accurate dietary data—and this is where the system breaks down.</a:t>
            </a:r>
          </a:p>
          <a:p>
            <a:endParaRPr lang="en-US" dirty="0"/>
          </a:p>
          <a:p>
            <a:r>
              <a:rPr lang="en-US" dirty="0"/>
              <a:t>Manual food logging is tedious, error-prone, and often abandoned. </a:t>
            </a:r>
          </a:p>
          <a:p>
            <a:endParaRPr lang="en-US" dirty="0"/>
          </a:p>
          <a:p>
            <a:r>
              <a:rPr lang="en-US" dirty="0"/>
              <a:t>Most people fail to consistently track their meals or accurately estimate the portions they 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where automation via food image recognition comes in.  </a:t>
            </a:r>
          </a:p>
          <a:p>
            <a:endParaRPr lang="en-US" dirty="0"/>
          </a:p>
          <a:p>
            <a:r>
              <a:rPr lang="en-US" dirty="0"/>
              <a:t>Where the goal is to replace manual logging entirely</a:t>
            </a:r>
          </a:p>
          <a:p>
            <a:endParaRPr lang="en-US" dirty="0"/>
          </a:p>
          <a:p>
            <a:r>
              <a:rPr lang="en-US" dirty="0"/>
              <a:t>The pipeline works as such: </a:t>
            </a:r>
          </a:p>
          <a:p>
            <a:endParaRPr lang="en-US" dirty="0"/>
          </a:p>
          <a:p>
            <a:r>
              <a:rPr lang="en-US" dirty="0"/>
              <a:t>First we take a picture of the food, </a:t>
            </a:r>
          </a:p>
          <a:p>
            <a:endParaRPr lang="en-US" dirty="0"/>
          </a:p>
          <a:p>
            <a:r>
              <a:rPr lang="en-US" dirty="0"/>
              <a:t>Classify the food class using a trained model, </a:t>
            </a:r>
          </a:p>
          <a:p>
            <a:endParaRPr lang="en-US" dirty="0"/>
          </a:p>
          <a:p>
            <a:r>
              <a:rPr lang="en-US" dirty="0"/>
              <a:t>looked up its nutritional content from a food database </a:t>
            </a:r>
          </a:p>
          <a:p>
            <a:endParaRPr lang="en-US" dirty="0"/>
          </a:p>
          <a:p>
            <a:r>
              <a:rPr lang="en-US" dirty="0"/>
              <a:t>and then an estimate of the calorie and macro-nutritional values are returned. </a:t>
            </a:r>
          </a:p>
          <a:p>
            <a:endParaRPr lang="en-US" dirty="0"/>
          </a:p>
          <a:p>
            <a:r>
              <a:rPr lang="en-US" dirty="0"/>
              <a:t>As you can see </a:t>
            </a:r>
            <a:r>
              <a:rPr lang="en-US" b="1" dirty="0"/>
              <a:t>classification accuracy is the foundation of the entire pipeline</a:t>
            </a:r>
            <a:r>
              <a:rPr lang="en-US" dirty="0"/>
              <a:t>.</a:t>
            </a:r>
          </a:p>
          <a:p>
            <a:endParaRPr lang="en-US" dirty="0"/>
          </a:p>
          <a:p>
            <a:r>
              <a:rPr lang="en-US" dirty="0"/>
              <a:t>If the system fails to classify the food correctly, errors propagate through every downstream step—from nutritional lookup to calorie estimation. </a:t>
            </a:r>
          </a:p>
          <a:p>
            <a:endParaRPr lang="en-US" dirty="0"/>
          </a:p>
          <a:p>
            <a:r>
              <a:rPr lang="en-US" dirty="0"/>
              <a:t>Which is why food image classification is the focus of my research.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2 deep learning architectural paradigms dominate the food classification field</a:t>
            </a:r>
          </a:p>
          <a:p>
            <a:endParaRPr lang="en-US" dirty="0"/>
          </a:p>
          <a:p>
            <a:r>
              <a:rPr lang="en-US" dirty="0"/>
              <a:t>Convolutional Neural Networks and Vision transformers </a:t>
            </a:r>
          </a:p>
          <a:p>
            <a:endParaRPr lang="en-US" dirty="0"/>
          </a:p>
          <a:p>
            <a:r>
              <a:rPr lang="en-US" dirty="0"/>
              <a:t>They operate fundamentally different from each other when processing an image</a:t>
            </a:r>
          </a:p>
          <a:p>
            <a:endParaRPr lang="en-US" dirty="0"/>
          </a:p>
          <a:p>
            <a:r>
              <a:rPr lang="en-US" dirty="0"/>
              <a:t>CNNS use local inductive biases to capture spatial patterns, </a:t>
            </a:r>
          </a:p>
          <a:p>
            <a:endParaRPr lang="en-US" dirty="0"/>
          </a:p>
          <a:p>
            <a:r>
              <a:rPr lang="en-US" dirty="0"/>
              <a:t>While Vision Transformers, which use self-attention to model long-range dependencies. </a:t>
            </a:r>
          </a:p>
          <a:p>
            <a:endParaRPr lang="en-US" dirty="0"/>
          </a:p>
          <a:p>
            <a:r>
              <a:rPr lang="en-US" dirty="0"/>
              <a:t>But what if we introduced a third contender?</a:t>
            </a:r>
          </a:p>
          <a:p>
            <a:endParaRPr lang="en-US" dirty="0"/>
          </a:p>
          <a:p>
            <a:r>
              <a:rPr lang="en-US" dirty="0"/>
              <a:t>Leading to my research question:</a:t>
            </a:r>
          </a:p>
          <a:p>
            <a:endParaRPr lang="en-US" dirty="0"/>
          </a:p>
          <a:p>
            <a:r>
              <a:rPr lang="en-US" i="1" dirty="0"/>
              <a:t>Which paradigm — CNN, Vision Transformer, or a Cross paradigm inspired architecture — is best suited to fine-grained food image classification?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8DFB7-93DB-57FD-0A5F-53B289FA7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C3821-3EFB-B740-63A0-A6922315E4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F00272-CEED-2737-81A8-06EB9CBAC206}"/>
              </a:ext>
            </a:extLst>
          </p:cNvPr>
          <p:cNvSpPr>
            <a:spLocks noGrp="1"/>
          </p:cNvSpPr>
          <p:nvPr>
            <p:ph type="body" idx="1"/>
          </p:nvPr>
        </p:nvSpPr>
        <p:spPr/>
        <p:txBody>
          <a:bodyPr/>
          <a:lstStyle/>
          <a:p>
            <a:r>
              <a:rPr lang="en-US" dirty="0"/>
              <a:t>I reviewed works related to the three different architectural paradigms for food classification.</a:t>
            </a:r>
          </a:p>
          <a:p>
            <a:endParaRPr lang="en-US" dirty="0"/>
          </a:p>
          <a:p>
            <a:r>
              <a:rPr lang="en-US" dirty="0"/>
              <a:t>Which include CNNs, Vits and cross-paradigm architectures, which are modernized improvements of the CNNs and </a:t>
            </a:r>
            <a:r>
              <a:rPr lang="en-US" dirty="0" err="1"/>
              <a:t>ViT</a:t>
            </a:r>
            <a:r>
              <a:rPr lang="en-US" dirty="0"/>
              <a:t> paradigm</a:t>
            </a:r>
          </a:p>
        </p:txBody>
      </p:sp>
      <p:sp>
        <p:nvSpPr>
          <p:cNvPr id="4" name="Slide Number Placeholder 3">
            <a:extLst>
              <a:ext uri="{FF2B5EF4-FFF2-40B4-BE49-F238E27FC236}">
                <a16:creationId xmlns:a16="http://schemas.microsoft.com/office/drawing/2014/main" id="{5E476B05-5216-873B-901B-CC6191D4D9B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14893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8912-5A32-21B3-7D44-27E9822D0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5B76D-AEC5-5B89-20AA-7870FE47F1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DAE302-80C6-19F8-5827-ABCD78E09CDB}"/>
              </a:ext>
            </a:extLst>
          </p:cNvPr>
          <p:cNvSpPr>
            <a:spLocks noGrp="1"/>
          </p:cNvSpPr>
          <p:nvPr>
            <p:ph type="body" idx="1"/>
          </p:nvPr>
        </p:nvSpPr>
        <p:spPr/>
        <p:txBody>
          <a:bodyPr/>
          <a:lstStyle/>
          <a:p>
            <a:r>
              <a:rPr lang="en-US" dirty="0"/>
              <a:t>Starting with, </a:t>
            </a:r>
            <a:r>
              <a:rPr lang="en-US" b="1" dirty="0"/>
              <a:t>CNNs. </a:t>
            </a:r>
            <a:r>
              <a:rPr lang="en-US" b="0" dirty="0"/>
              <a:t> </a:t>
            </a:r>
          </a:p>
          <a:p>
            <a:endParaRPr lang="en-US" b="0" dirty="0"/>
          </a:p>
          <a:p>
            <a:r>
              <a:rPr lang="en-US" dirty="0"/>
              <a:t>a classical approach when it comes to any image classification task.</a:t>
            </a:r>
          </a:p>
          <a:p>
            <a:br>
              <a:rPr lang="en-US" dirty="0"/>
            </a:br>
            <a:r>
              <a:rPr lang="en-US" dirty="0"/>
              <a:t>A study from Bu who utilized an ensemble of CNNs achieved a high accuracy of 96%, </a:t>
            </a:r>
          </a:p>
          <a:p>
            <a:endParaRPr lang="en-US" dirty="0"/>
          </a:p>
          <a:p>
            <a:r>
              <a:rPr lang="en-US" dirty="0"/>
              <a:t>However, he noted that an ensemble results in high computational cost and slower inference speed, </a:t>
            </a:r>
          </a:p>
          <a:p>
            <a:endParaRPr lang="en-US" dirty="0"/>
          </a:p>
          <a:p>
            <a:r>
              <a:rPr lang="en-US" dirty="0"/>
              <a:t>This motivated me to train and evaluate models individually rather than creating an ensemble. </a:t>
            </a:r>
          </a:p>
          <a:p>
            <a:br>
              <a:rPr lang="en-US" dirty="0"/>
            </a:br>
            <a:r>
              <a:rPr lang="en-US" dirty="0"/>
              <a:t>Karabay’s study utilized a deeper </a:t>
            </a:r>
            <a:r>
              <a:rPr lang="en-US" dirty="0" err="1"/>
              <a:t>resenet</a:t>
            </a:r>
            <a:r>
              <a:rPr lang="en-US" dirty="0"/>
              <a:t> variant, achieving competitive accuracy scores, </a:t>
            </a:r>
          </a:p>
          <a:p>
            <a:endParaRPr lang="en-US" dirty="0"/>
          </a:p>
          <a:p>
            <a:r>
              <a:rPr lang="en-US" dirty="0" err="1"/>
              <a:t>Hes</a:t>
            </a:r>
            <a:r>
              <a:rPr lang="en-US" dirty="0"/>
              <a:t> experiment used a combination of region specific and generic datasets</a:t>
            </a:r>
          </a:p>
          <a:p>
            <a:endParaRPr lang="en-US" dirty="0"/>
          </a:p>
          <a:p>
            <a:r>
              <a:rPr lang="en-US" dirty="0"/>
              <a:t>And noted strong performance with region specific data</a:t>
            </a:r>
            <a:br>
              <a:rPr lang="en-US" dirty="0"/>
            </a:br>
            <a:endParaRPr lang="en-US" dirty="0"/>
          </a:p>
          <a:p>
            <a:r>
              <a:rPr lang="en-US" dirty="0"/>
              <a:t>But it introduced class imbalance and increased fine grained complexity.</a:t>
            </a:r>
          </a:p>
          <a:p>
            <a:endParaRPr lang="en-US" dirty="0"/>
          </a:p>
          <a:p>
            <a:r>
              <a:rPr lang="en-US" dirty="0"/>
              <a:t>This leads me to take on a challenge of using a dataset with class imbalance and to evaluate how the errors differ between paradigms </a:t>
            </a:r>
          </a:p>
        </p:txBody>
      </p:sp>
      <p:sp>
        <p:nvSpPr>
          <p:cNvPr id="4" name="Slide Number Placeholder 3">
            <a:extLst>
              <a:ext uri="{FF2B5EF4-FFF2-40B4-BE49-F238E27FC236}">
                <a16:creationId xmlns:a16="http://schemas.microsoft.com/office/drawing/2014/main" id="{998681C5-6369-0B6F-A3E3-DBD1E095D5B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12700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F858E-71AE-B773-A110-3347B5572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8425F-52FF-459A-EB3E-F225E2DDFD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5BCA6D-0243-CE96-7339-3CBBFAB0FF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following the introduction of the transformer architecture in NLP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Recent works have shifted their attention, pun intended, towards vision </a:t>
            </a:r>
            <a:r>
              <a:rPr lang="en-US" dirty="0" err="1"/>
              <a:t>transfomers</a:t>
            </a:r>
            <a:r>
              <a:rPr lang="en-US" dirty="0"/>
              <a:t> for image classification tasks, </a:t>
            </a:r>
            <a:br>
              <a:rPr lang="en-US" dirty="0"/>
            </a:br>
            <a:endParaRPr lang="en-US" dirty="0"/>
          </a:p>
          <a:p>
            <a:r>
              <a:rPr lang="en-US" dirty="0"/>
              <a:t>Studies between 2023 and 2024 consistently showed ViTs </a:t>
            </a:r>
            <a:r>
              <a:rPr lang="en-US" i="1" dirty="0"/>
              <a:t>outperforming</a:t>
            </a:r>
            <a:r>
              <a:rPr lang="en-US" dirty="0"/>
              <a:t> CNNs on food classification</a:t>
            </a:r>
          </a:p>
          <a:p>
            <a:br>
              <a:rPr lang="en-US" dirty="0"/>
            </a:br>
            <a:r>
              <a:rPr lang="en-US" dirty="0"/>
              <a:t>Both Banerjee and Gao obtained state of the art performance in their experiment  </a:t>
            </a:r>
          </a:p>
          <a:p>
            <a:endParaRPr lang="en-US" dirty="0"/>
          </a:p>
          <a:p>
            <a:r>
              <a:rPr lang="en-US" dirty="0"/>
              <a:t>noting the strong feature extraction capabilities from the self attention mechanism</a:t>
            </a:r>
          </a:p>
          <a:p>
            <a:br>
              <a:rPr lang="en-US" dirty="0"/>
            </a:br>
            <a:r>
              <a:rPr lang="en-US" dirty="0"/>
              <a:t>the drawbacks of ViTs is that it is data intensive to train along with its associated training cost</a:t>
            </a:r>
          </a:p>
        </p:txBody>
      </p:sp>
      <p:sp>
        <p:nvSpPr>
          <p:cNvPr id="4" name="Slide Number Placeholder 3">
            <a:extLst>
              <a:ext uri="{FF2B5EF4-FFF2-40B4-BE49-F238E27FC236}">
                <a16:creationId xmlns:a16="http://schemas.microsoft.com/office/drawing/2014/main" id="{AC75B6CD-0CD1-5E27-1A64-4F87E3943AE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05134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C5763-3BC2-735D-2DD2-3300D0356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B91DA-A0D2-1066-9B27-21F3E033A1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76430-6675-1C35-2CB4-9C912B7428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Swin transformer is an example of a CNN inspired ViTs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difference is that self-attention computed within local windows and not across the entire image.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fundamentally since it is still a vision transformer, its the data intensive nature required to train still persist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motivates the choice of cross paradigm architecture chosen to be </a:t>
            </a:r>
            <a:r>
              <a:rPr lang="en-US" dirty="0" err="1"/>
              <a:t>ViT</a:t>
            </a:r>
            <a:r>
              <a:rPr lang="en-US" dirty="0"/>
              <a:t> inspired CNN</a:t>
            </a:r>
          </a:p>
        </p:txBody>
      </p:sp>
      <p:sp>
        <p:nvSpPr>
          <p:cNvPr id="4" name="Slide Number Placeholder 3">
            <a:extLst>
              <a:ext uri="{FF2B5EF4-FFF2-40B4-BE49-F238E27FC236}">
                <a16:creationId xmlns:a16="http://schemas.microsoft.com/office/drawing/2014/main" id="{14281384-30E1-8112-BD8C-38DE2AA1E74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43340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7FE92-916C-67BA-DFC5-A0D1F417D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2BB91-EFF8-DB1E-40E4-3F000AD9F3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916DF0-1F46-9DF7-7E3A-1A764FFFE0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Such as </a:t>
            </a:r>
            <a:r>
              <a:rPr lang="en-US" dirty="0" err="1"/>
              <a:t>Convnext</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Convnext</a:t>
            </a:r>
            <a:r>
              <a:rPr lang="en-US" dirty="0"/>
              <a:t> is a </a:t>
            </a:r>
            <a:r>
              <a:rPr lang="en-US" dirty="0" err="1"/>
              <a:t>modernised</a:t>
            </a:r>
            <a:r>
              <a:rPr lang="en-US" dirty="0"/>
              <a:t> CNN with improvements inspired by vision transformers.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uses larger convolution kernels, </a:t>
            </a:r>
            <a:r>
              <a:rPr lang="en-US" dirty="0" err="1"/>
              <a:t>LayerNorm</a:t>
            </a:r>
            <a:r>
              <a:rPr lang="en-US" dirty="0"/>
              <a:t> instead of </a:t>
            </a:r>
            <a:r>
              <a:rPr lang="en-US" dirty="0" err="1"/>
              <a:t>BatchNorm</a:t>
            </a:r>
            <a:r>
              <a:rPr lang="en-US" dirty="0"/>
              <a:t>, GELU activations, and an inverted bottleneck structure.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Ze Liu study showed that obtained competitive performance against ViTs,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retaining CNNs efficiency with improved global modelling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Bingol’s</a:t>
            </a:r>
            <a:r>
              <a:rPr lang="en-US" dirty="0"/>
              <a:t> study reviewed that </a:t>
            </a:r>
            <a:r>
              <a:rPr lang="en-US" dirty="0" err="1"/>
              <a:t>convnext</a:t>
            </a:r>
            <a:r>
              <a:rPr lang="en-US" dirty="0"/>
              <a:t> outperformed both </a:t>
            </a:r>
            <a:r>
              <a:rPr lang="en-US" dirty="0" err="1"/>
              <a:t>ViT</a:t>
            </a:r>
            <a:r>
              <a:rPr lang="en-US" dirty="0"/>
              <a:t> and Swin on a Turkish dataset</a:t>
            </a:r>
          </a:p>
        </p:txBody>
      </p:sp>
      <p:sp>
        <p:nvSpPr>
          <p:cNvPr id="4" name="Slide Number Placeholder 3">
            <a:extLst>
              <a:ext uri="{FF2B5EF4-FFF2-40B4-BE49-F238E27FC236}">
                <a16:creationId xmlns:a16="http://schemas.microsoft.com/office/drawing/2014/main" id="{D6AEE4B3-19A7-6141-0547-03E8766124A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25025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There are reoccurring optimization techniques used in prior work</a:t>
            </a:r>
          </a:p>
          <a:p>
            <a:endParaRPr lang="en-US" dirty="0"/>
          </a:p>
          <a:p>
            <a:r>
              <a:rPr lang="en-US" dirty="0"/>
              <a:t>Training strategies typically employ </a:t>
            </a:r>
            <a:r>
              <a:rPr lang="en-US" b="1" dirty="0"/>
              <a:t>transfer learning</a:t>
            </a:r>
            <a:r>
              <a:rPr lang="en-US" dirty="0"/>
              <a:t> </a:t>
            </a:r>
          </a:p>
          <a:p>
            <a:endParaRPr lang="en-US" dirty="0"/>
          </a:p>
          <a:p>
            <a:r>
              <a:rPr lang="en-US" dirty="0"/>
              <a:t>Initializing models with ImageNet pretrained weights, </a:t>
            </a:r>
          </a:p>
          <a:p>
            <a:endParaRPr lang="en-US" dirty="0"/>
          </a:p>
          <a:p>
            <a:r>
              <a:rPr lang="en-US" b="1" dirty="0"/>
              <a:t>data augmentation during model training helps </a:t>
            </a:r>
            <a:r>
              <a:rPr lang="en-US" dirty="0"/>
              <a:t>to simulate real-world variation.</a:t>
            </a:r>
          </a:p>
          <a:p>
            <a:endParaRPr lang="en-US" dirty="0"/>
          </a:p>
          <a:p>
            <a:r>
              <a:rPr lang="en-US" dirty="0"/>
              <a:t>Datasets where class imbalance is present, </a:t>
            </a:r>
          </a:p>
          <a:p>
            <a:endParaRPr lang="en-US" b="1" dirty="0"/>
          </a:p>
          <a:p>
            <a:r>
              <a:rPr lang="en-US" b="1" dirty="0"/>
              <a:t>class-weighted loss functions</a:t>
            </a:r>
            <a:r>
              <a:rPr lang="en-US" dirty="0"/>
              <a:t> and </a:t>
            </a:r>
            <a:r>
              <a:rPr lang="en-US" b="1" dirty="0"/>
              <a:t>stratified sampling</a:t>
            </a:r>
            <a:r>
              <a:rPr lang="en-US" dirty="0"/>
              <a:t> during dataset split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gaps emerge in the literature </a:t>
            </a:r>
          </a:p>
          <a:p>
            <a:endParaRPr lang="en-US" dirty="0"/>
          </a:p>
          <a:p>
            <a:r>
              <a:rPr lang="en-US" dirty="0"/>
              <a:t>First, although prior work evaluated individual architectures, </a:t>
            </a:r>
          </a:p>
          <a:p>
            <a:endParaRPr lang="en-US" dirty="0"/>
          </a:p>
          <a:p>
            <a:r>
              <a:rPr lang="en-US" dirty="0"/>
              <a:t>there's been </a:t>
            </a:r>
            <a:r>
              <a:rPr lang="en-US" b="1" dirty="0"/>
              <a:t>limited systematic comparison across paradigms</a:t>
            </a:r>
            <a:r>
              <a:rPr lang="en-US" dirty="0"/>
              <a:t> under standardized conditions. </a:t>
            </a:r>
          </a:p>
          <a:p>
            <a:endParaRPr lang="en-US" dirty="0"/>
          </a:p>
          <a:p>
            <a:r>
              <a:rPr lang="en-US" dirty="0"/>
              <a:t>Most studies compare specific models rather than holding training conditions constant and evaluating the paradigms themselves.</a:t>
            </a:r>
          </a:p>
          <a:p>
            <a:endParaRPr lang="en-US" dirty="0"/>
          </a:p>
          <a:p>
            <a:r>
              <a:rPr lang="en-US" dirty="0"/>
              <a:t>Second, </a:t>
            </a:r>
            <a:r>
              <a:rPr lang="en-US" b="1" dirty="0"/>
              <a:t>Southeast Asian cuisines remain under-represented</a:t>
            </a:r>
            <a:r>
              <a:rPr lang="en-US" dirty="0"/>
              <a:t>. </a:t>
            </a:r>
          </a:p>
          <a:p>
            <a:endParaRPr lang="en-US" dirty="0"/>
          </a:p>
          <a:p>
            <a:r>
              <a:rPr lang="en-US" dirty="0"/>
              <a:t>Most works use Western, Chinese, or Japanese benchmarks.</a:t>
            </a:r>
          </a:p>
          <a:p>
            <a:endParaRPr lang="en-US" dirty="0"/>
          </a:p>
          <a:p>
            <a:r>
              <a:rPr lang="en-US" dirty="0"/>
              <a:t>This project addresses both gaps directly. </a:t>
            </a:r>
          </a:p>
          <a:p>
            <a:endParaRPr lang="en-US" dirty="0"/>
          </a:p>
          <a:p>
            <a:r>
              <a:rPr lang="en-US" dirty="0"/>
              <a:t>By conducting controlled comparison of the three paradigms from training all the way to evaluation</a:t>
            </a:r>
          </a:p>
          <a:p>
            <a:endParaRPr lang="en-US" dirty="0"/>
          </a:p>
          <a:p>
            <a:r>
              <a:rPr lang="en-US" dirty="0"/>
              <a:t>The primary dataset is SGFood-233, which addresses the SEA gap </a:t>
            </a:r>
          </a:p>
          <a:p>
            <a:endParaRPr lang="en-US" dirty="0"/>
          </a:p>
          <a:p>
            <a:r>
              <a:rPr lang="en-US" dirty="0"/>
              <a:t>Food-101 was used as the secondary benchmark to verify findings aren't an artefact of a single dataset generalizes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Onto methodology. </a:t>
            </a:r>
          </a:p>
          <a:p>
            <a:endParaRPr lang="en-US" dirty="0"/>
          </a:p>
          <a:p>
            <a:r>
              <a:rPr lang="en-US" dirty="0"/>
              <a:t>Datasets was selected based on task alignment, generalizability, and computational feasibility.</a:t>
            </a:r>
          </a:p>
          <a:p>
            <a:endParaRPr lang="en-US" dirty="0"/>
          </a:p>
          <a:p>
            <a:r>
              <a:rPr lang="en-US" dirty="0"/>
              <a:t>ISIA Food-500 and Food2k were excluded as the datasets were too computationally large. </a:t>
            </a:r>
          </a:p>
          <a:p>
            <a:endParaRPr lang="en-US" dirty="0"/>
          </a:p>
          <a:p>
            <a:r>
              <a:rPr lang="en-US" dirty="0"/>
              <a:t>UEC-Food256 and VireoFood-172 were excluded due to task misalignment.</a:t>
            </a:r>
          </a:p>
          <a:p>
            <a:endParaRPr lang="en-US" dirty="0"/>
          </a:p>
          <a:p>
            <a:r>
              <a:rPr lang="en-US" dirty="0"/>
              <a:t>As mentioned, SGFood-233 is the primary dataset used </a:t>
            </a:r>
          </a:p>
          <a:p>
            <a:endParaRPr lang="en-US" dirty="0"/>
          </a:p>
          <a:p>
            <a:r>
              <a:rPr lang="en-US" dirty="0"/>
              <a:t>While Food-101 is the secondary benchmark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B058-1DB3-DD89-0467-242C606C9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13BF6-F768-6217-A5A8-21A78DCC8B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9F51D9-4EF6-A26F-47D6-E9C03B23BBAC}"/>
              </a:ext>
            </a:extLst>
          </p:cNvPr>
          <p:cNvSpPr>
            <a:spLocks noGrp="1"/>
          </p:cNvSpPr>
          <p:nvPr>
            <p:ph type="body" idx="1"/>
          </p:nvPr>
        </p:nvSpPr>
        <p:spPr/>
        <p:txBody>
          <a:bodyPr/>
          <a:lstStyle/>
          <a:p>
            <a:r>
              <a:rPr lang="en-US" dirty="0"/>
              <a:t>This is the data cleaning pipeline for SgFood233</a:t>
            </a:r>
          </a:p>
          <a:p>
            <a:endParaRPr lang="en-US" dirty="0"/>
          </a:p>
          <a:p>
            <a:r>
              <a:rPr lang="en-US" dirty="0"/>
              <a:t>It first does an integrity check for corrupt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Then within and cross class duplicated images are removed. </a:t>
            </a:r>
          </a:p>
          <a:p>
            <a:endParaRPr lang="en-US" dirty="0"/>
          </a:p>
          <a:p>
            <a:r>
              <a:rPr lang="en-US" dirty="0"/>
              <a:t>The fourth stage detects for potentially </a:t>
            </a:r>
            <a:r>
              <a:rPr lang="en-US" dirty="0" err="1"/>
              <a:t>mislabelled</a:t>
            </a:r>
            <a:r>
              <a:rPr lang="en-US" dirty="0"/>
              <a:t> images</a:t>
            </a:r>
            <a:endParaRPr lang="en-US" b="0" dirty="0"/>
          </a:p>
          <a:p>
            <a:endParaRPr lang="en-US" b="0" dirty="0"/>
          </a:p>
          <a:p>
            <a:r>
              <a:rPr lang="en-US" dirty="0"/>
              <a:t>The images were reviewed manually using a </a:t>
            </a:r>
            <a:r>
              <a:rPr lang="en-US" dirty="0" err="1"/>
              <a:t>streamlit</a:t>
            </a:r>
            <a:r>
              <a:rPr lang="en-US" dirty="0"/>
              <a:t> UI.</a:t>
            </a:r>
          </a:p>
          <a:p>
            <a:endParaRPr lang="en-US" dirty="0"/>
          </a:p>
        </p:txBody>
      </p:sp>
      <p:sp>
        <p:nvSpPr>
          <p:cNvPr id="4" name="Slide Number Placeholder 3">
            <a:extLst>
              <a:ext uri="{FF2B5EF4-FFF2-40B4-BE49-F238E27FC236}">
                <a16:creationId xmlns:a16="http://schemas.microsoft.com/office/drawing/2014/main" id="{09BAD2C2-4651-CFAE-7A84-E3FE181DA6D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65470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A3112-B67F-203B-CC75-3A60F994D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0A330-FC50-B207-EBC8-59C54B4DBE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D7A9DE-681D-4397-B2D5-C6C159344F7D}"/>
              </a:ext>
            </a:extLst>
          </p:cNvPr>
          <p:cNvSpPr>
            <a:spLocks noGrp="1"/>
          </p:cNvSpPr>
          <p:nvPr>
            <p:ph type="body" idx="1"/>
          </p:nvPr>
        </p:nvSpPr>
        <p:spPr/>
        <p:txBody>
          <a:bodyPr/>
          <a:lstStyle/>
          <a:p>
            <a:r>
              <a:rPr lang="en-US" dirty="0"/>
              <a:t>Here are the summary statistics after data cleaning.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final cleaned SGFood-233 dataset has over 200,000 images,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Covering 233 Singaporean food classes,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a class imbalance ratio of 18.8 times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can be observed from the class distribution plot</a:t>
            </a:r>
          </a:p>
          <a:p>
            <a:endParaRPr lang="en-US" dirty="0"/>
          </a:p>
          <a:p>
            <a:r>
              <a:rPr lang="en-US" dirty="0"/>
              <a:t>Subsequently, the dataset underwent a 75/15/10 train-validation-test split.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a:extLst>
              <a:ext uri="{FF2B5EF4-FFF2-40B4-BE49-F238E27FC236}">
                <a16:creationId xmlns:a16="http://schemas.microsoft.com/office/drawing/2014/main" id="{BCEC640F-344E-E56C-31C0-58A7C4EAF3B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30811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r>
              <a:rPr lang="en-US" dirty="0"/>
              <a:t>ResNet50 was chosen as the representative model for CNN </a:t>
            </a:r>
          </a:p>
          <a:p>
            <a:endParaRPr lang="en-US" dirty="0"/>
          </a:p>
          <a:p>
            <a:r>
              <a:rPr lang="en-US" dirty="0" err="1"/>
              <a:t>ViT</a:t>
            </a:r>
            <a:r>
              <a:rPr lang="en-US" dirty="0"/>
              <a:t>-Base 16×16 patches for the Vision Transformer </a:t>
            </a:r>
          </a:p>
          <a:p>
            <a:endParaRPr lang="en-US" dirty="0"/>
          </a:p>
          <a:p>
            <a:r>
              <a:rPr lang="en-US" dirty="0"/>
              <a:t>and ConvNeXt-Base for the cross-paradigm model, particularly a Transformer-inspired CNN. </a:t>
            </a:r>
          </a:p>
          <a:p>
            <a:endParaRPr lang="en-US" dirty="0"/>
          </a:p>
          <a:p>
            <a:r>
              <a:rPr lang="en-US" dirty="0"/>
              <a:t>All models were Initialized with ImageNet pretrained weights and fine-tuning on the dataset. </a:t>
            </a:r>
          </a:p>
          <a:p>
            <a:endParaRPr lang="en-US" dirty="0"/>
          </a:p>
          <a:p>
            <a:r>
              <a:rPr lang="en-US" dirty="0"/>
              <a:t>All models had the same hyperparameter configurations and same data augmentations.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are some of the evaluation metrics used</a:t>
            </a:r>
          </a:p>
          <a:p>
            <a:endParaRPr lang="en-US" dirty="0"/>
          </a:p>
          <a:p>
            <a:r>
              <a:rPr lang="en-US" b="1" dirty="0"/>
              <a:t>Classification metrics include. </a:t>
            </a:r>
          </a:p>
          <a:p>
            <a:endParaRPr lang="en-US" b="1" dirty="0"/>
          </a:p>
          <a:p>
            <a:r>
              <a:rPr lang="en-US" dirty="0"/>
              <a:t>Top-1 &amp; Top-5 accuracy, </a:t>
            </a:r>
          </a:p>
          <a:p>
            <a:endParaRPr lang="en-US" dirty="0"/>
          </a:p>
          <a:p>
            <a:r>
              <a:rPr lang="en-US" dirty="0"/>
              <a:t>Macro-F1 and Weighted-F1 are both class-balanced metrics</a:t>
            </a:r>
          </a:p>
          <a:p>
            <a:endParaRPr lang="en-US" dirty="0"/>
          </a:p>
          <a:p>
            <a:r>
              <a:rPr lang="en-US" dirty="0"/>
              <a:t>Macro-F1 weights all 233 classes equally, while Weighted-F1 weights by class frequency</a:t>
            </a:r>
          </a:p>
          <a:p>
            <a:endParaRPr lang="en-US" dirty="0"/>
          </a:p>
          <a:p>
            <a:r>
              <a:rPr lang="en-US" b="1" dirty="0"/>
              <a:t>Per-class metrics</a:t>
            </a:r>
            <a:r>
              <a:rPr lang="en-US" dirty="0"/>
              <a:t> </a:t>
            </a:r>
          </a:p>
          <a:p>
            <a:endParaRPr lang="en-US" dirty="0"/>
          </a:p>
          <a:p>
            <a:r>
              <a:rPr lang="en-US" dirty="0"/>
              <a:t>mainly look at F1 computed per class. </a:t>
            </a:r>
          </a:p>
          <a:p>
            <a:endParaRPr lang="en-US" dirty="0"/>
          </a:p>
          <a:p>
            <a:r>
              <a:rPr lang="en-US" b="1" dirty="0"/>
              <a:t>Embedding geometry metrics</a:t>
            </a:r>
          </a:p>
          <a:p>
            <a:endParaRPr lang="en-US" b="1" dirty="0"/>
          </a:p>
          <a:p>
            <a:r>
              <a:rPr lang="en-US" dirty="0"/>
              <a:t>silhouette scores and centroid distances were calculated to quantify how well classes separate in each model's feature space.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metrics mentioned are utilized in the </a:t>
            </a:r>
            <a:r>
              <a:rPr lang="en-US" b="1" dirty="0"/>
              <a:t>error analysis framework</a:t>
            </a:r>
            <a:r>
              <a:rPr lang="en-US" dirty="0"/>
              <a:t> which helps us trace the misclassifications back to architectural mechanisms going beyond the aggregate results.</a:t>
            </a:r>
          </a:p>
          <a:p>
            <a:endParaRPr lang="en-US" dirty="0"/>
          </a:p>
          <a:p>
            <a:r>
              <a:rPr lang="en-US" dirty="0"/>
              <a:t>We look at </a:t>
            </a:r>
            <a:r>
              <a:rPr lang="en-US" b="1" dirty="0"/>
              <a:t>confusion patterns. </a:t>
            </a:r>
          </a:p>
          <a:p>
            <a:endParaRPr lang="en-US" b="1" dirty="0"/>
          </a:p>
          <a:p>
            <a:r>
              <a:rPr lang="en-US" b="0" dirty="0"/>
              <a:t>Where we identify different failure modes, supported by</a:t>
            </a:r>
          </a:p>
          <a:p>
            <a:endParaRPr lang="en-US" b="1" dirty="0"/>
          </a:p>
          <a:p>
            <a:r>
              <a:rPr lang="en-US" b="1" dirty="0"/>
              <a:t>per-class performance F1 scores</a:t>
            </a:r>
            <a:endParaRPr lang="en-US" b="0" dirty="0"/>
          </a:p>
          <a:p>
            <a:endParaRPr lang="en-US" dirty="0"/>
          </a:p>
          <a:p>
            <a:r>
              <a:rPr lang="en-US" b="1" dirty="0"/>
              <a:t>embedding space geometry</a:t>
            </a:r>
            <a:endParaRPr lang="en-US" dirty="0"/>
          </a:p>
          <a:p>
            <a:endParaRPr lang="en-US" dirty="0"/>
          </a:p>
          <a:p>
            <a:r>
              <a:rPr lang="en-US" b="1" dirty="0"/>
              <a:t>Grad-CAM attention maps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dirty="0"/>
              <a:t>Lastly, a learning rate study was conducted to ensure the performance hierarchy observed is robust</a:t>
            </a:r>
          </a:p>
          <a:p>
            <a:endParaRPr lang="en-US" dirty="0"/>
          </a:p>
          <a:p>
            <a:r>
              <a:rPr lang="en-US" dirty="0"/>
              <a:t>This is because different architectures are known to have different optimal learning rates during fine-tuning</a:t>
            </a:r>
          </a:p>
          <a:p>
            <a:endParaRPr lang="en-US" dirty="0"/>
          </a:p>
          <a:p>
            <a:r>
              <a:rPr lang="en-US" dirty="0"/>
              <a:t>There are 2 parts to this study </a:t>
            </a:r>
          </a:p>
          <a:p>
            <a:endParaRPr lang="en-US" dirty="0"/>
          </a:p>
          <a:p>
            <a:r>
              <a:rPr lang="en-US" dirty="0"/>
              <a:t>Stage 1 is a sensitivity sweep — where all 3 architectures were trained at 5 different learning rates for 5 epochs to find its optimal LR</a:t>
            </a:r>
          </a:p>
          <a:p>
            <a:endParaRPr lang="en-US" dirty="0"/>
          </a:p>
          <a:p>
            <a:r>
              <a:rPr lang="en-US" dirty="0"/>
              <a:t>Stage 2 serves as the final evaluation — each model was trained for 10 epochs at its optimal learning rate derived from stage 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ED485-1908-E936-F666-537D04E50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4A15B-5AFF-3711-B7D6-4E669179C6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4F2FE3-157B-4713-FBA4-42C52FC97EBE}"/>
              </a:ext>
            </a:extLst>
          </p:cNvPr>
          <p:cNvSpPr>
            <a:spLocks noGrp="1"/>
          </p:cNvSpPr>
          <p:nvPr>
            <p:ph type="body" idx="1"/>
          </p:nvPr>
        </p:nvSpPr>
        <p:spPr/>
        <p:txBody>
          <a:bodyPr/>
          <a:lstStyle/>
          <a:p>
            <a:r>
              <a:rPr lang="en-US" dirty="0"/>
              <a:t>Here is the final classification results obtained from the 3 models trained at their optimal learning rate on SGFood-233 held out test set </a:t>
            </a:r>
          </a:p>
          <a:p>
            <a:endParaRPr lang="en-US" dirty="0"/>
          </a:p>
          <a:p>
            <a:r>
              <a:rPr lang="en-US" dirty="0"/>
              <a:t>Across all four metrics we observe a performance ranking that: </a:t>
            </a:r>
            <a:r>
              <a:rPr lang="en-US" b="1" dirty="0"/>
              <a:t>ConvNeXt outperforms </a:t>
            </a:r>
            <a:r>
              <a:rPr lang="en-US" b="1" dirty="0" err="1"/>
              <a:t>ViT</a:t>
            </a:r>
            <a:r>
              <a:rPr lang="en-US" b="1" dirty="0"/>
              <a:t>, which outperforms ResNet50.</a:t>
            </a:r>
            <a:r>
              <a:rPr lang="en-US" dirty="0"/>
              <a:t> </a:t>
            </a:r>
          </a:p>
          <a:p>
            <a:endParaRPr lang="en-US" dirty="0"/>
          </a:p>
          <a:p>
            <a:r>
              <a:rPr lang="en-US" dirty="0"/>
              <a:t>ConvNeXt achieves 84.1% Top-1 accuracy on the SGFood-233 test set, which is 2.2 percentage points above </a:t>
            </a:r>
            <a:r>
              <a:rPr lang="en-US" dirty="0" err="1"/>
              <a:t>ViT</a:t>
            </a:r>
            <a:r>
              <a:rPr lang="en-US" dirty="0"/>
              <a:t> and 5.4 points above ResNet50.</a:t>
            </a:r>
          </a:p>
          <a:p>
            <a:endParaRPr lang="en-US" dirty="0"/>
          </a:p>
          <a:p>
            <a:r>
              <a:rPr lang="en-US" dirty="0"/>
              <a:t>Importantly, this ranking is also reflected on Food-101 secondary benchmark, and the hierarchy isn’t an artefact of one dataset</a:t>
            </a:r>
          </a:p>
          <a:p>
            <a:endParaRPr lang="en-US" dirty="0"/>
          </a:p>
          <a:p>
            <a:r>
              <a:rPr lang="en-US" dirty="0"/>
              <a:t>But aggregate metrics only tell us </a:t>
            </a:r>
            <a:r>
              <a:rPr lang="en-US" i="1" dirty="0"/>
              <a:t>that</a:t>
            </a:r>
            <a:r>
              <a:rPr lang="en-US" dirty="0"/>
              <a:t> ConvNeXt wins. </a:t>
            </a:r>
          </a:p>
          <a:p>
            <a:endParaRPr lang="en-US" dirty="0"/>
          </a:p>
          <a:p>
            <a:r>
              <a:rPr lang="en-US" dirty="0"/>
              <a:t>The more interesting question is </a:t>
            </a:r>
            <a:r>
              <a:rPr lang="en-US" i="1" dirty="0"/>
              <a:t>why</a:t>
            </a:r>
            <a:r>
              <a:rPr lang="en-US" dirty="0"/>
              <a:t> — and what kinds of errors each paradigm makes. </a:t>
            </a:r>
          </a:p>
          <a:p>
            <a:endParaRPr lang="en-US" dirty="0"/>
          </a:p>
          <a:p>
            <a:r>
              <a:rPr lang="en-US" dirty="0"/>
              <a:t>Let’s discuss about this.</a:t>
            </a:r>
          </a:p>
        </p:txBody>
      </p:sp>
      <p:sp>
        <p:nvSpPr>
          <p:cNvPr id="4" name="Slide Number Placeholder 3">
            <a:extLst>
              <a:ext uri="{FF2B5EF4-FFF2-40B4-BE49-F238E27FC236}">
                <a16:creationId xmlns:a16="http://schemas.microsoft.com/office/drawing/2014/main" id="{E2F0B13B-DB3E-D6A3-DD0F-CE0BD39DCCC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4486080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First, lets look at the shared confusions amongst the 3 models</a:t>
            </a:r>
          </a:p>
          <a:p>
            <a:endParaRPr lang="en-US" dirty="0"/>
          </a:p>
          <a:p>
            <a:r>
              <a:rPr lang="en-US" dirty="0"/>
              <a:t>Based on the table of top confusion pairs we see 2 categories of confusions </a:t>
            </a:r>
          </a:p>
          <a:p>
            <a:endParaRPr lang="en-US" dirty="0"/>
          </a:p>
          <a:p>
            <a:r>
              <a:rPr lang="en-US" dirty="0"/>
              <a:t>architecture-sensitive confusions and AIC</a:t>
            </a:r>
          </a:p>
          <a:p>
            <a:endParaRPr lang="en-US" dirty="0"/>
          </a:p>
          <a:p>
            <a:r>
              <a:rPr lang="en-US" dirty="0"/>
              <a:t>architecture-sensitive confusions are confusions where 2 models confuse one class for another, </a:t>
            </a:r>
          </a:p>
          <a:p>
            <a:endParaRPr lang="en-US" dirty="0"/>
          </a:p>
          <a:p>
            <a:r>
              <a:rPr lang="en-US" dirty="0"/>
              <a:t>indicative that there may be an underlying reason to their shortcomings, compared to the remaining model which did not have confusions</a:t>
            </a:r>
          </a:p>
          <a:p>
            <a:endParaRPr lang="en-US" dirty="0"/>
          </a:p>
          <a:p>
            <a:r>
              <a:rPr lang="en-US" dirty="0"/>
              <a:t>The second are architecture-invariant confusions:</a:t>
            </a:r>
          </a:p>
          <a:p>
            <a:endParaRPr lang="en-US" dirty="0"/>
          </a:p>
          <a:p>
            <a:r>
              <a:rPr lang="en-US" dirty="0"/>
              <a:t>where all models share identical rates of </a:t>
            </a:r>
            <a:r>
              <a:rPr lang="en-US" dirty="0" err="1"/>
              <a:t>confustions</a:t>
            </a:r>
            <a:r>
              <a:rPr lang="en-US" dirty="0"/>
              <a:t> of misclassifying one class for another.</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090F9-D99E-6B2F-3F7B-C70864795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26F1A-479F-6553-29BA-47A05F5334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F3CAB4-A4CC-A0F4-EC1E-001ABC885A73}"/>
              </a:ext>
            </a:extLst>
          </p:cNvPr>
          <p:cNvSpPr>
            <a:spLocks noGrp="1"/>
          </p:cNvSpPr>
          <p:nvPr>
            <p:ph type="body" idx="1"/>
          </p:nvPr>
        </p:nvSpPr>
        <p:spPr/>
        <p:txBody>
          <a:bodyPr/>
          <a:lstStyle/>
          <a:p>
            <a:r>
              <a:rPr lang="en-US" dirty="0"/>
              <a:t>Lets debunk the architecture-invariant confusions first since it is rather straightforward</a:t>
            </a:r>
          </a:p>
          <a:p>
            <a:endParaRPr lang="en-US" dirty="0"/>
          </a:p>
          <a:p>
            <a:r>
              <a:rPr lang="en-US" dirty="0"/>
              <a:t>Can you guess why all the models mistake this char siew pau image for steam buns?</a:t>
            </a:r>
          </a:p>
          <a:p>
            <a:endParaRPr lang="en-US" dirty="0"/>
          </a:p>
          <a:p>
            <a:r>
              <a:rPr lang="en-US" dirty="0"/>
              <a:t>You might be thinking: this is in fact steamed buns as I cant tell what the filling of the pao is</a:t>
            </a:r>
          </a:p>
          <a:p>
            <a:endParaRPr lang="en-US" dirty="0"/>
          </a:p>
          <a:p>
            <a:r>
              <a:rPr lang="en-US" dirty="0"/>
              <a:t>This is exactly one of fundamental challenges when it comes to image classification: occlusion</a:t>
            </a:r>
          </a:p>
          <a:p>
            <a:endParaRPr lang="en-US" dirty="0"/>
          </a:p>
          <a:p>
            <a:r>
              <a:rPr lang="en-US" dirty="0"/>
              <a:t>Since the key ingredient of meat filling is not visible, all the models generalize the class to be steamed buns</a:t>
            </a:r>
          </a:p>
          <a:p>
            <a:endParaRPr lang="en-US" dirty="0"/>
          </a:p>
          <a:p>
            <a:r>
              <a:rPr lang="en-US" dirty="0"/>
              <a:t>This case can be extended to the other 2 shared confusions as well</a:t>
            </a:r>
          </a:p>
          <a:p>
            <a:endParaRPr lang="en-US" dirty="0"/>
          </a:p>
          <a:p>
            <a:endParaRPr lang="en-US" dirty="0"/>
          </a:p>
        </p:txBody>
      </p:sp>
      <p:sp>
        <p:nvSpPr>
          <p:cNvPr id="4" name="Slide Number Placeholder 3">
            <a:extLst>
              <a:ext uri="{FF2B5EF4-FFF2-40B4-BE49-F238E27FC236}">
                <a16:creationId xmlns:a16="http://schemas.microsoft.com/office/drawing/2014/main" id="{9C6042AE-2346-2018-6739-0DF4349B71F7}"/>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08449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B8C44-EFF8-088B-4D8C-0C405C42D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4E224-6B79-7C91-DC0E-9AE197913E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09E7BD-7C82-46F0-5DFF-DDB018A73C31}"/>
              </a:ext>
            </a:extLst>
          </p:cNvPr>
          <p:cNvSpPr>
            <a:spLocks noGrp="1"/>
          </p:cNvSpPr>
          <p:nvPr>
            <p:ph type="body" idx="1"/>
          </p:nvPr>
        </p:nvSpPr>
        <p:spPr/>
        <p:txBody>
          <a:bodyPr/>
          <a:lstStyle/>
          <a:p>
            <a:r>
              <a:rPr lang="en-US" b="0" dirty="0"/>
              <a:t>Now lets look at the architectural unique failures starting with, ResNet50. </a:t>
            </a:r>
          </a:p>
          <a:p>
            <a:endParaRPr lang="en-US" b="1" dirty="0"/>
          </a:p>
          <a:p>
            <a:r>
              <a:rPr lang="en-US" b="0" dirty="0"/>
              <a:t>Resnet50’s failure mode is the local texture trap </a:t>
            </a:r>
          </a:p>
          <a:p>
            <a:endParaRPr lang="en-US" b="0" dirty="0"/>
          </a:p>
          <a:p>
            <a:r>
              <a:rPr lang="en-US" dirty="0"/>
              <a:t>the 3×3 kernels results in a sharply decaying effective receptive field</a:t>
            </a:r>
          </a:p>
          <a:p>
            <a:endParaRPr lang="en-US" dirty="0"/>
          </a:p>
          <a:p>
            <a:r>
              <a:rPr lang="en-US" dirty="0"/>
              <a:t>Results in predictions being made based off localized texture features</a:t>
            </a:r>
          </a:p>
          <a:p>
            <a:endParaRPr lang="en-US" dirty="0"/>
          </a:p>
          <a:p>
            <a:r>
              <a:rPr lang="en-US" dirty="0"/>
              <a:t>missing the broader structural context of the dish</a:t>
            </a:r>
            <a:endParaRPr lang="en-US" b="0" dirty="0"/>
          </a:p>
          <a:p>
            <a:endParaRPr lang="en-US" dirty="0"/>
          </a:p>
          <a:p>
            <a:r>
              <a:rPr lang="en-US" dirty="0"/>
              <a:t>The clearest example is Har Cheong Gai misclassified as Fried Chicken.</a:t>
            </a:r>
          </a:p>
          <a:p>
            <a:endParaRPr lang="en-US" dirty="0"/>
          </a:p>
          <a:p>
            <a:r>
              <a:rPr lang="en-US" dirty="0"/>
              <a:t>This is quantified by the cosine similarity between the class centroids in ResNet50's embedding space </a:t>
            </a:r>
          </a:p>
          <a:p>
            <a:endParaRPr lang="en-US" dirty="0"/>
          </a:p>
          <a:p>
            <a:r>
              <a:rPr lang="en-US" dirty="0"/>
              <a:t>we observe a value of 0.979 which is very close to 1, meaning their centroids are almost overlapping.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4B4371A-138F-F219-3366-416F93E7AC12}"/>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353829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Grad-CAM evidence reveals </a:t>
            </a:r>
          </a:p>
          <a:p>
            <a:endParaRPr lang="en-US" dirty="0"/>
          </a:p>
          <a:p>
            <a:r>
              <a:rPr lang="en-US" dirty="0"/>
              <a:t>ResNet50's heatmap is focusing more on a single spot with some fragmented traces. </a:t>
            </a:r>
          </a:p>
          <a:p>
            <a:endParaRPr lang="en-US" dirty="0"/>
          </a:p>
          <a:p>
            <a:r>
              <a:rPr lang="en-US" dirty="0"/>
              <a:t>The model focuses on the crust. </a:t>
            </a:r>
          </a:p>
          <a:p>
            <a:endParaRPr lang="en-US" dirty="0"/>
          </a:p>
          <a:p>
            <a:r>
              <a:rPr lang="en-US" dirty="0"/>
              <a:t>And mistakes it for Ngoh </a:t>
            </a:r>
            <a:r>
              <a:rPr lang="en-US" dirty="0" err="1"/>
              <a:t>Hiang</a:t>
            </a:r>
            <a:r>
              <a:rPr lang="en-US" dirty="0"/>
              <a:t>, which is understandable since they share similar visual properties as can be seen in the image at the top.</a:t>
            </a:r>
          </a:p>
          <a:p>
            <a:endParaRPr lang="en-US" dirty="0"/>
          </a:p>
          <a:p>
            <a:r>
              <a:rPr lang="en-US" dirty="0" err="1"/>
              <a:t>ViT’s</a:t>
            </a:r>
            <a:r>
              <a:rPr lang="en-US" dirty="0"/>
              <a:t> attention heatmap spreads across the entire dish, encoding holistic scene composition. Resulting in the correct prediction.  </a:t>
            </a:r>
          </a:p>
          <a:p>
            <a:endParaRPr lang="en-US" dirty="0"/>
          </a:p>
          <a:p>
            <a:r>
              <a:rPr lang="en-US" dirty="0"/>
              <a:t>Due to </a:t>
            </a:r>
            <a:r>
              <a:rPr lang="en-US" dirty="0" err="1"/>
              <a:t>ConvNeXt’s</a:t>
            </a:r>
            <a:r>
              <a:rPr lang="en-US" dirty="0"/>
              <a:t> larger 7 by 7 kernels, its attention covers a larger area, encompassing across several chicken pieces, resulting in a correct prediction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CFC6-6BE2-43E5-9C6A-CBF8222CF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B1D08-A278-93AC-0AE4-E8C342CDFF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E7F165-A87B-F719-9AD4-4A51E8909225}"/>
              </a:ext>
            </a:extLst>
          </p:cNvPr>
          <p:cNvSpPr>
            <a:spLocks noGrp="1"/>
          </p:cNvSpPr>
          <p:nvPr>
            <p:ph type="body" idx="1"/>
          </p:nvPr>
        </p:nvSpPr>
        <p:spPr/>
        <p:txBody>
          <a:bodyPr/>
          <a:lstStyle/>
          <a:p>
            <a:r>
              <a:rPr lang="en-US" b="0" dirty="0"/>
              <a:t>Next </a:t>
            </a:r>
            <a:r>
              <a:rPr lang="en-US" b="0" dirty="0" err="1"/>
              <a:t>ViT</a:t>
            </a:r>
            <a:endParaRPr lang="en-US" b="0" dirty="0"/>
          </a:p>
          <a:p>
            <a:endParaRPr lang="en-US" b="0" dirty="0"/>
          </a:p>
          <a:p>
            <a:r>
              <a:rPr lang="en-US" b="0" dirty="0" err="1"/>
              <a:t>ViT’s</a:t>
            </a:r>
            <a:r>
              <a:rPr lang="en-US" b="0" dirty="0"/>
              <a:t> failure mode is the semantic attractor collapse. </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self-attention computes pairwise relationships across all 196 patches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great for scene-level understanding,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over-abstracts when the task requires fine-grained discrimination. </a:t>
            </a:r>
          </a:p>
          <a:p>
            <a:endParaRPr lang="en-US" dirty="0"/>
          </a:p>
          <a:p>
            <a:r>
              <a:rPr lang="en-US" dirty="0"/>
              <a:t>Take the example of the Nuts, Cake, Snacks-and-Chips class.</a:t>
            </a:r>
          </a:p>
          <a:p>
            <a:endParaRPr lang="en-US" dirty="0"/>
          </a:p>
          <a:p>
            <a:r>
              <a:rPr lang="en-US" dirty="0"/>
              <a:t>On their own they share no visual similarity to chocolate</a:t>
            </a:r>
          </a:p>
          <a:p>
            <a:endParaRPr lang="en-US" dirty="0"/>
          </a:p>
          <a:p>
            <a:r>
              <a:rPr lang="en-US" dirty="0"/>
              <a:t>But this changes when it they have an element of chocolate:</a:t>
            </a:r>
          </a:p>
          <a:p>
            <a:endParaRPr lang="en-US" dirty="0"/>
          </a:p>
          <a:p>
            <a:r>
              <a:rPr lang="en-US" dirty="0"/>
              <a:t>chocolate-coated nuts, chocolate-</a:t>
            </a:r>
            <a:r>
              <a:rPr lang="en-US" dirty="0" err="1"/>
              <a:t>flavoured</a:t>
            </a:r>
            <a:r>
              <a:rPr lang="en-US" dirty="0"/>
              <a:t> cake, chocolate-bar packaging </a:t>
            </a:r>
          </a:p>
          <a:p>
            <a:endParaRPr lang="en-US" dirty="0"/>
          </a:p>
          <a:p>
            <a:r>
              <a:rPr lang="en-US" dirty="0"/>
              <a:t>Which semantically attracts them to be misclassified under the chocolate class</a:t>
            </a:r>
          </a:p>
          <a:p>
            <a:endParaRPr lang="en-US" dirty="0"/>
          </a:p>
          <a:p>
            <a:r>
              <a:rPr lang="en-US" dirty="0"/>
              <a:t>This extends to the char siew and duck rice class both sharing the visual semantics of rice on meat</a:t>
            </a:r>
          </a:p>
          <a:p>
            <a:endParaRPr lang="en-US" dirty="0"/>
          </a:p>
          <a:p>
            <a:endParaRPr lang="en-US" dirty="0"/>
          </a:p>
        </p:txBody>
      </p:sp>
      <p:sp>
        <p:nvSpPr>
          <p:cNvPr id="4" name="Slide Number Placeholder 3">
            <a:extLst>
              <a:ext uri="{FF2B5EF4-FFF2-40B4-BE49-F238E27FC236}">
                <a16:creationId xmlns:a16="http://schemas.microsoft.com/office/drawing/2014/main" id="{8DC6C365-02B0-CB4C-5DC6-DC6D993718F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400656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95C4-E656-5F44-50BE-E5CEE0272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B9322-6EB0-ECD2-2CBA-D487957406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E1C736-7AA1-BCAE-4EFF-2E4C8B4CE36C}"/>
              </a:ext>
            </a:extLst>
          </p:cNvPr>
          <p:cNvSpPr>
            <a:spLocks noGrp="1"/>
          </p:cNvSpPr>
          <p:nvPr>
            <p:ph type="body" idx="1"/>
          </p:nvPr>
        </p:nvSpPr>
        <p:spPr/>
        <p:txBody>
          <a:bodyPr/>
          <a:lstStyle/>
          <a:p>
            <a:r>
              <a:rPr lang="en-US" dirty="0"/>
              <a:t>Grad-CAM evidence reveals</a:t>
            </a:r>
          </a:p>
          <a:p>
            <a:endParaRPr lang="en-US" dirty="0"/>
          </a:p>
          <a:p>
            <a:r>
              <a:rPr lang="en-US" dirty="0"/>
              <a:t>resnet50 failing due to being too concentrated on a single texture spot of the meat section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Vits attention is diffused across the plate, missing the discriminative meat texture, over generalizing into a misclassification of char siew rice</a:t>
            </a:r>
          </a:p>
          <a:p>
            <a:endParaRPr lang="en-US" dirty="0"/>
          </a:p>
          <a:p>
            <a:r>
              <a:rPr lang="en-US" dirty="0" err="1"/>
              <a:t>convnext</a:t>
            </a:r>
            <a:r>
              <a:rPr lang="en-US" dirty="0"/>
              <a:t> has an equal distribution of attention focus more on the precise meat component, correctly predicting the class</a:t>
            </a:r>
          </a:p>
          <a:p>
            <a:endParaRPr lang="en-US" dirty="0"/>
          </a:p>
          <a:p>
            <a:endParaRPr lang="en-US" dirty="0"/>
          </a:p>
        </p:txBody>
      </p:sp>
      <p:sp>
        <p:nvSpPr>
          <p:cNvPr id="4" name="Slide Number Placeholder 3">
            <a:extLst>
              <a:ext uri="{FF2B5EF4-FFF2-40B4-BE49-F238E27FC236}">
                <a16:creationId xmlns:a16="http://schemas.microsoft.com/office/drawing/2014/main" id="{066FA823-33F7-D3AA-CBA9-5ADC9846163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54825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51E7-F3B9-4BF8-C924-E5545E7DB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C97A8-F882-8F18-A2DB-4DBD727F885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97A52B-B827-AEE4-8D34-9FBE6FF67108}"/>
              </a:ext>
            </a:extLst>
          </p:cNvPr>
          <p:cNvSpPr>
            <a:spLocks noGrp="1"/>
          </p:cNvSpPr>
          <p:nvPr>
            <p:ph type="body" idx="1"/>
          </p:nvPr>
        </p:nvSpPr>
        <p:spPr/>
        <p:txBody>
          <a:bodyPr/>
          <a:lstStyle/>
          <a:p>
            <a:r>
              <a:rPr lang="en-US" b="1" dirty="0"/>
              <a:t>Lastly, </a:t>
            </a:r>
            <a:r>
              <a:rPr lang="en-US" b="1" dirty="0" err="1"/>
              <a:t>ConvNeXt’s</a:t>
            </a:r>
            <a:r>
              <a:rPr lang="en-US" b="1" dirty="0"/>
              <a:t> failure mode is due to intermediate-scale ambiguity.</a:t>
            </a:r>
            <a:r>
              <a:rPr lang="en-US" dirty="0"/>
              <a:t> </a:t>
            </a:r>
          </a:p>
          <a:p>
            <a:endParaRPr lang="en-US" dirty="0"/>
          </a:p>
          <a:p>
            <a:r>
              <a:rPr lang="en-US" dirty="0"/>
              <a:t>Taking the example of misclassifying drunken prawn for fried prawn,  </a:t>
            </a:r>
          </a:p>
          <a:p>
            <a:endParaRPr lang="en-US" dirty="0"/>
          </a:p>
          <a:p>
            <a:r>
              <a:rPr lang="en-US" dirty="0" err="1"/>
              <a:t>ConvNeXt</a:t>
            </a:r>
            <a:r>
              <a:rPr lang="en-US" dirty="0"/>
              <a:t> focuses on the overall prawn structure</a:t>
            </a:r>
          </a:p>
          <a:p>
            <a:endParaRPr lang="en-US" dirty="0"/>
          </a:p>
          <a:p>
            <a:r>
              <a:rPr lang="en-US" dirty="0"/>
              <a:t> but fails to distinguish the finer details of smooth coating from the fried texture.</a:t>
            </a:r>
          </a:p>
          <a:p>
            <a:endParaRPr lang="en-US" dirty="0"/>
          </a:p>
          <a:p>
            <a:r>
              <a:rPr lang="en-US" dirty="0"/>
              <a:t>This highlights a trade-off—larger kernels capture object-level features well, but reduce sensitivity to finer texture details.</a:t>
            </a:r>
          </a:p>
          <a:p>
            <a:endParaRPr lang="en-US" dirty="0"/>
          </a:p>
          <a:p>
            <a:r>
              <a:rPr lang="en-US" dirty="0"/>
              <a:t>In contrast, smaller kernels or </a:t>
            </a:r>
            <a:r>
              <a:rPr lang="en-US" dirty="0" err="1"/>
              <a:t>ViT’s</a:t>
            </a:r>
            <a:r>
              <a:rPr lang="en-US" dirty="0"/>
              <a:t> global attention are better suited for picking up these subtle surface differences.</a:t>
            </a:r>
          </a:p>
          <a:p>
            <a:endParaRPr lang="en-US" dirty="0"/>
          </a:p>
        </p:txBody>
      </p:sp>
      <p:sp>
        <p:nvSpPr>
          <p:cNvPr id="4" name="Slide Number Placeholder 3">
            <a:extLst>
              <a:ext uri="{FF2B5EF4-FFF2-40B4-BE49-F238E27FC236}">
                <a16:creationId xmlns:a16="http://schemas.microsoft.com/office/drawing/2014/main" id="{D1D5439E-F2EE-B730-CA5D-592E5CFD38F4}"/>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384827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prior examples were related to low inter-class variation. </a:t>
            </a:r>
          </a:p>
          <a:p>
            <a:endParaRPr lang="en-US" dirty="0"/>
          </a:p>
          <a:p>
            <a:r>
              <a:rPr lang="en-US" dirty="0"/>
              <a:t>Moving on to high intra-class variation</a:t>
            </a:r>
          </a:p>
          <a:p>
            <a:endParaRPr lang="en-US" dirty="0"/>
          </a:p>
          <a:p>
            <a:r>
              <a:rPr lang="en-US" dirty="0"/>
              <a:t>Among the five food classes with the largest cross-architecture F1 gaps, we observe that </a:t>
            </a:r>
            <a:r>
              <a:rPr lang="en-US" dirty="0" err="1"/>
              <a:t>ViT</a:t>
            </a:r>
            <a:r>
              <a:rPr lang="en-US" dirty="0"/>
              <a:t> takes first place when it comes to Hor Fun class instead of </a:t>
            </a:r>
            <a:r>
              <a:rPr lang="en-US" dirty="0" err="1"/>
              <a:t>convnext</a:t>
            </a:r>
            <a:endParaRPr lang="en-US" dirty="0"/>
          </a:p>
          <a:p>
            <a:endParaRPr lang="en-US" dirty="0"/>
          </a:p>
          <a:p>
            <a:r>
              <a:rPr lang="en-US" dirty="0"/>
              <a:t>Why? </a:t>
            </a:r>
          </a:p>
          <a:p>
            <a:endParaRPr lang="en-US" dirty="0"/>
          </a:p>
          <a:p>
            <a:r>
              <a:rPr lang="en-US" dirty="0"/>
              <a:t>Hor Fun has two distinct variants— dry and wet respectively. </a:t>
            </a:r>
          </a:p>
          <a:p>
            <a:endParaRPr lang="en-US" dirty="0"/>
          </a:p>
          <a:p>
            <a:r>
              <a:rPr lang="en-US" dirty="0"/>
              <a:t>They look very different, but they are categorized as the same dish.</a:t>
            </a:r>
          </a:p>
          <a:p>
            <a:endParaRPr lang="en-US" dirty="0"/>
          </a:p>
          <a:p>
            <a:r>
              <a:rPr lang="en-US" dirty="0"/>
              <a:t>So the model needs </a:t>
            </a:r>
            <a:r>
              <a:rPr lang="en-US" b="1" dirty="0"/>
              <a:t>compositional invariance</a:t>
            </a:r>
            <a:r>
              <a:rPr lang="en-US" dirty="0"/>
              <a:t>—</a:t>
            </a:r>
            <a:r>
              <a:rPr lang="en-US" dirty="0" err="1"/>
              <a:t>recognising</a:t>
            </a:r>
            <a:r>
              <a:rPr lang="en-US" dirty="0"/>
              <a:t> the ingredients and structure, not just appearance.</a:t>
            </a:r>
          </a:p>
          <a:p>
            <a:endParaRPr lang="en-US" dirty="0"/>
          </a:p>
          <a:p>
            <a:r>
              <a:rPr lang="en-US" dirty="0"/>
              <a:t>Vision Transformers global attention, helps to capture these relationships </a:t>
            </a:r>
            <a:r>
              <a:rPr lang="en-US" dirty="0" err="1"/>
              <a:t>relationships</a:t>
            </a:r>
            <a:r>
              <a:rPr lang="en-US" dirty="0"/>
              <a:t> across the entire image.</a:t>
            </a:r>
          </a:p>
          <a:p>
            <a:endParaRPr lang="en-US" dirty="0"/>
          </a:p>
          <a:p>
            <a:r>
              <a:rPr lang="en-US" dirty="0"/>
              <a:t>In contrast, ResNet50 and ConvNeXt rely on local patterns, and struggle when visual features vary widely.</a:t>
            </a:r>
          </a:p>
          <a:p>
            <a:endParaRPr lang="en-US" dirty="0"/>
          </a:p>
          <a:p>
            <a:r>
              <a:rPr lang="en-US" dirty="0"/>
              <a:t>Interestingly, the semantic attractor that was ViTs downfall has become its advantage in this case.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conclude, a key takeaway is that model architecture doesn’t just affect how much error is produced—it determines the </a:t>
            </a:r>
            <a:r>
              <a:rPr lang="en-US" i="1" dirty="0"/>
              <a:t>type</a:t>
            </a:r>
            <a:r>
              <a:rPr lang="en-US" dirty="0"/>
              <a:t> of error.</a:t>
            </a:r>
          </a:p>
          <a:p>
            <a:endParaRPr lang="en-US" dirty="0"/>
          </a:p>
          <a:p>
            <a:r>
              <a:rPr lang="en-US" dirty="0"/>
              <a:t>We have observed this through</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mechanistic error analysis.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aggregate performance hierarchy was also verified to be robust </a:t>
            </a:r>
          </a:p>
          <a:p>
            <a:endParaRPr lang="en-US" dirty="0"/>
          </a:p>
          <a:p>
            <a:r>
              <a:rPr lang="en-US" dirty="0"/>
              <a:t>Through the learning rate study</a:t>
            </a:r>
          </a:p>
          <a:p>
            <a:endParaRPr lang="en-US" dirty="0"/>
          </a:p>
          <a:p>
            <a:r>
              <a:rPr lang="en-US" dirty="0"/>
              <a:t>Overall, we observed that for fine-grained food classification, </a:t>
            </a:r>
            <a:r>
              <a:rPr lang="en-US" dirty="0" err="1"/>
              <a:t>ConvNeXt</a:t>
            </a:r>
            <a:r>
              <a:rPr lang="en-US" dirty="0"/>
              <a:t> achieved the best performance.</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Some limitations include:</a:t>
            </a:r>
          </a:p>
          <a:p>
            <a:endParaRPr lang="en-US" dirty="0"/>
          </a:p>
          <a:p>
            <a:r>
              <a:rPr lang="en-US" dirty="0"/>
              <a:t>Computational constraints --- all training was done on a single GPU, training of each epoch took 2 hours hence I capped all the trainings to 10 epochs due to time constraint, should time not be a concern extended trainings could result in better performance. </a:t>
            </a:r>
          </a:p>
          <a:p>
            <a:endParaRPr lang="en-US" dirty="0"/>
          </a:p>
          <a:p>
            <a:r>
              <a:rPr lang="en-US" dirty="0"/>
              <a:t>This extends to the next limitation of a narrow HP study, thus only learning rate was studied in detail. </a:t>
            </a:r>
          </a:p>
          <a:p>
            <a:endParaRPr lang="en-US" dirty="0"/>
          </a:p>
          <a:p>
            <a:r>
              <a:rPr lang="en-US" dirty="0"/>
              <a:t>Lastly, there could be human errors in the data cleaning process, when choosing to relabel, keep or remove images</a:t>
            </a:r>
          </a:p>
          <a:p>
            <a:endParaRPr lang="en-US" dirty="0"/>
          </a:p>
          <a:p>
            <a:r>
              <a:rPr lang="en-US" dirty="0"/>
              <a:t>Some future works include</a:t>
            </a:r>
          </a:p>
          <a:p>
            <a:endParaRPr lang="en-US" dirty="0"/>
          </a:p>
          <a:p>
            <a:r>
              <a:rPr lang="en-US" dirty="0"/>
              <a:t>Conducting a study on each models efficiency and accuracy trade offs</a:t>
            </a:r>
          </a:p>
          <a:p>
            <a:endParaRPr lang="en-US" dirty="0"/>
          </a:p>
          <a:p>
            <a:r>
              <a:rPr lang="en-US" dirty="0"/>
              <a:t>We could also expand the architectural coverage such as the </a:t>
            </a:r>
            <a:r>
              <a:rPr lang="en-US" dirty="0" err="1"/>
              <a:t>swin</a:t>
            </a:r>
            <a:r>
              <a:rPr lang="en-US" dirty="0"/>
              <a:t> </a:t>
            </a:r>
            <a:r>
              <a:rPr lang="en-US" dirty="0" err="1"/>
              <a:t>cnn</a:t>
            </a:r>
            <a:r>
              <a:rPr lang="en-US" dirty="0"/>
              <a:t> inspired vit paradigm</a:t>
            </a:r>
          </a:p>
          <a:p>
            <a:endParaRPr lang="en-US" dirty="0"/>
          </a:p>
          <a:p>
            <a:r>
              <a:rPr lang="en-US" dirty="0"/>
              <a:t>And lastly, we could create a more holistic end to end dietary estimation pipeline including segmentation and volume estimation for portion aware calorie estimation. </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4336-A093-EEFC-4F94-8E2684672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A4C5F-AC40-25F5-008C-6238500DAD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C34565-5C22-6B2D-77C0-419FFD6E7DDE}"/>
              </a:ext>
            </a:extLst>
          </p:cNvPr>
          <p:cNvSpPr>
            <a:spLocks noGrp="1"/>
          </p:cNvSpPr>
          <p:nvPr>
            <p:ph type="body" idx="1"/>
          </p:nvPr>
        </p:nvSpPr>
        <p:spPr/>
        <p:txBody>
          <a:bodyPr/>
          <a:lstStyle/>
          <a:p>
            <a:r>
              <a:rPr lang="en-US" dirty="0"/>
              <a:t>ready to see a demo?</a:t>
            </a:r>
          </a:p>
          <a:p>
            <a:endParaRPr lang="en-US" dirty="0"/>
          </a:p>
        </p:txBody>
      </p:sp>
      <p:sp>
        <p:nvSpPr>
          <p:cNvPr id="4" name="Slide Number Placeholder 3">
            <a:extLst>
              <a:ext uri="{FF2B5EF4-FFF2-40B4-BE49-F238E27FC236}">
                <a16:creationId xmlns:a16="http://schemas.microsoft.com/office/drawing/2014/main" id="{85FD6F26-3574-4939-651A-AC8C4D7CC465}"/>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563506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Thank you.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C9F78-5EBF-1C08-6CF0-771F85604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39C88-E627-2377-13FD-43C1072D17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AF21FD-7002-9E37-62E0-342A677A7C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food classification is technically much harder than it looks.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a:t>
            </a:r>
            <a:r>
              <a:rPr lang="en-US" i="1" dirty="0"/>
              <a:t>fine-grained</a:t>
            </a:r>
            <a:r>
              <a:rPr lang="en-US" dirty="0"/>
              <a:t> vision task, meaning the differences between classes can be very subtle. This exists in the form of: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High-intra-class variation where a dish can vary greatly in appearance. And conversely, low-inter-class variation where 2 different dishes may look similar.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 the Singapore context, </a:t>
            </a:r>
          </a:p>
          <a:p>
            <a:endParaRPr lang="en-US" dirty="0"/>
          </a:p>
          <a:p>
            <a:r>
              <a:rPr lang="en-US" dirty="0"/>
              <a:t>High-intra class variation is visible in these images of Chicken rice, differing terms of how the rice and meat are plated, the cut of the meat served, cooking style and accompanying garnishes.</a:t>
            </a:r>
          </a:p>
          <a:p>
            <a:endParaRPr lang="en-US" dirty="0"/>
          </a:p>
          <a:p>
            <a:r>
              <a:rPr lang="en-US" dirty="0"/>
              <a:t>Low inter-class variation can be seen in the case of laksa and tom yum.</a:t>
            </a:r>
          </a:p>
          <a:p>
            <a:endParaRPr lang="en-US" dirty="0"/>
          </a:p>
          <a:p>
            <a:r>
              <a:rPr lang="en-US" dirty="0"/>
              <a:t>Are you able to tell which is which? When I first showed this to Dr Chong she herself had a hard time differentiating the two</a:t>
            </a:r>
          </a:p>
          <a:p>
            <a:endParaRPr lang="en-US" dirty="0"/>
          </a:p>
          <a:p>
            <a:r>
              <a:rPr lang="en-US" dirty="0"/>
              <a:t>These are exactly the cases where a classifier needs to pick up on fine details to get it right.</a:t>
            </a:r>
          </a:p>
          <a:p>
            <a:endParaRPr lang="en-US" dirty="0"/>
          </a:p>
          <a:p>
            <a:r>
              <a:rPr lang="en-US" dirty="0"/>
              <a:t>On top of that, real-world capture conditions add lighting, angle, and occlusion variability — none of which the classifier gets to control.</a:t>
            </a:r>
          </a:p>
          <a:p>
            <a:endParaRPr lang="en-US" dirty="0"/>
          </a:p>
        </p:txBody>
      </p:sp>
      <p:sp>
        <p:nvSpPr>
          <p:cNvPr id="4" name="Slide Number Placeholder 3">
            <a:extLst>
              <a:ext uri="{FF2B5EF4-FFF2-40B4-BE49-F238E27FC236}">
                <a16:creationId xmlns:a16="http://schemas.microsoft.com/office/drawing/2014/main" id="{24F8B8EC-9B96-F0BA-7766-A7BAF2E70849}"/>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5077830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22CB1-F89D-8DA2-3874-89EED724A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9308B-0504-B291-64F5-FC59B5AD9B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1773D1-BB07-D2A9-2E01-FDBA757EFD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5B7FFF-5720-E5CE-6522-CE10C9A086CE}"/>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121852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68130-35B1-2007-297C-13E9CAB35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676E5-953B-0DDB-C5CE-4563138BAD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BF995C-2B6B-9A1F-5D2B-4CB4D31DD687}"/>
              </a:ext>
            </a:extLst>
          </p:cNvPr>
          <p:cNvSpPr>
            <a:spLocks noGrp="1"/>
          </p:cNvSpPr>
          <p:nvPr>
            <p:ph type="body" idx="1"/>
          </p:nvPr>
        </p:nvSpPr>
        <p:spPr/>
        <p:txBody>
          <a:bodyPr/>
          <a:lstStyle/>
          <a:p>
            <a:r>
              <a:rPr lang="en-US" dirty="0"/>
              <a:t>Prior work shows that CNN-based approaches are highly effective for food recognition.</a:t>
            </a:r>
          </a:p>
          <a:p>
            <a:br>
              <a:rPr lang="en-US" dirty="0"/>
            </a:br>
            <a:r>
              <a:rPr lang="en-US" dirty="0"/>
              <a:t>For example, Bu achieved high accuracy of above 96% using a CNN ensemble, but at the cost of computational efficiency.</a:t>
            </a:r>
          </a:p>
          <a:p>
            <a:br>
              <a:rPr lang="en-US" dirty="0"/>
            </a:br>
            <a:r>
              <a:rPr lang="en-US" dirty="0"/>
              <a:t>Similarly, Karabay’s study obtained strong performance, and noted that dataset plays a critical role, particularly facing challenges related to class imbalance and fine-grained.</a:t>
            </a:r>
          </a:p>
        </p:txBody>
      </p:sp>
      <p:sp>
        <p:nvSpPr>
          <p:cNvPr id="4" name="Slide Number Placeholder 3">
            <a:extLst>
              <a:ext uri="{FF2B5EF4-FFF2-40B4-BE49-F238E27FC236}">
                <a16:creationId xmlns:a16="http://schemas.microsoft.com/office/drawing/2014/main" id="{F27DF4DA-8955-7D78-452D-DF69123E4722}"/>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1501702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41B99-629D-BDDC-2BFA-47079A68B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2DB47-DCE2-B785-857D-A8FC878DF0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A91234-CC0D-13F2-929D-AC474BE32A6A}"/>
              </a:ext>
            </a:extLst>
          </p:cNvPr>
          <p:cNvSpPr>
            <a:spLocks noGrp="1"/>
          </p:cNvSpPr>
          <p:nvPr>
            <p:ph type="body" idx="1"/>
          </p:nvPr>
        </p:nvSpPr>
        <p:spPr/>
        <p:txBody>
          <a:bodyPr/>
          <a:lstStyle/>
          <a:p>
            <a:r>
              <a:rPr lang="en-US" b="1" dirty="0"/>
              <a:t>Vision Transformers</a:t>
            </a:r>
            <a:r>
              <a:rPr lang="en-US" dirty="0"/>
              <a:t>, introduced by </a:t>
            </a:r>
            <a:r>
              <a:rPr lang="en-US" dirty="0" err="1"/>
              <a:t>Dosovitskiy</a:t>
            </a:r>
            <a:r>
              <a:rPr lang="en-US" dirty="0"/>
              <a:t>.</a:t>
            </a:r>
          </a:p>
          <a:p>
            <a:endParaRPr lang="en-US" dirty="0"/>
          </a:p>
          <a:p>
            <a:r>
              <a:rPr lang="en-US" dirty="0"/>
              <a:t>ViTs treat an image as a sequence of patches and apply self-attention globally. </a:t>
            </a:r>
          </a:p>
          <a:p>
            <a:endParaRPr lang="en-US" dirty="0"/>
          </a:p>
          <a:p>
            <a:endParaRPr lang="en-US" dirty="0"/>
          </a:p>
        </p:txBody>
      </p:sp>
      <p:sp>
        <p:nvSpPr>
          <p:cNvPr id="4" name="Slide Number Placeholder 3">
            <a:extLst>
              <a:ext uri="{FF2B5EF4-FFF2-40B4-BE49-F238E27FC236}">
                <a16:creationId xmlns:a16="http://schemas.microsoft.com/office/drawing/2014/main" id="{44B71822-1D7E-1715-5D80-402D43EABCFC}"/>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6620962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Lastly, cross-paradigm architectures. </a:t>
            </a:r>
          </a:p>
          <a:p>
            <a:endParaRPr lang="en-US" dirty="0"/>
          </a:p>
          <a:p>
            <a:r>
              <a:rPr lang="en-US" dirty="0"/>
              <a:t>Namely, there are 2 sub-categories. </a:t>
            </a:r>
          </a:p>
          <a:p>
            <a:endParaRPr lang="en-US" b="1" dirty="0"/>
          </a:p>
          <a:p>
            <a:r>
              <a:rPr lang="en-US" i="1" dirty="0"/>
              <a:t>Transformer-inspired CNN such as </a:t>
            </a:r>
            <a:r>
              <a:rPr lang="en-US" b="1" dirty="0"/>
              <a:t>ConvNeXt</a:t>
            </a:r>
            <a:r>
              <a:rPr lang="en-US" dirty="0"/>
              <a:t>, introduced by Liu in 2022</a:t>
            </a:r>
            <a:r>
              <a:rPr lang="en-US" i="1" dirty="0"/>
              <a:t>; and CNN-inspired Transformers, such as Swin. </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41427-8A15-36FC-F787-BA86ACD53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FB893-927A-1487-DFD6-EE5D1E9E2E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DC6794-C895-0841-EEB8-9260C787E7B5}"/>
              </a:ext>
            </a:extLst>
          </p:cNvPr>
          <p:cNvSpPr>
            <a:spLocks noGrp="1"/>
          </p:cNvSpPr>
          <p:nvPr>
            <p:ph type="body" idx="1"/>
          </p:nvPr>
        </p:nvSpPr>
        <p:spPr/>
        <p:txBody>
          <a:bodyPr/>
          <a:lstStyle/>
          <a:p>
            <a:r>
              <a:rPr lang="en-US" dirty="0"/>
              <a:t>Onto methodology. </a:t>
            </a:r>
          </a:p>
          <a:p>
            <a:endParaRPr lang="en-US" dirty="0"/>
          </a:p>
          <a:p>
            <a:r>
              <a:rPr lang="en-US" dirty="0"/>
              <a:t>Datasets was selected based on task alignment, generalizability, and computational feasibility.</a:t>
            </a:r>
          </a:p>
          <a:p>
            <a:endParaRPr lang="en-US" dirty="0"/>
          </a:p>
          <a:p>
            <a:r>
              <a:rPr lang="en-US" dirty="0"/>
              <a:t>ISIA Food-500 and Food2k were excluded as the datasets were too computationally large. </a:t>
            </a:r>
          </a:p>
          <a:p>
            <a:endParaRPr lang="en-US" dirty="0"/>
          </a:p>
          <a:p>
            <a:r>
              <a:rPr lang="en-US" dirty="0"/>
              <a:t>UEC-Food256 and VireoFood-172 were excluded due to task misalignment.</a:t>
            </a:r>
          </a:p>
          <a:p>
            <a:endParaRPr lang="en-US" dirty="0"/>
          </a:p>
          <a:p>
            <a:r>
              <a:rPr lang="en-US" b="1" dirty="0"/>
              <a:t>SGFood-233</a:t>
            </a:r>
            <a:r>
              <a:rPr lang="en-US" dirty="0"/>
              <a:t> was chosen as the primary dataset</a:t>
            </a:r>
          </a:p>
          <a:p>
            <a:endParaRPr lang="en-US" b="1" dirty="0"/>
          </a:p>
          <a:p>
            <a:r>
              <a:rPr lang="en-US" b="1" dirty="0"/>
              <a:t>While Food-101</a:t>
            </a:r>
            <a:r>
              <a:rPr lang="en-US" dirty="0"/>
              <a:t> serves as the secondary benchmark to verify that findings were well generalized.</a:t>
            </a:r>
          </a:p>
          <a:p>
            <a:endParaRPr lang="en-US" dirty="0"/>
          </a:p>
          <a:p>
            <a:r>
              <a:rPr lang="en-US" dirty="0"/>
              <a:t>2 dataset splits were used. </a:t>
            </a:r>
          </a:p>
          <a:p>
            <a:endParaRPr lang="en-US" dirty="0"/>
          </a:p>
          <a:p>
            <a:r>
              <a:rPr lang="en-US" dirty="0"/>
              <a:t>An initial 75 25 train-validation split was used to models, used in the data cleaning pipeline. </a:t>
            </a:r>
          </a:p>
          <a:p>
            <a:endParaRPr lang="en-US" dirty="0"/>
          </a:p>
          <a:p>
            <a:r>
              <a:rPr lang="en-US" dirty="0"/>
              <a:t>After data cleaning, the dataset underwent a 75/15/10 train-</a:t>
            </a:r>
            <a:r>
              <a:rPr lang="en-US" dirty="0" err="1"/>
              <a:t>val</a:t>
            </a:r>
            <a:r>
              <a:rPr lang="en-US" dirty="0"/>
              <a:t>-test split. </a:t>
            </a:r>
          </a:p>
          <a:p>
            <a:endParaRPr lang="en-US" dirty="0"/>
          </a:p>
        </p:txBody>
      </p:sp>
      <p:sp>
        <p:nvSpPr>
          <p:cNvPr id="4" name="Slide Number Placeholder 3">
            <a:extLst>
              <a:ext uri="{FF2B5EF4-FFF2-40B4-BE49-F238E27FC236}">
                <a16:creationId xmlns:a16="http://schemas.microsoft.com/office/drawing/2014/main" id="{10E983F1-A366-B0FB-42AD-A1762A30ED11}"/>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1993200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data cleaning pipeline has four stages. </a:t>
            </a:r>
          </a:p>
          <a:p>
            <a:endParaRPr lang="en-US" dirty="0"/>
          </a:p>
          <a:p>
            <a:r>
              <a:rPr lang="en-US" dirty="0"/>
              <a:t>First, integrity checks for corrupt or truncated files.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right side, you can see what the UI was like when reviewing intra and inter class exact and near duplicate images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MD5 hashes were used in the second stage and </a:t>
            </a:r>
          </a:p>
          <a:p>
            <a:endParaRPr lang="en-US" dirty="0"/>
          </a:p>
          <a:p>
            <a:r>
              <a:rPr lang="en-US" dirty="0"/>
              <a:t>Perceptual hashing was used in the third stage</a:t>
            </a:r>
          </a:p>
          <a:p>
            <a:endParaRPr lang="en-US" dirty="0"/>
          </a:p>
          <a:p>
            <a:r>
              <a:rPr lang="en-US" dirty="0"/>
              <a:t>A total of 5.5k images were removed.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F8367-AF6C-A5D1-D102-CA731D04FB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84CB7-B42A-A874-EE46-2FE9BDEE25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3289D2-DC96-B2AB-06E7-D4C23916E5CE}"/>
              </a:ext>
            </a:extLst>
          </p:cNvPr>
          <p:cNvSpPr>
            <a:spLocks noGrp="1"/>
          </p:cNvSpPr>
          <p:nvPr>
            <p:ph type="body" idx="1"/>
          </p:nvPr>
        </p:nvSpPr>
        <p:spPr/>
        <p:txBody>
          <a:bodyPr/>
          <a:lstStyle/>
          <a:p>
            <a:endParaRPr lang="en-US" dirty="0"/>
          </a:p>
          <a:p>
            <a:r>
              <a:rPr lang="en-US" dirty="0"/>
              <a:t>The data cleaning pipeline has four stages. </a:t>
            </a:r>
          </a:p>
          <a:p>
            <a:endParaRPr lang="en-US" dirty="0"/>
          </a:p>
          <a:p>
            <a:r>
              <a:rPr lang="en-US" dirty="0"/>
              <a:t>First, integrity checks for corrupt or truncated files.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right side, you can see what the UI was like when reviewing intra and inter class exact and near duplicate images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MD5 hashes were used in the second stage and </a:t>
            </a:r>
          </a:p>
          <a:p>
            <a:endParaRPr lang="en-US" dirty="0"/>
          </a:p>
          <a:p>
            <a:r>
              <a:rPr lang="en-US" dirty="0"/>
              <a:t>Perceptual hashing was used in the third stage</a:t>
            </a:r>
          </a:p>
          <a:p>
            <a:endParaRPr lang="en-US" dirty="0"/>
          </a:p>
          <a:p>
            <a:r>
              <a:rPr lang="en-US" dirty="0"/>
              <a:t>A total of 5.5k images were removed.</a:t>
            </a:r>
          </a:p>
          <a:p>
            <a:endParaRPr lang="en-US" dirty="0"/>
          </a:p>
          <a:p>
            <a:endParaRPr lang="en-US" dirty="0"/>
          </a:p>
          <a:p>
            <a:r>
              <a:rPr lang="en-US" dirty="0"/>
              <a:t>And as a result, </a:t>
            </a:r>
          </a:p>
          <a:p>
            <a:endParaRPr lang="en-US" dirty="0"/>
          </a:p>
          <a:p>
            <a:r>
              <a:rPr lang="en-US" dirty="0"/>
              <a:t>2,217 images were flagged this way and reviewed manually through a </a:t>
            </a:r>
            <a:r>
              <a:rPr lang="en-US" dirty="0" err="1"/>
              <a:t>Streamlit</a:t>
            </a:r>
            <a:r>
              <a:rPr lang="en-US" dirty="0"/>
              <a:t> interface. </a:t>
            </a:r>
          </a:p>
          <a:p>
            <a:endParaRPr lang="en-US" dirty="0"/>
          </a:p>
          <a:p>
            <a:r>
              <a:rPr lang="en-US" dirty="0"/>
              <a:t>About 1,300 were actually </a:t>
            </a:r>
            <a:r>
              <a:rPr lang="en-US" dirty="0" err="1"/>
              <a:t>mislabelled</a:t>
            </a:r>
            <a:r>
              <a:rPr lang="en-US" dirty="0"/>
              <a:t> and got </a:t>
            </a:r>
            <a:r>
              <a:rPr lang="en-US" dirty="0" err="1"/>
              <a:t>relabelled</a:t>
            </a:r>
            <a:r>
              <a:rPr lang="en-US" dirty="0"/>
              <a:t>, 650 were  ambiguous thus removed, and 271 were correct labels that the models simply got wrong. </a:t>
            </a:r>
          </a:p>
          <a:p>
            <a:endParaRPr lang="en-US" dirty="0"/>
          </a:p>
        </p:txBody>
      </p:sp>
      <p:sp>
        <p:nvSpPr>
          <p:cNvPr id="4" name="Slide Number Placeholder 3">
            <a:extLst>
              <a:ext uri="{FF2B5EF4-FFF2-40B4-BE49-F238E27FC236}">
                <a16:creationId xmlns:a16="http://schemas.microsoft.com/office/drawing/2014/main" id="{6B16355D-E2CB-D58D-981F-8F6DB7F0E0F5}"/>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376676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results obtained from the initial training of the 3 models under the 75/25 train/validation split for both SGFood233 and Food101</a:t>
            </a:r>
          </a:p>
          <a:p>
            <a:endParaRPr lang="en-US" dirty="0"/>
          </a:p>
          <a:p>
            <a:r>
              <a:rPr lang="en-US" dirty="0"/>
              <a:t>We can observe a common trend which is the performance hierarchy that </a:t>
            </a:r>
            <a:r>
              <a:rPr lang="en-US" dirty="0" err="1"/>
              <a:t>ConVNext</a:t>
            </a:r>
            <a:r>
              <a:rPr lang="en-US" dirty="0"/>
              <a:t> &gt; Vit &gt; resnet50</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8FCEB-D956-2211-7A7A-62018AFAF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22AB1-E616-F45B-4C28-C496DEBE56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FEFAC3-E679-F9F1-4197-9555AED519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performance ranking still holds after the impact of the data cleaning. </a:t>
            </a:r>
          </a:p>
          <a:p>
            <a:endParaRPr lang="en-US" dirty="0"/>
          </a:p>
          <a:p>
            <a:r>
              <a:rPr lang="en-US" dirty="0"/>
              <a:t>We see a consistent improvement of approximately 1 percentage point across all three architectures so the cleaning pipeline did not particularly bias a model.</a:t>
            </a:r>
          </a:p>
          <a:p>
            <a:endParaRPr lang="en-US" dirty="0"/>
          </a:p>
        </p:txBody>
      </p:sp>
      <p:sp>
        <p:nvSpPr>
          <p:cNvPr id="4" name="Slide Number Placeholder 3">
            <a:extLst>
              <a:ext uri="{FF2B5EF4-FFF2-40B4-BE49-F238E27FC236}">
                <a16:creationId xmlns:a16="http://schemas.microsoft.com/office/drawing/2014/main" id="{7242D2AB-07E3-84A4-9726-0A84325143B0}"/>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8694172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Before discussing about the error analysis, here is a quick rundown on the embedding space analysis.</a:t>
            </a:r>
          </a:p>
          <a:p>
            <a:endParaRPr lang="en-US" dirty="0"/>
          </a:p>
          <a:p>
            <a:r>
              <a:rPr lang="en-US" dirty="0"/>
              <a:t>To compare fairly across architectures with different embedding dimensionalities, I reduced all three to a shared 256-dimensional space using PCA.</a:t>
            </a:r>
          </a:p>
          <a:p>
            <a:endParaRPr lang="en-US" dirty="0"/>
          </a:p>
          <a:p>
            <a:r>
              <a:rPr lang="en-US" dirty="0"/>
              <a:t>The result is the same ranking we saw on aggregate accuracy.</a:t>
            </a:r>
          </a:p>
          <a:p>
            <a:endParaRPr lang="en-US" dirty="0"/>
          </a:p>
          <a:p>
            <a:r>
              <a:rPr lang="en-US" dirty="0" err="1"/>
              <a:t>ConvNeXt's</a:t>
            </a:r>
            <a:r>
              <a:rPr lang="en-US" dirty="0"/>
              <a:t> silhouette score is roughly </a:t>
            </a:r>
            <a:r>
              <a:rPr lang="en-US" b="1" dirty="0"/>
              <a:t>3.2 times higher</a:t>
            </a:r>
            <a:r>
              <a:rPr lang="en-US" dirty="0"/>
              <a:t> than ResNet50’s, and twice that of </a:t>
            </a:r>
            <a:r>
              <a:rPr lang="en-US" dirty="0" err="1"/>
              <a:t>ViT</a:t>
            </a:r>
            <a:r>
              <a:rPr lang="en-US" dirty="0"/>
              <a:t>, indicating substantially stronger class separation. </a:t>
            </a:r>
          </a:p>
          <a:p>
            <a:endParaRPr lang="en-US" dirty="0"/>
          </a:p>
          <a:p>
            <a:r>
              <a:rPr lang="en-US" dirty="0"/>
              <a:t>The t-SNE projections on the slide help </a:t>
            </a:r>
            <a:r>
              <a:rPr lang="en-US" dirty="0" err="1"/>
              <a:t>visualise</a:t>
            </a:r>
            <a:r>
              <a:rPr lang="en-US" dirty="0"/>
              <a:t> this. </a:t>
            </a:r>
          </a:p>
          <a:p>
            <a:endParaRPr lang="en-US" dirty="0"/>
          </a:p>
          <a:p>
            <a:r>
              <a:rPr lang="en-US" dirty="0"/>
              <a:t>ResNet50 produces an amorphous cloud with heavy class overlap.</a:t>
            </a:r>
          </a:p>
          <a:p>
            <a:endParaRPr lang="en-US" dirty="0"/>
          </a:p>
          <a:p>
            <a:r>
              <a:rPr lang="en-US" dirty="0"/>
              <a:t> </a:t>
            </a:r>
            <a:r>
              <a:rPr lang="en-US" dirty="0" err="1"/>
              <a:t>ViT</a:t>
            </a:r>
            <a:r>
              <a:rPr lang="en-US" dirty="0"/>
              <a:t> shows partial clustering with blurred boundaries. </a:t>
            </a:r>
          </a:p>
          <a:p>
            <a:endParaRPr lang="en-US" dirty="0"/>
          </a:p>
          <a:p>
            <a:r>
              <a:rPr lang="en-US" dirty="0"/>
              <a:t>ConvNeXt forms visibly distinct clusters. </a:t>
            </a:r>
          </a:p>
          <a:p>
            <a:endParaRPr lang="en-US" dirty="0"/>
          </a:p>
          <a:p>
            <a:r>
              <a:rPr lang="en-US" dirty="0"/>
              <a:t>The silhouette results were verified across five random seeds, with a low standard deviations under 0.002.</a:t>
            </a:r>
          </a:p>
          <a:p>
            <a:endParaRPr lang="en-US" dirty="0"/>
          </a:p>
          <a:p>
            <a:r>
              <a:rPr lang="en-US" dirty="0"/>
              <a:t>Moving on to </a:t>
            </a:r>
            <a:r>
              <a:rPr lang="en-US" i="1" dirty="0"/>
              <a:t>what kinds of errors</a:t>
            </a:r>
            <a:r>
              <a:rPr lang="en-US" dirty="0"/>
              <a:t> each architecture makes through the error analysis investigation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3FF2-89D1-FEF9-5484-53CD11865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5A6DF-68CE-1E3B-F76F-80E53262EF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7905FCA-1096-7743-AD06-0305260677E9}"/>
              </a:ext>
            </a:extLst>
          </p:cNvPr>
          <p:cNvSpPr>
            <a:spLocks noGrp="1"/>
          </p:cNvSpPr>
          <p:nvPr>
            <p:ph type="body" idx="1"/>
          </p:nvPr>
        </p:nvSpPr>
        <p:spPr/>
        <p:txBody>
          <a:bodyPr/>
          <a:lstStyle/>
          <a:p>
            <a:r>
              <a:rPr lang="en-US" dirty="0"/>
              <a:t>This is the intellectual core of the project. Each architecture has a </a:t>
            </a:r>
            <a:r>
              <a:rPr lang="en-US" i="1" dirty="0"/>
              <a:t>distinct</a:t>
            </a:r>
            <a:r>
              <a:rPr lang="en-US" dirty="0"/>
              <a:t> failure signature, and each one is traceable to its spatial-modelling mechanism.</a:t>
            </a:r>
          </a:p>
          <a:p>
            <a:r>
              <a:rPr lang="en-US" b="1" dirty="0"/>
              <a:t>First, ResNet50 — the local texture trap.</a:t>
            </a:r>
            <a:r>
              <a:rPr lang="en-US" dirty="0"/>
              <a:t> Its unique confusions all involve dishes that share dominant local textures but differ in global context. The clearest example is Har Cheong Gai — prawn-paste-coated chicken — being misclassified as plain Fried Chicken. The cosine similarity between these two class centroids in ResNet50's embedding space is 0.979 — they're essentially overlapping. This is exactly the documented CNN texture bias surfacing in the food domain: 3×3 kernels with sharply decaying effective receptive fields mean predictions are dominated by surface-level patches, missing the broader structural context.</a:t>
            </a:r>
          </a:p>
          <a:p>
            <a:r>
              <a:rPr lang="en-US" b="1" dirty="0"/>
              <a:t>Second, </a:t>
            </a:r>
            <a:r>
              <a:rPr lang="en-US" b="1" dirty="0" err="1"/>
              <a:t>ViT</a:t>
            </a:r>
            <a:r>
              <a:rPr lang="en-US" b="1" dirty="0"/>
              <a:t> — semantic attractor collapse.</a:t>
            </a:r>
            <a:r>
              <a:rPr lang="en-US" dirty="0"/>
              <a:t> </a:t>
            </a:r>
            <a:r>
              <a:rPr lang="en-US" dirty="0" err="1"/>
              <a:t>ViT's</a:t>
            </a:r>
            <a:r>
              <a:rPr lang="en-US" dirty="0"/>
              <a:t> unique confusions involve visually </a:t>
            </a:r>
            <a:r>
              <a:rPr lang="en-US" i="1" dirty="0"/>
              <a:t>dissimilar</a:t>
            </a:r>
            <a:r>
              <a:rPr lang="en-US" dirty="0"/>
              <a:t> classes — Cake, Nuts, Snacks-and-Chips — all collapsing into a misclassification as Chocolate. These classes share no visual similarity, but they share a </a:t>
            </a:r>
            <a:r>
              <a:rPr lang="en-US" i="1" dirty="0"/>
              <a:t>semantic</a:t>
            </a:r>
            <a:r>
              <a:rPr lang="en-US" dirty="0"/>
              <a:t> attribute: chocolate-</a:t>
            </a:r>
            <a:r>
              <a:rPr lang="en-US" dirty="0" err="1"/>
              <a:t>flavoured</a:t>
            </a:r>
            <a:r>
              <a:rPr lang="en-US" dirty="0"/>
              <a:t> cake, chocolate-coated nuts, chocolate-bar packaging. Global self-attention computes pairwise relationships across all 196 patches from layer one, which is excellent for scene-level understanding, but over-abstracts when the task requires fine-grained discrimination. The Duck Rice → Char Siew confusion makes this concrete — </a:t>
            </a:r>
            <a:r>
              <a:rPr lang="en-US" dirty="0" err="1"/>
              <a:t>ViT's</a:t>
            </a:r>
            <a:r>
              <a:rPr lang="en-US" dirty="0"/>
              <a:t> diffuse attention spreads over the entire plate rather than the discriminative meat texture.</a:t>
            </a:r>
          </a:p>
          <a:p>
            <a:r>
              <a:rPr lang="en-US" b="1" dirty="0"/>
              <a:t>Third, ConvNeXt — intermediate-scale structural ambiguity.</a:t>
            </a:r>
            <a:r>
              <a:rPr lang="en-US" dirty="0"/>
              <a:t> ConvNeXt sits in the middle. Its 7×7 </a:t>
            </a:r>
            <a:r>
              <a:rPr lang="en-US" dirty="0" err="1"/>
              <a:t>depthwise</a:t>
            </a:r>
            <a:r>
              <a:rPr lang="en-US" dirty="0"/>
              <a:t> convolutions cover roughly 5.4× the spatial area of </a:t>
            </a:r>
            <a:r>
              <a:rPr lang="en-US" dirty="0" err="1"/>
              <a:t>ResNet's</a:t>
            </a:r>
            <a:r>
              <a:rPr lang="en-US" dirty="0"/>
              <a:t> 3×3 kernels, so it avoids the texture trap. But the kernels remain </a:t>
            </a:r>
            <a:r>
              <a:rPr lang="en-US" i="1" dirty="0"/>
              <a:t>local</a:t>
            </a:r>
            <a:r>
              <a:rPr lang="en-US" dirty="0"/>
              <a:t> — there's no global patch-to-patch comparison like </a:t>
            </a:r>
            <a:r>
              <a:rPr lang="en-US" dirty="0" err="1"/>
              <a:t>ViT</a:t>
            </a:r>
            <a:r>
              <a:rPr lang="en-US" dirty="0"/>
              <a:t>. So ConvNeXt fails on subtle, spatially distributed cues: distinguishing a drunken prawn's wine glaze from a fried prawn's batter, or whole wheat from whole grain bread.</a:t>
            </a:r>
          </a:p>
          <a:p>
            <a:r>
              <a:rPr lang="en-US" dirty="0"/>
              <a:t>The synthesis matters. Architecture isn't just a knob for </a:t>
            </a:r>
            <a:r>
              <a:rPr lang="en-US" i="1" dirty="0"/>
              <a:t>how much</a:t>
            </a:r>
            <a:r>
              <a:rPr lang="en-US" dirty="0"/>
              <a:t> error you get — it determines </a:t>
            </a:r>
            <a:r>
              <a:rPr lang="en-US" i="1" dirty="0"/>
              <a:t>what kind</a:t>
            </a:r>
            <a:r>
              <a:rPr lang="en-US" dirty="0"/>
              <a:t> of error. Each paradigm trades one error type for another.</a:t>
            </a:r>
          </a:p>
          <a:p>
            <a:endParaRPr lang="en-US" dirty="0"/>
          </a:p>
        </p:txBody>
      </p:sp>
      <p:sp>
        <p:nvSpPr>
          <p:cNvPr id="4" name="Slide Number Placeholder 3">
            <a:extLst>
              <a:ext uri="{FF2B5EF4-FFF2-40B4-BE49-F238E27FC236}">
                <a16:creationId xmlns:a16="http://schemas.microsoft.com/office/drawing/2014/main" id="{E33D3CBF-5BFC-C8B3-57C8-BD94AC4FDF88}"/>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9871374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CC1C-7E40-ED63-36D6-64ABB59C7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E5162-944A-B949-552B-A6AB3FA7BF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86C5D1-8720-AC66-493F-E32E4BB5AEAD}"/>
              </a:ext>
            </a:extLst>
          </p:cNvPr>
          <p:cNvSpPr>
            <a:spLocks noGrp="1"/>
          </p:cNvSpPr>
          <p:nvPr>
            <p:ph type="body" idx="1"/>
          </p:nvPr>
        </p:nvSpPr>
        <p:spPr/>
        <p:txBody>
          <a:bodyPr/>
          <a:lstStyle/>
          <a:p>
            <a:r>
              <a:rPr lang="en-US" dirty="0"/>
              <a:t>Grad-CAM gives us a direct visual of these mechanisms in action. This slide shows the </a:t>
            </a:r>
            <a:r>
              <a:rPr lang="en-US" i="1" dirty="0"/>
              <a:t>same</a:t>
            </a:r>
            <a:r>
              <a:rPr lang="en-US" dirty="0"/>
              <a:t> Har Cheong Gai image fed to all three architectures.</a:t>
            </a:r>
          </a:p>
          <a:p>
            <a:r>
              <a:rPr lang="en-US" dirty="0"/>
              <a:t>ResNet50's heatmap is fragmented — small hotspots concentrated on shared fried-texture regions. The model's attention literally fits the texture-trap description. It misclassifies as Ngoh </a:t>
            </a:r>
            <a:r>
              <a:rPr lang="en-US" dirty="0" err="1"/>
              <a:t>Hiang</a:t>
            </a:r>
            <a:r>
              <a:rPr lang="en-US" dirty="0"/>
              <a:t>.</a:t>
            </a:r>
          </a:p>
          <a:p>
            <a:r>
              <a:rPr lang="en-US" dirty="0" err="1"/>
              <a:t>ViT's</a:t>
            </a:r>
            <a:r>
              <a:rPr lang="en-US" dirty="0"/>
              <a:t> heatmap spreads across the entire plate, encoding holistic scene composition. It gets the answer right at 98% confidence, but the reasoning is global-scene rather than object-specific.</a:t>
            </a:r>
          </a:p>
          <a:p>
            <a:r>
              <a:rPr lang="en-US" dirty="0" err="1"/>
              <a:t>ConvNeXt's</a:t>
            </a:r>
            <a:r>
              <a:rPr lang="en-US" dirty="0"/>
              <a:t> heatmap is the most coherent — activation covers the chicken pieces as connected entities, with more structured spatial boundaries than </a:t>
            </a:r>
            <a:r>
              <a:rPr lang="en-US" dirty="0" err="1"/>
              <a:t>ViT's</a:t>
            </a:r>
            <a:r>
              <a:rPr lang="en-US" dirty="0"/>
              <a:t> diffuse spread. This is the principled middle ground: wide enough to avoid the texture trap, but local enough to preserve spatial specificity.</a:t>
            </a:r>
          </a:p>
          <a:p>
            <a:r>
              <a:rPr lang="en-US" dirty="0"/>
              <a:t>So the architectural mechanism we </a:t>
            </a:r>
            <a:r>
              <a:rPr lang="en-US" dirty="0" err="1"/>
              <a:t>hypothesised</a:t>
            </a:r>
            <a:r>
              <a:rPr lang="en-US" dirty="0"/>
              <a:t> on the previous slide produces both the embedding geometry </a:t>
            </a:r>
            <a:r>
              <a:rPr lang="en-US" i="1" dirty="0"/>
              <a:t>and</a:t>
            </a:r>
            <a:r>
              <a:rPr lang="en-US" dirty="0"/>
              <a:t> the visual attention pattern. The story is consistent at all three levels of analysis.</a:t>
            </a:r>
          </a:p>
          <a:p>
            <a:endParaRPr lang="en-US" dirty="0"/>
          </a:p>
        </p:txBody>
      </p:sp>
      <p:sp>
        <p:nvSpPr>
          <p:cNvPr id="4" name="Slide Number Placeholder 3">
            <a:extLst>
              <a:ext uri="{FF2B5EF4-FFF2-40B4-BE49-F238E27FC236}">
                <a16:creationId xmlns:a16="http://schemas.microsoft.com/office/drawing/2014/main" id="{4910862D-D124-C456-FD35-7EF0A634CBD9}"/>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40944374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natural question is: Where does architecture actually matter? </a:t>
            </a:r>
          </a:p>
          <a:p>
            <a:endParaRPr lang="en-US" dirty="0"/>
          </a:p>
          <a:p>
            <a:r>
              <a:rPr lang="en-US" dirty="0"/>
              <a:t>Not at the extremes.</a:t>
            </a:r>
          </a:p>
          <a:p>
            <a:endParaRPr lang="en-US" dirty="0"/>
          </a:p>
          <a:p>
            <a:r>
              <a:rPr lang="en-US" dirty="0"/>
              <a:t>The easiest and hardest classes are the same across all models—easy ones have clear features, and hard ones are ambiguous for all.</a:t>
            </a:r>
          </a:p>
          <a:p>
            <a:endParaRPr lang="en-US" dirty="0"/>
          </a:p>
          <a:p>
            <a:r>
              <a:rPr lang="en-US" dirty="0"/>
              <a:t>Accuracy strongly tracks class separability, regardless of architecture.</a:t>
            </a:r>
          </a:p>
          <a:p>
            <a:endParaRPr lang="en-US" dirty="0"/>
          </a:p>
          <a:p>
            <a:r>
              <a:rPr lang="en-US" dirty="0"/>
              <a:t>So the difference shows up in the middle—where features exist but require the right spatial modelling mechanisms to discern.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72F83-716D-B983-0619-89294FDAC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B0AA8-B1B1-F4A9-D5D5-2BA06260CC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1D5767-FB8D-87B5-BC2B-71C173F4B165}"/>
              </a:ext>
            </a:extLst>
          </p:cNvPr>
          <p:cNvSpPr>
            <a:spLocks noGrp="1"/>
          </p:cNvSpPr>
          <p:nvPr>
            <p:ph type="body" idx="1"/>
          </p:nvPr>
        </p:nvSpPr>
        <p:spPr/>
        <p:txBody>
          <a:bodyPr/>
          <a:lstStyle/>
          <a:p>
            <a:r>
              <a:rPr lang="en-US" dirty="0"/>
              <a:t>Looking at the cosine similarity between the class centroids in ResNet50's embedding space </a:t>
            </a:r>
          </a:p>
          <a:p>
            <a:endParaRPr lang="en-US" dirty="0"/>
          </a:p>
          <a:p>
            <a:r>
              <a:rPr lang="en-US" dirty="0"/>
              <a:t>we observe a value of 0.979 which is very close to 1, meaning their centroids are almost overlapping. </a:t>
            </a:r>
          </a:p>
          <a:p>
            <a:endParaRPr lang="en-US" dirty="0"/>
          </a:p>
          <a:p>
            <a:r>
              <a:rPr lang="en-US" dirty="0"/>
              <a:t>The local texture trap is attributed to the 3×3 kernels with sharply decaying effective receptive fields results in predictions being dominated by surface-level patches, missing the broader structural context.</a:t>
            </a:r>
          </a:p>
          <a:p>
            <a:endParaRPr lang="en-US" dirty="0"/>
          </a:p>
        </p:txBody>
      </p:sp>
      <p:sp>
        <p:nvSpPr>
          <p:cNvPr id="4" name="Slide Number Placeholder 3">
            <a:extLst>
              <a:ext uri="{FF2B5EF4-FFF2-40B4-BE49-F238E27FC236}">
                <a16:creationId xmlns:a16="http://schemas.microsoft.com/office/drawing/2014/main" id="{6F33B6DF-491F-0E64-355F-81362D5D18C0}"/>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8728369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E2768-55F3-B828-26A5-551DD7C24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4E9FE-6BE7-241D-4107-97C68FE0E8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CBD6BA-050D-5FDE-8C15-66B230D47F38}"/>
              </a:ext>
            </a:extLst>
          </p:cNvPr>
          <p:cNvSpPr>
            <a:spLocks noGrp="1"/>
          </p:cNvSpPr>
          <p:nvPr>
            <p:ph type="body" idx="1"/>
          </p:nvPr>
        </p:nvSpPr>
        <p:spPr/>
        <p:txBody>
          <a:bodyPr/>
          <a:lstStyle/>
          <a:p>
            <a:r>
              <a:rPr lang="en-US" b="1" dirty="0"/>
              <a:t>Lastly, </a:t>
            </a:r>
            <a:r>
              <a:rPr lang="en-US" b="1" dirty="0" err="1"/>
              <a:t>ConvNeXt’s</a:t>
            </a:r>
            <a:r>
              <a:rPr lang="en-US" b="1" dirty="0"/>
              <a:t> failure mode is due to intermediate-scale ambiguity.</a:t>
            </a:r>
            <a:r>
              <a:rPr lang="en-US" dirty="0"/>
              <a:t> </a:t>
            </a:r>
          </a:p>
          <a:p>
            <a:endParaRPr lang="en-US" dirty="0"/>
          </a:p>
          <a:p>
            <a:r>
              <a:rPr lang="en-US" dirty="0"/>
              <a:t>Its 7×7 </a:t>
            </a:r>
            <a:r>
              <a:rPr lang="en-US" dirty="0" err="1"/>
              <a:t>depthwise</a:t>
            </a:r>
            <a:r>
              <a:rPr lang="en-US" dirty="0"/>
              <a:t> convolutions cover roughly 5.4× the spatial area of </a:t>
            </a:r>
            <a:r>
              <a:rPr lang="en-US" dirty="0" err="1"/>
              <a:t>ResNet's</a:t>
            </a:r>
            <a:r>
              <a:rPr lang="en-US" dirty="0"/>
              <a:t> 3×3 kernels, so it avoids the texture trap. </a:t>
            </a:r>
          </a:p>
          <a:p>
            <a:endParaRPr lang="en-US" dirty="0"/>
          </a:p>
          <a:p>
            <a:r>
              <a:rPr lang="en-US" dirty="0"/>
              <a:t>But the kernels remain </a:t>
            </a:r>
            <a:r>
              <a:rPr lang="en-US" i="1" dirty="0"/>
              <a:t>local</a:t>
            </a:r>
            <a:r>
              <a:rPr lang="en-US" dirty="0"/>
              <a:t> — there's no global patch-to-patch comparison like </a:t>
            </a:r>
            <a:r>
              <a:rPr lang="en-US" dirty="0" err="1"/>
              <a:t>ViT</a:t>
            </a:r>
            <a:r>
              <a:rPr lang="en-US" dirty="0"/>
              <a:t>. </a:t>
            </a:r>
          </a:p>
          <a:p>
            <a:endParaRPr lang="en-US" dirty="0"/>
          </a:p>
          <a:p>
            <a:r>
              <a:rPr lang="en-US" dirty="0"/>
              <a:t>So ConvNeXt fails on subtle, spatially distributed cues</a:t>
            </a:r>
          </a:p>
          <a:p>
            <a:endParaRPr lang="en-US" dirty="0"/>
          </a:p>
          <a:p>
            <a:endParaRPr lang="en-US" dirty="0"/>
          </a:p>
        </p:txBody>
      </p:sp>
      <p:sp>
        <p:nvSpPr>
          <p:cNvPr id="4" name="Slide Number Placeholder 3">
            <a:extLst>
              <a:ext uri="{FF2B5EF4-FFF2-40B4-BE49-F238E27FC236}">
                <a16:creationId xmlns:a16="http://schemas.microsoft.com/office/drawing/2014/main" id="{35A9CD54-3197-00DC-E43D-B6C12E78EB67}"/>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069050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A21F6-2321-9F24-2289-C66A22E70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C5E47-573C-137C-821A-C3FFA44904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24B539-6EB2-A5DC-FCF0-53B4160B6104}"/>
              </a:ext>
            </a:extLst>
          </p:cNvPr>
          <p:cNvSpPr>
            <a:spLocks noGrp="1"/>
          </p:cNvSpPr>
          <p:nvPr>
            <p:ph type="body" idx="1"/>
          </p:nvPr>
        </p:nvSpPr>
        <p:spPr/>
        <p:txBody>
          <a:bodyPr/>
          <a:lstStyle/>
          <a:p>
            <a:r>
              <a:rPr lang="en-US" dirty="0"/>
              <a:t>For Drunken Prawn vs Fried Prawn, the key difference is surface texture.</a:t>
            </a:r>
          </a:p>
          <a:p>
            <a:endParaRPr lang="en-US" dirty="0"/>
          </a:p>
          <a:p>
            <a:r>
              <a:rPr lang="en-US" dirty="0"/>
              <a:t>ConvNeXt focuses on the overall prawn structure but fails to distinguish the smooth coating from the granular fried texture.</a:t>
            </a:r>
          </a:p>
          <a:p>
            <a:endParaRPr lang="en-US" dirty="0"/>
          </a:p>
          <a:p>
            <a:r>
              <a:rPr lang="en-US" dirty="0"/>
              <a:t>This highlights a trade-off—larger kernels capture object-level features well, but reduce sensitivity to fine texture details.</a:t>
            </a:r>
          </a:p>
          <a:p>
            <a:endParaRPr lang="en-US" dirty="0"/>
          </a:p>
          <a:p>
            <a:r>
              <a:rPr lang="en-US" dirty="0"/>
              <a:t>In contrast, smaller kernels or </a:t>
            </a:r>
            <a:r>
              <a:rPr lang="en-US" dirty="0" err="1"/>
              <a:t>ViT’s</a:t>
            </a:r>
            <a:r>
              <a:rPr lang="en-US" dirty="0"/>
              <a:t> global attention are better suited for picking up these subtle surface differences.</a:t>
            </a:r>
          </a:p>
          <a:p>
            <a:endParaRPr lang="en-US" dirty="0"/>
          </a:p>
        </p:txBody>
      </p:sp>
      <p:sp>
        <p:nvSpPr>
          <p:cNvPr id="4" name="Slide Number Placeholder 3">
            <a:extLst>
              <a:ext uri="{FF2B5EF4-FFF2-40B4-BE49-F238E27FC236}">
                <a16:creationId xmlns:a16="http://schemas.microsoft.com/office/drawing/2014/main" id="{0CB3F668-AD21-57B4-9033-A4B413CCD174}"/>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7807327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You may ask, what if the fixed configurations </a:t>
            </a:r>
            <a:r>
              <a:rPr lang="en-US" dirty="0" err="1"/>
              <a:t>favoured</a:t>
            </a:r>
            <a:r>
              <a:rPr lang="en-US" dirty="0"/>
              <a:t> one model over the others</a:t>
            </a:r>
          </a:p>
          <a:p>
            <a:endParaRPr lang="en-US" dirty="0"/>
          </a:p>
          <a:p>
            <a:r>
              <a:rPr lang="en-US" dirty="0"/>
              <a:t>Hence leading us to the learning rate robustness study.</a:t>
            </a:r>
          </a:p>
          <a:p>
            <a:endParaRPr lang="en-US" dirty="0"/>
          </a:p>
          <a:p>
            <a:r>
              <a:rPr lang="en-US" dirty="0"/>
              <a:t>The five learning rates sweep spans two orders of magnitude, and each architecture revealed a distinct optimization profile. </a:t>
            </a:r>
          </a:p>
          <a:p>
            <a:endParaRPr lang="en-US" b="1" dirty="0"/>
          </a:p>
          <a:p>
            <a:r>
              <a:rPr lang="en-US" b="1" dirty="0"/>
              <a:t>ResNet50</a:t>
            </a:r>
            <a:r>
              <a:rPr lang="en-US" dirty="0"/>
              <a:t> prefers high learning rates.</a:t>
            </a:r>
          </a:p>
          <a:p>
            <a:endParaRPr lang="en-US" b="1" dirty="0"/>
          </a:p>
          <a:p>
            <a:r>
              <a:rPr lang="en-US" b="1" dirty="0"/>
              <a:t>Conversely, </a:t>
            </a:r>
            <a:r>
              <a:rPr lang="en-US" b="1" dirty="0" err="1"/>
              <a:t>ViT</a:t>
            </a:r>
            <a:r>
              <a:rPr lang="en-US" b="1" dirty="0"/>
              <a:t> </a:t>
            </a:r>
            <a:r>
              <a:rPr lang="en-US" b="1" dirty="0" err="1"/>
              <a:t>favours</a:t>
            </a:r>
            <a:r>
              <a:rPr lang="en-US" b="1" dirty="0"/>
              <a:t> lowering learning rates</a:t>
            </a:r>
          </a:p>
          <a:p>
            <a:endParaRPr lang="en-US" b="1" dirty="0"/>
          </a:p>
          <a:p>
            <a:r>
              <a:rPr lang="en-US" b="1" dirty="0"/>
              <a:t>Whereas ConvNeXt</a:t>
            </a:r>
            <a:r>
              <a:rPr lang="en-US" dirty="0"/>
              <a:t> has the broadest tolerance</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BE473-C77D-ACAA-AE5B-2EF8EA7FD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568D0-E970-5119-C081-3018D5F5A5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36889E-E001-C14F-B470-A013255A9092}"/>
              </a:ext>
            </a:extLst>
          </p:cNvPr>
          <p:cNvSpPr>
            <a:spLocks noGrp="1"/>
          </p:cNvSpPr>
          <p:nvPr>
            <p:ph type="body" idx="1"/>
          </p:nvPr>
        </p:nvSpPr>
        <p:spPr/>
        <p:txBody>
          <a:bodyPr/>
          <a:lstStyle/>
          <a:p>
            <a:r>
              <a:rPr lang="en-US" dirty="0"/>
              <a:t>The central finding from this project is that architectural paradigm doesn't just affect </a:t>
            </a:r>
            <a:r>
              <a:rPr lang="en-US" i="1" dirty="0"/>
              <a:t>how much</a:t>
            </a:r>
            <a:r>
              <a:rPr lang="en-US" dirty="0"/>
              <a:t> error a classifier produces — it determines </a:t>
            </a:r>
            <a:r>
              <a:rPr lang="en-US" i="1" dirty="0"/>
              <a:t>what kind</a:t>
            </a:r>
            <a:r>
              <a:rPr lang="en-US" dirty="0"/>
              <a:t> of error. That claim was supported through three methodological lenses.</a:t>
            </a:r>
          </a:p>
          <a:p>
            <a:r>
              <a:rPr lang="en-US" b="1" dirty="0"/>
              <a:t>Aggregate performance</a:t>
            </a:r>
            <a:r>
              <a:rPr lang="en-US" dirty="0"/>
              <a:t> showed a consistent ranking — ConvNeXt outperforms </a:t>
            </a:r>
            <a:r>
              <a:rPr lang="en-US" dirty="0" err="1"/>
              <a:t>ViT</a:t>
            </a:r>
            <a:r>
              <a:rPr lang="en-US" dirty="0"/>
              <a:t>, which outperforms ResNet50 — across all four metrics, on both SGFood-233 and Food-101.</a:t>
            </a:r>
          </a:p>
          <a:p>
            <a:r>
              <a:rPr lang="en-US" b="1" dirty="0"/>
              <a:t>Mechanistic error analysis</a:t>
            </a:r>
            <a:r>
              <a:rPr lang="en-US" dirty="0"/>
              <a:t> identified three distinct, architecturally-grounded failure modes: ResNet50's texture trap, </a:t>
            </a:r>
            <a:r>
              <a:rPr lang="en-US" dirty="0" err="1"/>
              <a:t>ViT's</a:t>
            </a:r>
            <a:r>
              <a:rPr lang="en-US" dirty="0"/>
              <a:t> semantic attractor collapse, and </a:t>
            </a:r>
            <a:r>
              <a:rPr lang="en-US" dirty="0" err="1"/>
              <a:t>ConvNeXt's</a:t>
            </a:r>
            <a:r>
              <a:rPr lang="en-US" dirty="0"/>
              <a:t> intermediate-scale structural ambiguity. Each one is traceable to a specific spatial-modelling mechanism.</a:t>
            </a:r>
          </a:p>
          <a:p>
            <a:r>
              <a:rPr lang="en-US" dirty="0"/>
              <a:t>And </a:t>
            </a:r>
            <a:r>
              <a:rPr lang="en-US" b="1" dirty="0"/>
              <a:t>robustness verification</a:t>
            </a:r>
            <a:r>
              <a:rPr lang="en-US" dirty="0"/>
              <a:t> through the learning rate study confirmed that the ranking holds when each model is evaluated at its own optimal learning rate — so it's not an HP artefact.</a:t>
            </a:r>
          </a:p>
          <a:p>
            <a:r>
              <a:rPr lang="en-US" dirty="0"/>
              <a:t>The broader implication is that for fine-grained food classification, </a:t>
            </a:r>
            <a:r>
              <a:rPr lang="en-US" b="1" dirty="0"/>
              <a:t>Transformer-inspired design principles</a:t>
            </a:r>
            <a:r>
              <a:rPr lang="en-US" dirty="0"/>
              <a:t> — the 7×7 kernels, </a:t>
            </a:r>
            <a:r>
              <a:rPr lang="en-US" dirty="0" err="1"/>
              <a:t>LayerNorm</a:t>
            </a:r>
            <a:r>
              <a:rPr lang="en-US" dirty="0"/>
              <a:t>, GELU activations, inverted bottlenecks — proved more valuable than the self-attention mechanism itself. ConvNeXt achieves the best of both worlds without ever introducing attention.</a:t>
            </a:r>
          </a:p>
          <a:p>
            <a:r>
              <a:rPr lang="en-US" dirty="0"/>
              <a:t>On the practical side, the calorie-estimation MVP is delivered — a mobile app built on ConvNeXt and Singapore's HPB nutritional database.</a:t>
            </a:r>
          </a:p>
          <a:p>
            <a:endParaRPr lang="en-US" dirty="0"/>
          </a:p>
        </p:txBody>
      </p:sp>
      <p:sp>
        <p:nvSpPr>
          <p:cNvPr id="4" name="Slide Number Placeholder 3">
            <a:extLst>
              <a:ext uri="{FF2B5EF4-FFF2-40B4-BE49-F238E27FC236}">
                <a16:creationId xmlns:a16="http://schemas.microsoft.com/office/drawing/2014/main" id="{DD31368D-8279-E14E-2370-394BD0BE0526}"/>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035190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customXml" Target="../ink/ink1.xml"/><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customXml" Target="../ink/ink3.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3.png"/><Relationship Id="rId7"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customXml" Target="../ink/ink5.xml"/><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customXml" Target="../ink/ink6.xml"/><Relationship Id="rId4" Type="http://schemas.openxmlformats.org/officeDocument/2006/relationships/customXml" Target="../ink/ink4.xml"/><Relationship Id="rId9"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640080" y="1371600"/>
            <a:ext cx="109728" cy="274320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960120" y="1378131"/>
            <a:ext cx="7315200" cy="365760"/>
          </a:xfrm>
          <a:prstGeom prst="rect">
            <a:avLst/>
          </a:prstGeom>
          <a:noFill/>
          <a:ln/>
        </p:spPr>
        <p:txBody>
          <a:bodyPr wrap="square" lIns="0" tIns="0" rIns="0" bIns="0" rtlCol="0" anchor="t"/>
          <a:lstStyle/>
          <a:p>
            <a:pPr marL="0" indent="0">
              <a:buNone/>
            </a:pPr>
            <a:r>
              <a:rPr lang="en-US" sz="1100" b="1" kern="0" spc="600" dirty="0">
                <a:solidFill>
                  <a:srgbClr val="B85042"/>
                </a:solidFill>
                <a:latin typeface="Calibri" pitchFamily="34" charset="0"/>
                <a:ea typeface="Calibri" pitchFamily="34" charset="-122"/>
                <a:cs typeface="Calibri" pitchFamily="34" charset="-120"/>
              </a:rPr>
              <a:t>CCDS25-0476  /  FINAL YEAR PROJECT</a:t>
            </a:r>
            <a:endParaRPr lang="en-US" sz="1100" dirty="0"/>
          </a:p>
        </p:txBody>
      </p:sp>
      <p:sp>
        <p:nvSpPr>
          <p:cNvPr id="4" name="Text 2"/>
          <p:cNvSpPr/>
          <p:nvPr/>
        </p:nvSpPr>
        <p:spPr>
          <a:xfrm>
            <a:off x="960120" y="1828800"/>
            <a:ext cx="7315200" cy="1828800"/>
          </a:xfrm>
          <a:prstGeom prst="rect">
            <a:avLst/>
          </a:prstGeom>
          <a:noFill/>
          <a:ln/>
        </p:spPr>
        <p:txBody>
          <a:bodyPr wrap="square" lIns="0" tIns="0" rIns="0" bIns="0" rtlCol="0" anchor="t"/>
          <a:lstStyle/>
          <a:p>
            <a:pPr marL="0" indent="0">
              <a:lnSpc>
                <a:spcPct val="115000"/>
              </a:lnSpc>
              <a:buNone/>
            </a:pPr>
            <a:r>
              <a:rPr lang="en-US" sz="3200" b="1" dirty="0">
                <a:solidFill>
                  <a:srgbClr val="FFFFFF"/>
                </a:solidFill>
                <a:latin typeface="Georgia" pitchFamily="34" charset="0"/>
                <a:ea typeface="Georgia" pitchFamily="34" charset="-122"/>
                <a:cs typeface="Georgia" pitchFamily="34" charset="-120"/>
              </a:rPr>
              <a:t>Building a Food Recognition</a:t>
            </a:r>
            <a:endParaRPr lang="en-US" sz="3200" dirty="0"/>
          </a:p>
          <a:p>
            <a:pPr marL="0" indent="0">
              <a:lnSpc>
                <a:spcPct val="115000"/>
              </a:lnSpc>
              <a:buNone/>
            </a:pPr>
            <a:r>
              <a:rPr lang="en-US" sz="3200" b="1" dirty="0">
                <a:solidFill>
                  <a:srgbClr val="FFFFFF"/>
                </a:solidFill>
                <a:latin typeface="Georgia" pitchFamily="34" charset="0"/>
                <a:ea typeface="Georgia" pitchFamily="34" charset="-122"/>
                <a:cs typeface="Georgia" pitchFamily="34" charset="-120"/>
              </a:rPr>
              <a:t>and Classification Model</a:t>
            </a:r>
            <a:endParaRPr lang="en-US" sz="3200" dirty="0"/>
          </a:p>
          <a:p>
            <a:pPr marL="0" indent="0">
              <a:lnSpc>
                <a:spcPct val="115000"/>
              </a:lnSpc>
              <a:buNone/>
            </a:pPr>
            <a:r>
              <a:rPr lang="en-US" sz="3200" b="1" dirty="0">
                <a:solidFill>
                  <a:srgbClr val="FFFFFF"/>
                </a:solidFill>
                <a:latin typeface="Georgia" pitchFamily="34" charset="0"/>
                <a:ea typeface="Georgia" pitchFamily="34" charset="-122"/>
                <a:cs typeface="Georgia" pitchFamily="34" charset="-120"/>
              </a:rPr>
              <a:t>to Count Calories</a:t>
            </a:r>
            <a:endParaRPr lang="en-US" sz="3200" dirty="0"/>
          </a:p>
        </p:txBody>
      </p:sp>
      <p:sp>
        <p:nvSpPr>
          <p:cNvPr id="5" name="Text 3"/>
          <p:cNvSpPr/>
          <p:nvPr/>
        </p:nvSpPr>
        <p:spPr>
          <a:xfrm>
            <a:off x="960120" y="3886200"/>
            <a:ext cx="7315200" cy="868680"/>
          </a:xfrm>
          <a:prstGeom prst="rect">
            <a:avLst/>
          </a:prstGeom>
          <a:noFill/>
          <a:ln/>
        </p:spPr>
        <p:txBody>
          <a:bodyPr wrap="square" lIns="0" tIns="0" rIns="0" bIns="0" rtlCol="0" anchor="t"/>
          <a:lstStyle/>
          <a:p>
            <a:pPr marL="0" indent="0">
              <a:buNone/>
            </a:pPr>
            <a:r>
              <a:rPr lang="en-US" sz="1300" b="1" kern="0" spc="300" dirty="0">
                <a:solidFill>
                  <a:srgbClr val="FFFFFF"/>
                </a:solidFill>
                <a:latin typeface="Calibri" pitchFamily="34" charset="0"/>
                <a:ea typeface="Calibri" pitchFamily="34" charset="-122"/>
                <a:cs typeface="Calibri" pitchFamily="34" charset="-120"/>
              </a:rPr>
              <a:t>LIM XIN WEI</a:t>
            </a:r>
            <a:endParaRPr lang="en-US" sz="1300" dirty="0"/>
          </a:p>
          <a:p>
            <a:pPr marL="0" indent="0">
              <a:buNone/>
            </a:pPr>
            <a:r>
              <a:rPr lang="en-US" sz="1100" dirty="0">
                <a:solidFill>
                  <a:srgbClr val="BBBBBB"/>
                </a:solidFill>
                <a:latin typeface="Calibri" pitchFamily="34" charset="0"/>
                <a:ea typeface="Calibri" pitchFamily="34" charset="-122"/>
                <a:cs typeface="Calibri" pitchFamily="34" charset="-120"/>
              </a:rPr>
              <a:t>Matric. No. U2240093B</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100" dirty="0">
                <a:solidFill>
                  <a:srgbClr val="BBBBBB"/>
                </a:solidFill>
                <a:latin typeface="Calibri" pitchFamily="34" charset="0"/>
                <a:ea typeface="Calibri" pitchFamily="34" charset="-122"/>
                <a:cs typeface="Calibri" pitchFamily="34" charset="-120"/>
              </a:rPr>
              <a:t>Supervisor   Dr. Josephine Chong Leng Leng</a:t>
            </a:r>
            <a:endParaRPr lang="en-US" sz="1300" dirty="0"/>
          </a:p>
          <a:p>
            <a:pPr marL="0" indent="0">
              <a:buNone/>
            </a:pPr>
            <a:r>
              <a:rPr lang="en-US" sz="1100" dirty="0">
                <a:solidFill>
                  <a:srgbClr val="BBBBBB"/>
                </a:solidFill>
                <a:latin typeface="Calibri" pitchFamily="34" charset="0"/>
                <a:ea typeface="Calibri" pitchFamily="34" charset="-122"/>
                <a:cs typeface="Calibri" pitchFamily="34" charset="-120"/>
              </a:rPr>
              <a:t>Examiner    Dr. Gu Chloe</a:t>
            </a:r>
            <a:endParaRPr lang="en-US" sz="1300" dirty="0"/>
          </a:p>
        </p:txBody>
      </p:sp>
      <p:sp>
        <p:nvSpPr>
          <p:cNvPr id="6" name="Text 4"/>
          <p:cNvSpPr/>
          <p:nvPr/>
        </p:nvSpPr>
        <p:spPr>
          <a:xfrm>
            <a:off x="457200" y="4800600"/>
            <a:ext cx="8229600" cy="274320"/>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College of Computing and Data Science  ·  Nanyang Technological University</a:t>
            </a:r>
            <a:endParaRPr lang="en-US" sz="900" dirty="0"/>
          </a:p>
        </p:txBody>
      </p:sp>
      <p:pic>
        <p:nvPicPr>
          <p:cNvPr id="11" name="Picture 10">
            <a:extLst>
              <a:ext uri="{FF2B5EF4-FFF2-40B4-BE49-F238E27FC236}">
                <a16:creationId xmlns:a16="http://schemas.microsoft.com/office/drawing/2014/main" id="{97B1C75C-48E8-F9E6-1503-17657E76432F}"/>
              </a:ext>
            </a:extLst>
          </p:cNvPr>
          <p:cNvPicPr>
            <a:picLocks noChangeAspect="1"/>
          </p:cNvPicPr>
          <p:nvPr/>
        </p:nvPicPr>
        <p:blipFill>
          <a:blip r:embed="rId3"/>
          <a:stretch>
            <a:fillRect/>
          </a:stretch>
        </p:blipFill>
        <p:spPr>
          <a:xfrm>
            <a:off x="5403070" y="-526506"/>
            <a:ext cx="4080510" cy="2720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 / 32</a:t>
            </a:r>
            <a:endParaRPr lang="en-US" sz="900" dirty="0"/>
          </a:p>
        </p:txBody>
      </p:sp>
      <p:sp>
        <p:nvSpPr>
          <p:cNvPr id="3" name="Text 1"/>
          <p:cNvSpPr/>
          <p:nvPr/>
        </p:nvSpPr>
        <p:spPr>
          <a:xfrm>
            <a:off x="457200" y="457200"/>
            <a:ext cx="8229600" cy="640080"/>
          </a:xfrm>
          <a:prstGeom prst="rect">
            <a:avLst/>
          </a:prstGeom>
          <a:noFill/>
          <a:ln/>
        </p:spPr>
        <p:txBody>
          <a:bodyPr wrap="square" lIns="0" tIns="0" rIns="0" bIns="0" rtlCol="0" anchor="ctr"/>
          <a:lstStyle/>
          <a:p>
            <a:pPr marL="0" indent="0">
              <a:buNone/>
            </a:pPr>
            <a:r>
              <a:rPr lang="en-US" sz="3000" b="1" dirty="0">
                <a:solidFill>
                  <a:srgbClr val="2B2B2B"/>
                </a:solidFill>
                <a:latin typeface="Georgia" pitchFamily="34" charset="0"/>
                <a:ea typeface="Georgia" pitchFamily="34" charset="-122"/>
                <a:cs typeface="Georgia" pitchFamily="34" charset="-120"/>
              </a:rPr>
              <a:t>Outline</a:t>
            </a:r>
            <a:endParaRPr lang="en-US" sz="3000" dirty="0"/>
          </a:p>
        </p:txBody>
      </p:sp>
      <p:sp>
        <p:nvSpPr>
          <p:cNvPr id="4" name="Text 2"/>
          <p:cNvSpPr/>
          <p:nvPr/>
        </p:nvSpPr>
        <p:spPr>
          <a:xfrm>
            <a:off x="457200" y="1371600"/>
            <a:ext cx="731520" cy="594360"/>
          </a:xfrm>
          <a:prstGeom prst="rect">
            <a:avLst/>
          </a:prstGeom>
          <a:noFill/>
          <a:ln/>
        </p:spPr>
        <p:txBody>
          <a:bodyPr wrap="square" lIns="0" tIns="0" rIns="0" bIns="0" rtlCol="0" anchor="ctr"/>
          <a:lstStyle/>
          <a:p>
            <a:pPr marL="0" indent="0">
              <a:buNone/>
            </a:pPr>
            <a:r>
              <a:rPr lang="en-US" sz="2200" b="1" dirty="0">
                <a:solidFill>
                  <a:srgbClr val="B85042"/>
                </a:solidFill>
                <a:latin typeface="Georgia" pitchFamily="34" charset="0"/>
                <a:ea typeface="Georgia" pitchFamily="34" charset="-122"/>
                <a:cs typeface="Georgia" pitchFamily="34" charset="-120"/>
              </a:rPr>
              <a:t>01</a:t>
            </a:r>
            <a:endParaRPr lang="en-US" sz="2200" dirty="0"/>
          </a:p>
        </p:txBody>
      </p:sp>
      <p:sp>
        <p:nvSpPr>
          <p:cNvPr id="5" name="Text 3"/>
          <p:cNvSpPr/>
          <p:nvPr/>
        </p:nvSpPr>
        <p:spPr>
          <a:xfrm>
            <a:off x="1280160" y="1371600"/>
            <a:ext cx="3840480" cy="5943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Problem &amp; Motivation</a:t>
            </a:r>
            <a:endParaRPr lang="en-US" sz="1600" dirty="0"/>
          </a:p>
        </p:txBody>
      </p:sp>
      <p:sp>
        <p:nvSpPr>
          <p:cNvPr id="6" name="Text 4"/>
          <p:cNvSpPr/>
          <p:nvPr/>
        </p:nvSpPr>
        <p:spPr>
          <a:xfrm>
            <a:off x="5120640" y="1371600"/>
            <a:ext cx="3657600" cy="59436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Why food image classification matters</a:t>
            </a:r>
            <a:endParaRPr lang="en-US" sz="1100" dirty="0"/>
          </a:p>
        </p:txBody>
      </p:sp>
      <p:sp>
        <p:nvSpPr>
          <p:cNvPr id="7" name="Shape 5"/>
          <p:cNvSpPr/>
          <p:nvPr/>
        </p:nvSpPr>
        <p:spPr>
          <a:xfrm>
            <a:off x="457200" y="1947672"/>
            <a:ext cx="8229600" cy="0"/>
          </a:xfrm>
          <a:prstGeom prst="line">
            <a:avLst/>
          </a:prstGeom>
          <a:noFill/>
          <a:ln w="6350">
            <a:solidFill>
              <a:srgbClr val="D8CFC0"/>
            </a:solidFill>
            <a:prstDash val="solid"/>
          </a:ln>
        </p:spPr>
        <p:txBody>
          <a:bodyPr/>
          <a:lstStyle/>
          <a:p>
            <a:endParaRPr lang="en-US"/>
          </a:p>
        </p:txBody>
      </p:sp>
      <p:sp>
        <p:nvSpPr>
          <p:cNvPr id="8" name="Text 6"/>
          <p:cNvSpPr/>
          <p:nvPr/>
        </p:nvSpPr>
        <p:spPr>
          <a:xfrm>
            <a:off x="457200" y="1965960"/>
            <a:ext cx="731520" cy="594360"/>
          </a:xfrm>
          <a:prstGeom prst="rect">
            <a:avLst/>
          </a:prstGeom>
          <a:noFill/>
          <a:ln/>
        </p:spPr>
        <p:txBody>
          <a:bodyPr wrap="square" lIns="0" tIns="0" rIns="0" bIns="0" rtlCol="0" anchor="ctr"/>
          <a:lstStyle/>
          <a:p>
            <a:pPr marL="0" indent="0">
              <a:buNone/>
            </a:pPr>
            <a:r>
              <a:rPr lang="en-US" sz="2200" b="1" dirty="0">
                <a:solidFill>
                  <a:srgbClr val="B85042"/>
                </a:solidFill>
                <a:latin typeface="Georgia" pitchFamily="34" charset="0"/>
                <a:ea typeface="Georgia" pitchFamily="34" charset="-122"/>
                <a:cs typeface="Georgia" pitchFamily="34" charset="-120"/>
              </a:rPr>
              <a:t>02</a:t>
            </a:r>
            <a:endParaRPr lang="en-US" sz="2200" dirty="0"/>
          </a:p>
        </p:txBody>
      </p:sp>
      <p:sp>
        <p:nvSpPr>
          <p:cNvPr id="9" name="Text 7"/>
          <p:cNvSpPr/>
          <p:nvPr/>
        </p:nvSpPr>
        <p:spPr>
          <a:xfrm>
            <a:off x="1280160" y="1965960"/>
            <a:ext cx="3840480" cy="5943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Literature Review</a:t>
            </a:r>
            <a:endParaRPr lang="en-US" sz="1600" dirty="0"/>
          </a:p>
        </p:txBody>
      </p:sp>
      <p:sp>
        <p:nvSpPr>
          <p:cNvPr id="10" name="Text 8"/>
          <p:cNvSpPr/>
          <p:nvPr/>
        </p:nvSpPr>
        <p:spPr>
          <a:xfrm>
            <a:off x="5120640" y="1965960"/>
            <a:ext cx="3657600" cy="59436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Three architectural paradigms, research gaps, contributions</a:t>
            </a:r>
            <a:endParaRPr lang="en-US" sz="1100" dirty="0"/>
          </a:p>
        </p:txBody>
      </p:sp>
      <p:sp>
        <p:nvSpPr>
          <p:cNvPr id="11" name="Shape 9"/>
          <p:cNvSpPr/>
          <p:nvPr/>
        </p:nvSpPr>
        <p:spPr>
          <a:xfrm>
            <a:off x="457200" y="2542032"/>
            <a:ext cx="8229600" cy="0"/>
          </a:xfrm>
          <a:prstGeom prst="line">
            <a:avLst/>
          </a:prstGeom>
          <a:noFill/>
          <a:ln w="6350">
            <a:solidFill>
              <a:srgbClr val="D8CFC0"/>
            </a:solidFill>
            <a:prstDash val="solid"/>
          </a:ln>
        </p:spPr>
        <p:txBody>
          <a:bodyPr/>
          <a:lstStyle/>
          <a:p>
            <a:endParaRPr lang="en-US"/>
          </a:p>
        </p:txBody>
      </p:sp>
      <p:sp>
        <p:nvSpPr>
          <p:cNvPr id="12" name="Text 10"/>
          <p:cNvSpPr/>
          <p:nvPr/>
        </p:nvSpPr>
        <p:spPr>
          <a:xfrm>
            <a:off x="457200" y="2560320"/>
            <a:ext cx="731520" cy="594360"/>
          </a:xfrm>
          <a:prstGeom prst="rect">
            <a:avLst/>
          </a:prstGeom>
          <a:noFill/>
          <a:ln/>
        </p:spPr>
        <p:txBody>
          <a:bodyPr wrap="square" lIns="0" tIns="0" rIns="0" bIns="0" rtlCol="0" anchor="ctr"/>
          <a:lstStyle/>
          <a:p>
            <a:pPr marL="0" indent="0">
              <a:buNone/>
            </a:pPr>
            <a:r>
              <a:rPr lang="en-US" sz="2200" b="1" dirty="0">
                <a:solidFill>
                  <a:srgbClr val="B85042"/>
                </a:solidFill>
                <a:latin typeface="Georgia" pitchFamily="34" charset="0"/>
                <a:ea typeface="Georgia" pitchFamily="34" charset="-122"/>
                <a:cs typeface="Georgia" pitchFamily="34" charset="-120"/>
              </a:rPr>
              <a:t>03</a:t>
            </a:r>
            <a:endParaRPr lang="en-US" sz="2200" dirty="0"/>
          </a:p>
        </p:txBody>
      </p:sp>
      <p:sp>
        <p:nvSpPr>
          <p:cNvPr id="13" name="Text 11"/>
          <p:cNvSpPr/>
          <p:nvPr/>
        </p:nvSpPr>
        <p:spPr>
          <a:xfrm>
            <a:off x="1280160" y="2560320"/>
            <a:ext cx="3840480" cy="5943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Research Methodology</a:t>
            </a:r>
            <a:endParaRPr lang="en-US" sz="1600" dirty="0"/>
          </a:p>
        </p:txBody>
      </p:sp>
      <p:sp>
        <p:nvSpPr>
          <p:cNvPr id="14" name="Text 12"/>
          <p:cNvSpPr/>
          <p:nvPr/>
        </p:nvSpPr>
        <p:spPr>
          <a:xfrm>
            <a:off x="5120640" y="2560320"/>
            <a:ext cx="3657600" cy="59436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Datasets, cleaning pipeline, training protocol, </a:t>
            </a:r>
          </a:p>
          <a:p>
            <a:pPr marL="0" indent="0">
              <a:buNone/>
            </a:pPr>
            <a:r>
              <a:rPr lang="en-US" sz="1100" dirty="0">
                <a:solidFill>
                  <a:srgbClr val="454545"/>
                </a:solidFill>
                <a:latin typeface="Calibri" pitchFamily="34" charset="0"/>
                <a:ea typeface="Calibri" pitchFamily="34" charset="-122"/>
                <a:cs typeface="Calibri" pitchFamily="34" charset="-120"/>
              </a:rPr>
              <a:t>evaluation frameworks</a:t>
            </a:r>
            <a:endParaRPr lang="en-US" sz="1100" dirty="0"/>
          </a:p>
        </p:txBody>
      </p:sp>
      <p:sp>
        <p:nvSpPr>
          <p:cNvPr id="15" name="Shape 13"/>
          <p:cNvSpPr/>
          <p:nvPr/>
        </p:nvSpPr>
        <p:spPr>
          <a:xfrm>
            <a:off x="457200" y="3136392"/>
            <a:ext cx="8229600" cy="0"/>
          </a:xfrm>
          <a:prstGeom prst="line">
            <a:avLst/>
          </a:prstGeom>
          <a:noFill/>
          <a:ln w="6350">
            <a:solidFill>
              <a:srgbClr val="D8CFC0"/>
            </a:solidFill>
            <a:prstDash val="solid"/>
          </a:ln>
        </p:spPr>
        <p:txBody>
          <a:bodyPr/>
          <a:lstStyle/>
          <a:p>
            <a:endParaRPr lang="en-US"/>
          </a:p>
        </p:txBody>
      </p:sp>
      <p:sp>
        <p:nvSpPr>
          <p:cNvPr id="16" name="Text 14"/>
          <p:cNvSpPr/>
          <p:nvPr/>
        </p:nvSpPr>
        <p:spPr>
          <a:xfrm>
            <a:off x="457200" y="3154680"/>
            <a:ext cx="731520" cy="594360"/>
          </a:xfrm>
          <a:prstGeom prst="rect">
            <a:avLst/>
          </a:prstGeom>
          <a:noFill/>
          <a:ln/>
        </p:spPr>
        <p:txBody>
          <a:bodyPr wrap="square" lIns="0" tIns="0" rIns="0" bIns="0" rtlCol="0" anchor="ctr"/>
          <a:lstStyle/>
          <a:p>
            <a:pPr marL="0" indent="0">
              <a:buNone/>
            </a:pPr>
            <a:r>
              <a:rPr lang="en-US" sz="2200" b="1" dirty="0">
                <a:solidFill>
                  <a:srgbClr val="B85042"/>
                </a:solidFill>
                <a:latin typeface="Georgia" pitchFamily="34" charset="0"/>
                <a:ea typeface="Georgia" pitchFamily="34" charset="-122"/>
                <a:cs typeface="Georgia" pitchFamily="34" charset="-120"/>
              </a:rPr>
              <a:t>04</a:t>
            </a:r>
            <a:endParaRPr lang="en-US" sz="2200" dirty="0"/>
          </a:p>
        </p:txBody>
      </p:sp>
      <p:sp>
        <p:nvSpPr>
          <p:cNvPr id="17" name="Text 15"/>
          <p:cNvSpPr/>
          <p:nvPr/>
        </p:nvSpPr>
        <p:spPr>
          <a:xfrm>
            <a:off x="1280160" y="3154680"/>
            <a:ext cx="3840480" cy="5943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Results &amp; Discussion</a:t>
            </a:r>
            <a:endParaRPr lang="en-US" sz="1600" dirty="0"/>
          </a:p>
        </p:txBody>
      </p:sp>
      <p:sp>
        <p:nvSpPr>
          <p:cNvPr id="18" name="Text 16"/>
          <p:cNvSpPr/>
          <p:nvPr/>
        </p:nvSpPr>
        <p:spPr>
          <a:xfrm>
            <a:off x="5120640" y="3154680"/>
            <a:ext cx="3657600" cy="59436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Performance hierarchy, error analysis, learning rate study</a:t>
            </a:r>
          </a:p>
        </p:txBody>
      </p:sp>
      <p:sp>
        <p:nvSpPr>
          <p:cNvPr id="19" name="Shape 17"/>
          <p:cNvSpPr/>
          <p:nvPr/>
        </p:nvSpPr>
        <p:spPr>
          <a:xfrm>
            <a:off x="457200" y="3730752"/>
            <a:ext cx="8229600" cy="0"/>
          </a:xfrm>
          <a:prstGeom prst="line">
            <a:avLst/>
          </a:prstGeom>
          <a:noFill/>
          <a:ln w="6350">
            <a:solidFill>
              <a:srgbClr val="D8CFC0"/>
            </a:solidFill>
            <a:prstDash val="solid"/>
          </a:ln>
        </p:spPr>
        <p:txBody>
          <a:bodyPr/>
          <a:lstStyle/>
          <a:p>
            <a:endParaRPr lang="en-US"/>
          </a:p>
        </p:txBody>
      </p:sp>
      <p:sp>
        <p:nvSpPr>
          <p:cNvPr id="20" name="Text 18"/>
          <p:cNvSpPr/>
          <p:nvPr/>
        </p:nvSpPr>
        <p:spPr>
          <a:xfrm>
            <a:off x="457200" y="3749040"/>
            <a:ext cx="731520" cy="594360"/>
          </a:xfrm>
          <a:prstGeom prst="rect">
            <a:avLst/>
          </a:prstGeom>
          <a:noFill/>
          <a:ln/>
        </p:spPr>
        <p:txBody>
          <a:bodyPr wrap="square" lIns="0" tIns="0" rIns="0" bIns="0" rtlCol="0" anchor="ctr"/>
          <a:lstStyle/>
          <a:p>
            <a:pPr marL="0" indent="0">
              <a:buNone/>
            </a:pPr>
            <a:r>
              <a:rPr lang="en-US" sz="2200" b="1" dirty="0">
                <a:solidFill>
                  <a:srgbClr val="B85042"/>
                </a:solidFill>
                <a:latin typeface="Georgia" pitchFamily="34" charset="0"/>
                <a:ea typeface="Georgia" pitchFamily="34" charset="-122"/>
                <a:cs typeface="Georgia" pitchFamily="34" charset="-120"/>
              </a:rPr>
              <a:t>05</a:t>
            </a:r>
            <a:endParaRPr lang="en-US" sz="2200" dirty="0"/>
          </a:p>
        </p:txBody>
      </p:sp>
      <p:sp>
        <p:nvSpPr>
          <p:cNvPr id="21" name="Text 19"/>
          <p:cNvSpPr/>
          <p:nvPr/>
        </p:nvSpPr>
        <p:spPr>
          <a:xfrm>
            <a:off x="1280160" y="3749040"/>
            <a:ext cx="3840480" cy="5943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Limitation, Future Work &amp; Demo</a:t>
            </a:r>
            <a:endParaRPr lang="en-US" sz="1600" dirty="0"/>
          </a:p>
        </p:txBody>
      </p:sp>
      <p:sp>
        <p:nvSpPr>
          <p:cNvPr id="22" name="Text 20"/>
          <p:cNvSpPr/>
          <p:nvPr/>
        </p:nvSpPr>
        <p:spPr>
          <a:xfrm>
            <a:off x="5120640" y="3749040"/>
            <a:ext cx="3657600" cy="59436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Synthesis, limitations, next steps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01  /  PROBLEM &amp; MOTIVATION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3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Diet, health, and the tracking problem</a:t>
            </a:r>
            <a:endParaRPr lang="en-US" sz="2600" dirty="0"/>
          </a:p>
        </p:txBody>
      </p:sp>
      <p:sp>
        <p:nvSpPr>
          <p:cNvPr id="6" name="Shape 4"/>
          <p:cNvSpPr/>
          <p:nvPr/>
        </p:nvSpPr>
        <p:spPr>
          <a:xfrm>
            <a:off x="457200" y="1783080"/>
            <a:ext cx="3840480" cy="2651760"/>
          </a:xfrm>
          <a:prstGeom prst="rect">
            <a:avLst/>
          </a:prstGeom>
          <a:solidFill>
            <a:srgbClr val="F5F0E6"/>
          </a:solidFill>
          <a:ln w="12700">
            <a:solidFill>
              <a:srgbClr val="F5F0E6"/>
            </a:solidFill>
            <a:prstDash val="solid"/>
          </a:ln>
        </p:spPr>
        <p:txBody>
          <a:bodyPr/>
          <a:lstStyle/>
          <a:p>
            <a:endParaRPr lang="en-US"/>
          </a:p>
        </p:txBody>
      </p:sp>
      <p:sp>
        <p:nvSpPr>
          <p:cNvPr id="7" name="Text 5"/>
          <p:cNvSpPr/>
          <p:nvPr/>
        </p:nvSpPr>
        <p:spPr>
          <a:xfrm>
            <a:off x="731520" y="1965960"/>
            <a:ext cx="3383280" cy="365760"/>
          </a:xfrm>
          <a:prstGeom prst="rect">
            <a:avLst/>
          </a:prstGeom>
          <a:noFill/>
          <a:ln/>
        </p:spPr>
        <p:txBody>
          <a:bodyPr wrap="square" lIns="0" tIns="0" rIns="0" bIns="0" rtlCol="0" anchor="ctr"/>
          <a:lstStyle/>
          <a:p>
            <a:pPr marL="0" indent="0">
              <a:buNone/>
            </a:pPr>
            <a:r>
              <a:rPr lang="en-US" sz="1200" dirty="0">
                <a:solidFill>
                  <a:srgbClr val="454545"/>
                </a:solidFill>
                <a:latin typeface="Calibri" pitchFamily="34" charset="0"/>
                <a:ea typeface="Calibri" pitchFamily="34" charset="-122"/>
                <a:cs typeface="Calibri" pitchFamily="34" charset="-120"/>
              </a:rPr>
              <a:t>Diet is one of the few</a:t>
            </a:r>
            <a:endParaRPr lang="en-US" sz="1200" dirty="0"/>
          </a:p>
        </p:txBody>
      </p:sp>
      <p:sp>
        <p:nvSpPr>
          <p:cNvPr id="8" name="Text 6"/>
          <p:cNvSpPr/>
          <p:nvPr/>
        </p:nvSpPr>
        <p:spPr>
          <a:xfrm>
            <a:off x="731520" y="2331720"/>
            <a:ext cx="3383280" cy="640080"/>
          </a:xfrm>
          <a:prstGeom prst="rect">
            <a:avLst/>
          </a:prstGeom>
          <a:noFill/>
          <a:ln/>
        </p:spPr>
        <p:txBody>
          <a:bodyPr wrap="square" lIns="0" tIns="0" rIns="0" bIns="0" rtlCol="0" anchor="ctr"/>
          <a:lstStyle/>
          <a:p>
            <a:pPr marL="0" indent="0">
              <a:buNone/>
            </a:pPr>
            <a:r>
              <a:rPr lang="en-US" sz="3000" b="1" kern="0" spc="200" dirty="0">
                <a:solidFill>
                  <a:srgbClr val="B85042"/>
                </a:solidFill>
                <a:latin typeface="Georgia" pitchFamily="34" charset="0"/>
                <a:ea typeface="Georgia" pitchFamily="34" charset="-122"/>
                <a:cs typeface="Georgia" pitchFamily="34" charset="-120"/>
              </a:rPr>
              <a:t>MODIFIABLE</a:t>
            </a:r>
            <a:endParaRPr lang="en-US" sz="3000" dirty="0"/>
          </a:p>
        </p:txBody>
      </p:sp>
      <p:sp>
        <p:nvSpPr>
          <p:cNvPr id="9" name="Text 7"/>
          <p:cNvSpPr/>
          <p:nvPr/>
        </p:nvSpPr>
        <p:spPr>
          <a:xfrm>
            <a:off x="731520" y="2971800"/>
            <a:ext cx="3383280" cy="365760"/>
          </a:xfrm>
          <a:prstGeom prst="rect">
            <a:avLst/>
          </a:prstGeom>
          <a:noFill/>
          <a:ln/>
        </p:spPr>
        <p:txBody>
          <a:bodyPr wrap="square" lIns="0" tIns="0" rIns="0" bIns="0" rtlCol="0" anchor="ctr"/>
          <a:lstStyle/>
          <a:p>
            <a:pPr marL="0" indent="0">
              <a:buNone/>
            </a:pPr>
            <a:r>
              <a:rPr lang="en-US" sz="1200" dirty="0">
                <a:solidFill>
                  <a:srgbClr val="454545"/>
                </a:solidFill>
                <a:latin typeface="Calibri" pitchFamily="34" charset="0"/>
                <a:ea typeface="Calibri" pitchFamily="34" charset="-122"/>
                <a:cs typeface="Calibri" pitchFamily="34" charset="-120"/>
              </a:rPr>
              <a:t>risk factors for chronic disease</a:t>
            </a:r>
            <a:endParaRPr lang="en-US" sz="1200" dirty="0"/>
          </a:p>
        </p:txBody>
      </p:sp>
      <p:sp>
        <p:nvSpPr>
          <p:cNvPr id="10" name="Text 8"/>
          <p:cNvSpPr/>
          <p:nvPr/>
        </p:nvSpPr>
        <p:spPr>
          <a:xfrm>
            <a:off x="731520" y="3657600"/>
            <a:ext cx="3383280" cy="365760"/>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Diabetes  ·  Obesity  ·  Cardiovascular disease</a:t>
            </a:r>
            <a:endParaRPr lang="en-US" sz="1000" dirty="0"/>
          </a:p>
        </p:txBody>
      </p:sp>
      <p:sp>
        <p:nvSpPr>
          <p:cNvPr id="11" name="Text 9"/>
          <p:cNvSpPr/>
          <p:nvPr/>
        </p:nvSpPr>
        <p:spPr>
          <a:xfrm>
            <a:off x="4663440" y="1783080"/>
            <a:ext cx="4023360" cy="320040"/>
          </a:xfrm>
          <a:prstGeom prst="rect">
            <a:avLst/>
          </a:prstGeom>
          <a:noFill/>
          <a:ln/>
        </p:spPr>
        <p:txBody>
          <a:bodyPr wrap="square" lIns="0" tIns="0" rIns="0" bIns="0" rtlCol="0" anchor="ctr"/>
          <a:lstStyle/>
          <a:p>
            <a:pPr marL="0" indent="0">
              <a:buNone/>
            </a:pPr>
            <a:r>
              <a:rPr lang="en-US" sz="1100" b="1" kern="0" spc="300" dirty="0">
                <a:solidFill>
                  <a:srgbClr val="5C7A55"/>
                </a:solidFill>
                <a:latin typeface="Calibri" pitchFamily="34" charset="0"/>
                <a:ea typeface="Calibri" pitchFamily="34" charset="-122"/>
                <a:cs typeface="Calibri" pitchFamily="34" charset="-120"/>
              </a:rPr>
              <a:t>Singapore's response</a:t>
            </a:r>
            <a:endParaRPr lang="en-US" sz="1100" dirty="0"/>
          </a:p>
        </p:txBody>
      </p:sp>
      <p:sp>
        <p:nvSpPr>
          <p:cNvPr id="12" name="Text 10"/>
          <p:cNvSpPr/>
          <p:nvPr/>
        </p:nvSpPr>
        <p:spPr>
          <a:xfrm>
            <a:off x="4663440" y="2148840"/>
            <a:ext cx="4023360" cy="868680"/>
          </a:xfrm>
          <a:prstGeom prst="rect">
            <a:avLst/>
          </a:prstGeom>
          <a:noFill/>
          <a:ln/>
        </p:spPr>
        <p:txBody>
          <a:bodyPr wrap="square" lIns="0" tIns="0" rIns="0" bIns="0" rtlCol="0" anchor="t"/>
          <a:lstStyle/>
          <a:p>
            <a:pPr marL="0" indent="0">
              <a:spcAft>
                <a:spcPts val="600"/>
              </a:spcAft>
              <a:buNone/>
            </a:pPr>
            <a:r>
              <a:rPr lang="en-US" sz="1400" b="1" dirty="0">
                <a:solidFill>
                  <a:srgbClr val="2B2B2B"/>
                </a:solidFill>
                <a:latin typeface="Calibri" pitchFamily="34" charset="0"/>
                <a:ea typeface="Calibri" pitchFamily="34" charset="-122"/>
                <a:cs typeface="Calibri" pitchFamily="34" charset="-120"/>
              </a:rPr>
              <a:t>Healthier SG  </a:t>
            </a:r>
            <a:r>
              <a:rPr lang="en-US" sz="1300" dirty="0">
                <a:solidFill>
                  <a:srgbClr val="454545"/>
                </a:solidFill>
                <a:latin typeface="Calibri" pitchFamily="34" charset="0"/>
                <a:ea typeface="Calibri" pitchFamily="34" charset="-122"/>
                <a:cs typeface="Calibri" pitchFamily="34" charset="-120"/>
              </a:rPr>
              <a:t>— national initiative for preventive care, targeting the </a:t>
            </a:r>
            <a:r>
              <a:rPr lang="en-US" sz="1300" i="1" dirty="0">
                <a:solidFill>
                  <a:srgbClr val="2B2B2B"/>
                </a:solidFill>
                <a:latin typeface="Calibri" pitchFamily="34" charset="0"/>
                <a:ea typeface="Calibri" pitchFamily="34" charset="-122"/>
                <a:cs typeface="Calibri" pitchFamily="34" charset="-120"/>
              </a:rPr>
              <a:t>“3H” problems</a:t>
            </a:r>
            <a:r>
              <a:rPr lang="en-US" sz="1300" dirty="0">
                <a:solidFill>
                  <a:srgbClr val="454545"/>
                </a:solidFill>
                <a:latin typeface="Calibri" pitchFamily="34" charset="0"/>
                <a:ea typeface="Calibri" pitchFamily="34" charset="-122"/>
                <a:cs typeface="Calibri" pitchFamily="34" charset="-120"/>
              </a:rPr>
              <a:t> (hyperglycemia, hypertension, hyperlipidemia)</a:t>
            </a:r>
            <a:endParaRPr lang="en-US" sz="1400" dirty="0"/>
          </a:p>
        </p:txBody>
      </p:sp>
      <p:sp>
        <p:nvSpPr>
          <p:cNvPr id="13" name="Text 11"/>
          <p:cNvSpPr/>
          <p:nvPr/>
        </p:nvSpPr>
        <p:spPr>
          <a:xfrm>
            <a:off x="4663440" y="3154680"/>
            <a:ext cx="4023360" cy="36576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But preventive care needs accurate dietary data.</a:t>
            </a:r>
            <a:endParaRPr lang="en-US" sz="1300" dirty="0"/>
          </a:p>
        </p:txBody>
      </p:sp>
      <p:sp>
        <p:nvSpPr>
          <p:cNvPr id="14" name="Text 12"/>
          <p:cNvSpPr/>
          <p:nvPr/>
        </p:nvSpPr>
        <p:spPr>
          <a:xfrm>
            <a:off x="4663440" y="3611880"/>
            <a:ext cx="4023360" cy="822960"/>
          </a:xfrm>
          <a:prstGeom prst="rect">
            <a:avLst/>
          </a:prstGeom>
          <a:noFill/>
          <a:ln/>
        </p:spPr>
        <p:txBody>
          <a:bodyPr wrap="square" lIns="0" tIns="0" rIns="0" bIns="0" rtlCol="0" anchor="t"/>
          <a:lstStyle/>
          <a:p>
            <a:pPr marL="0" indent="0">
              <a:buNone/>
            </a:pPr>
            <a:r>
              <a:rPr lang="en-US" sz="1300" b="1" dirty="0">
                <a:solidFill>
                  <a:srgbClr val="B85042"/>
                </a:solidFill>
                <a:latin typeface="Calibri" pitchFamily="34" charset="0"/>
                <a:ea typeface="Calibri" pitchFamily="34" charset="-122"/>
                <a:cs typeface="Calibri" pitchFamily="34" charset="-120"/>
              </a:rPr>
              <a:t>Manual food logging  </a:t>
            </a:r>
            <a:r>
              <a:rPr lang="en-US" sz="1300" dirty="0">
                <a:solidFill>
                  <a:srgbClr val="454545"/>
                </a:solidFill>
                <a:latin typeface="Calibri" pitchFamily="34" charset="0"/>
                <a:ea typeface="Calibri" pitchFamily="34" charset="-122"/>
                <a:cs typeface="Calibri" pitchFamily="34" charset="-120"/>
              </a:rPr>
              <a:t>is tedious, error-prone, and quickly abandoned — people are not good at eyeballing portions or nutrient content.</a:t>
            </a:r>
            <a:endParaRPr lang="en-US" sz="1300" dirty="0"/>
          </a:p>
        </p:txBody>
      </p:sp>
      <p:pic>
        <p:nvPicPr>
          <p:cNvPr id="16" name="Picture 15">
            <a:extLst>
              <a:ext uri="{FF2B5EF4-FFF2-40B4-BE49-F238E27FC236}">
                <a16:creationId xmlns:a16="http://schemas.microsoft.com/office/drawing/2014/main" id="{35F42DB3-2BA5-CF9B-B159-1C84BBD0277E}"/>
              </a:ext>
            </a:extLst>
          </p:cNvPr>
          <p:cNvPicPr>
            <a:picLocks noChangeAspect="1"/>
          </p:cNvPicPr>
          <p:nvPr/>
        </p:nvPicPr>
        <p:blipFill>
          <a:blip r:embed="rId3"/>
          <a:stretch>
            <a:fillRect/>
          </a:stretch>
        </p:blipFill>
        <p:spPr>
          <a:xfrm>
            <a:off x="6689795" y="1637865"/>
            <a:ext cx="1997005" cy="4652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01  /  PROBLEM &amp; MOTIVATION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4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Automation via food image recognition</a:t>
            </a:r>
            <a:endParaRPr lang="en-US" sz="2600" dirty="0"/>
          </a:p>
        </p:txBody>
      </p:sp>
      <p:sp>
        <p:nvSpPr>
          <p:cNvPr id="6" name="Shape 4"/>
          <p:cNvSpPr/>
          <p:nvPr/>
        </p:nvSpPr>
        <p:spPr>
          <a:xfrm>
            <a:off x="914400" y="3174746"/>
            <a:ext cx="1691640" cy="1005840"/>
          </a:xfrm>
          <a:prstGeom prst="rect">
            <a:avLst/>
          </a:prstGeom>
          <a:solidFill>
            <a:srgbClr val="F5F0E6"/>
          </a:solidFill>
          <a:ln w="6350">
            <a:solidFill>
              <a:srgbClr val="D8CFC0"/>
            </a:solidFill>
            <a:prstDash val="solid"/>
          </a:ln>
        </p:spPr>
        <p:txBody>
          <a:bodyPr/>
          <a:lstStyle/>
          <a:p>
            <a:endParaRPr lang="en-US"/>
          </a:p>
        </p:txBody>
      </p:sp>
      <p:sp>
        <p:nvSpPr>
          <p:cNvPr id="7" name="Text 5"/>
          <p:cNvSpPr/>
          <p:nvPr/>
        </p:nvSpPr>
        <p:spPr>
          <a:xfrm>
            <a:off x="914400" y="3357626"/>
            <a:ext cx="1691640" cy="365760"/>
          </a:xfrm>
          <a:prstGeom prst="rect">
            <a:avLst/>
          </a:prstGeom>
          <a:noFill/>
          <a:ln/>
        </p:spPr>
        <p:txBody>
          <a:bodyPr wrap="square" lIns="0" tIns="0" rIns="0" bIns="0" rtlCol="0" anchor="ctr"/>
          <a:lstStyle/>
          <a:p>
            <a:pPr marL="0" indent="0" algn="ctr">
              <a:buNone/>
            </a:pPr>
            <a:r>
              <a:rPr lang="en-US" sz="1600" b="1" dirty="0">
                <a:solidFill>
                  <a:srgbClr val="2B2B2B"/>
                </a:solidFill>
                <a:latin typeface="Georgia" pitchFamily="34" charset="0"/>
                <a:ea typeface="Georgia" pitchFamily="34" charset="-122"/>
                <a:cs typeface="Georgia" pitchFamily="34" charset="-120"/>
              </a:rPr>
              <a:t>Capture</a:t>
            </a:r>
            <a:endParaRPr lang="en-US" sz="1600" dirty="0"/>
          </a:p>
        </p:txBody>
      </p:sp>
      <p:sp>
        <p:nvSpPr>
          <p:cNvPr id="8" name="Text 6"/>
          <p:cNvSpPr/>
          <p:nvPr/>
        </p:nvSpPr>
        <p:spPr>
          <a:xfrm>
            <a:off x="914400" y="3741674"/>
            <a:ext cx="1691640" cy="365760"/>
          </a:xfrm>
          <a:prstGeom prst="rect">
            <a:avLst/>
          </a:prstGeom>
          <a:noFill/>
          <a:ln/>
        </p:spPr>
        <p:txBody>
          <a:bodyPr wrap="square" lIns="0" tIns="0" rIns="0" bIns="0"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food photo</a:t>
            </a:r>
            <a:endParaRPr lang="en-US" sz="1000" dirty="0"/>
          </a:p>
        </p:txBody>
      </p:sp>
      <p:sp>
        <p:nvSpPr>
          <p:cNvPr id="9" name="Text 7"/>
          <p:cNvSpPr/>
          <p:nvPr/>
        </p:nvSpPr>
        <p:spPr>
          <a:xfrm>
            <a:off x="2606040" y="3174746"/>
            <a:ext cx="182880" cy="1005840"/>
          </a:xfrm>
          <a:prstGeom prst="rect">
            <a:avLst/>
          </a:prstGeom>
          <a:noFill/>
          <a:ln/>
        </p:spPr>
        <p:txBody>
          <a:bodyPr wrap="square" lIns="0" tIns="0" rIns="0" bIns="0" rtlCol="0" anchor="ctr"/>
          <a:lstStyle/>
          <a:p>
            <a:pPr marL="0" indent="0" algn="ctr">
              <a:buNone/>
            </a:pPr>
            <a:r>
              <a:rPr lang="en-US" sz="2400" b="1" dirty="0">
                <a:solidFill>
                  <a:srgbClr val="888888"/>
                </a:solidFill>
                <a:latin typeface="Georgia" pitchFamily="34" charset="0"/>
                <a:ea typeface="Georgia" pitchFamily="34" charset="-122"/>
                <a:cs typeface="Georgia" pitchFamily="34" charset="-120"/>
              </a:rPr>
              <a:t>›</a:t>
            </a:r>
            <a:endParaRPr lang="en-US" sz="2400" dirty="0"/>
          </a:p>
        </p:txBody>
      </p:sp>
      <p:sp>
        <p:nvSpPr>
          <p:cNvPr id="10" name="Shape 8"/>
          <p:cNvSpPr/>
          <p:nvPr/>
        </p:nvSpPr>
        <p:spPr>
          <a:xfrm>
            <a:off x="2788920" y="3174746"/>
            <a:ext cx="1691640" cy="1005840"/>
          </a:xfrm>
          <a:prstGeom prst="rect">
            <a:avLst/>
          </a:prstGeom>
          <a:solidFill>
            <a:srgbClr val="B85042"/>
          </a:solidFill>
          <a:ln w="6350">
            <a:solidFill>
              <a:srgbClr val="B85042"/>
            </a:solidFill>
            <a:prstDash val="solid"/>
          </a:ln>
        </p:spPr>
        <p:txBody>
          <a:bodyPr/>
          <a:lstStyle/>
          <a:p>
            <a:endParaRPr lang="en-US"/>
          </a:p>
        </p:txBody>
      </p:sp>
      <p:sp>
        <p:nvSpPr>
          <p:cNvPr id="11" name="Text 9"/>
          <p:cNvSpPr/>
          <p:nvPr/>
        </p:nvSpPr>
        <p:spPr>
          <a:xfrm>
            <a:off x="2788920" y="3357626"/>
            <a:ext cx="1691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Classify</a:t>
            </a:r>
            <a:endParaRPr lang="en-US" sz="1600" dirty="0"/>
          </a:p>
        </p:txBody>
      </p:sp>
      <p:sp>
        <p:nvSpPr>
          <p:cNvPr id="12" name="Text 10"/>
          <p:cNvSpPr/>
          <p:nvPr/>
        </p:nvSpPr>
        <p:spPr>
          <a:xfrm>
            <a:off x="2788920" y="3741674"/>
            <a:ext cx="1691640" cy="365760"/>
          </a:xfrm>
          <a:prstGeom prst="rect">
            <a:avLst/>
          </a:prstGeom>
          <a:noFill/>
          <a:ln/>
        </p:spPr>
        <p:txBody>
          <a:bodyPr wrap="square" lIns="0" tIns="0" rIns="0" bIns="0" rtlCol="0" anchor="ctr"/>
          <a:lstStyle/>
          <a:p>
            <a:pPr marL="0" indent="0" algn="ctr">
              <a:buNone/>
            </a:pPr>
            <a:r>
              <a:rPr lang="en-US" sz="1000" i="1" dirty="0">
                <a:solidFill>
                  <a:srgbClr val="F5D9CF"/>
                </a:solidFill>
                <a:latin typeface="Calibri" pitchFamily="34" charset="0"/>
                <a:ea typeface="Calibri" pitchFamily="34" charset="-122"/>
                <a:cs typeface="Calibri" pitchFamily="34" charset="-120"/>
              </a:rPr>
              <a:t>deep-learning model</a:t>
            </a:r>
            <a:endParaRPr lang="en-US" sz="1000" dirty="0"/>
          </a:p>
        </p:txBody>
      </p:sp>
      <p:sp>
        <p:nvSpPr>
          <p:cNvPr id="13" name="Text 11"/>
          <p:cNvSpPr/>
          <p:nvPr/>
        </p:nvSpPr>
        <p:spPr>
          <a:xfrm>
            <a:off x="4480560" y="3174746"/>
            <a:ext cx="182880" cy="1005840"/>
          </a:xfrm>
          <a:prstGeom prst="rect">
            <a:avLst/>
          </a:prstGeom>
          <a:noFill/>
          <a:ln/>
        </p:spPr>
        <p:txBody>
          <a:bodyPr wrap="square" lIns="0" tIns="0" rIns="0" bIns="0" rtlCol="0" anchor="ctr"/>
          <a:lstStyle/>
          <a:p>
            <a:pPr marL="0" indent="0" algn="ctr">
              <a:buNone/>
            </a:pPr>
            <a:r>
              <a:rPr lang="en-US" sz="2400" b="1" dirty="0">
                <a:solidFill>
                  <a:srgbClr val="88888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4663440" y="3174746"/>
            <a:ext cx="1691640" cy="1005840"/>
          </a:xfrm>
          <a:prstGeom prst="rect">
            <a:avLst/>
          </a:prstGeom>
          <a:solidFill>
            <a:srgbClr val="F5F0E6"/>
          </a:solidFill>
          <a:ln w="6350">
            <a:solidFill>
              <a:srgbClr val="D8CFC0"/>
            </a:solidFill>
            <a:prstDash val="solid"/>
          </a:ln>
        </p:spPr>
        <p:txBody>
          <a:bodyPr/>
          <a:lstStyle/>
          <a:p>
            <a:endParaRPr lang="en-US"/>
          </a:p>
        </p:txBody>
      </p:sp>
      <p:sp>
        <p:nvSpPr>
          <p:cNvPr id="15" name="Text 13"/>
          <p:cNvSpPr/>
          <p:nvPr/>
        </p:nvSpPr>
        <p:spPr>
          <a:xfrm>
            <a:off x="4663440" y="3357626"/>
            <a:ext cx="1691640" cy="365760"/>
          </a:xfrm>
          <a:prstGeom prst="rect">
            <a:avLst/>
          </a:prstGeom>
          <a:noFill/>
          <a:ln/>
        </p:spPr>
        <p:txBody>
          <a:bodyPr wrap="square" lIns="0" tIns="0" rIns="0" bIns="0" rtlCol="0" anchor="ctr"/>
          <a:lstStyle/>
          <a:p>
            <a:pPr marL="0" indent="0" algn="ctr">
              <a:buNone/>
            </a:pPr>
            <a:r>
              <a:rPr lang="en-US" sz="1600" b="1" dirty="0">
                <a:solidFill>
                  <a:srgbClr val="2B2B2B"/>
                </a:solidFill>
                <a:latin typeface="Georgia" pitchFamily="34" charset="0"/>
                <a:ea typeface="Georgia" pitchFamily="34" charset="-122"/>
                <a:cs typeface="Georgia" pitchFamily="34" charset="-120"/>
              </a:rPr>
              <a:t>Look up</a:t>
            </a:r>
            <a:endParaRPr lang="en-US" sz="1600" dirty="0"/>
          </a:p>
        </p:txBody>
      </p:sp>
      <p:sp>
        <p:nvSpPr>
          <p:cNvPr id="16" name="Text 14"/>
          <p:cNvSpPr/>
          <p:nvPr/>
        </p:nvSpPr>
        <p:spPr>
          <a:xfrm>
            <a:off x="4663440" y="3741674"/>
            <a:ext cx="1691640" cy="365760"/>
          </a:xfrm>
          <a:prstGeom prst="rect">
            <a:avLst/>
          </a:prstGeom>
          <a:noFill/>
          <a:ln/>
        </p:spPr>
        <p:txBody>
          <a:bodyPr wrap="square" lIns="0" tIns="0" rIns="0" bIns="0"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nutritional database</a:t>
            </a:r>
            <a:endParaRPr lang="en-US" sz="1000" dirty="0"/>
          </a:p>
        </p:txBody>
      </p:sp>
      <p:sp>
        <p:nvSpPr>
          <p:cNvPr id="17" name="Text 15"/>
          <p:cNvSpPr/>
          <p:nvPr/>
        </p:nvSpPr>
        <p:spPr>
          <a:xfrm>
            <a:off x="6355080" y="3174746"/>
            <a:ext cx="182880" cy="1005840"/>
          </a:xfrm>
          <a:prstGeom prst="rect">
            <a:avLst/>
          </a:prstGeom>
          <a:noFill/>
          <a:ln/>
        </p:spPr>
        <p:txBody>
          <a:bodyPr wrap="square" lIns="0" tIns="0" rIns="0" bIns="0" rtlCol="0" anchor="ctr"/>
          <a:lstStyle/>
          <a:p>
            <a:pPr marL="0" indent="0" algn="ctr">
              <a:buNone/>
            </a:pPr>
            <a:r>
              <a:rPr lang="en-US" sz="2400" b="1" dirty="0">
                <a:solidFill>
                  <a:srgbClr val="888888"/>
                </a:solidFill>
                <a:latin typeface="Georgia" pitchFamily="34" charset="0"/>
                <a:ea typeface="Georgia" pitchFamily="34" charset="-122"/>
                <a:cs typeface="Georgia" pitchFamily="34" charset="-120"/>
              </a:rPr>
              <a:t>›</a:t>
            </a:r>
            <a:endParaRPr lang="en-US" sz="2400" dirty="0"/>
          </a:p>
        </p:txBody>
      </p:sp>
      <p:sp>
        <p:nvSpPr>
          <p:cNvPr id="18" name="Shape 16"/>
          <p:cNvSpPr/>
          <p:nvPr/>
        </p:nvSpPr>
        <p:spPr>
          <a:xfrm>
            <a:off x="6537960" y="3174746"/>
            <a:ext cx="1691640" cy="1005840"/>
          </a:xfrm>
          <a:prstGeom prst="rect">
            <a:avLst/>
          </a:prstGeom>
          <a:solidFill>
            <a:srgbClr val="F5F0E6"/>
          </a:solidFill>
          <a:ln w="6350">
            <a:solidFill>
              <a:srgbClr val="D8CFC0"/>
            </a:solidFill>
            <a:prstDash val="solid"/>
          </a:ln>
        </p:spPr>
        <p:txBody>
          <a:bodyPr/>
          <a:lstStyle/>
          <a:p>
            <a:endParaRPr lang="en-US"/>
          </a:p>
        </p:txBody>
      </p:sp>
      <p:sp>
        <p:nvSpPr>
          <p:cNvPr id="19" name="Text 17"/>
          <p:cNvSpPr/>
          <p:nvPr/>
        </p:nvSpPr>
        <p:spPr>
          <a:xfrm>
            <a:off x="6537960" y="3357626"/>
            <a:ext cx="1691640" cy="365760"/>
          </a:xfrm>
          <a:prstGeom prst="rect">
            <a:avLst/>
          </a:prstGeom>
          <a:noFill/>
          <a:ln/>
        </p:spPr>
        <p:txBody>
          <a:bodyPr wrap="square" lIns="0" tIns="0" rIns="0" bIns="0" rtlCol="0" anchor="ctr"/>
          <a:lstStyle/>
          <a:p>
            <a:pPr marL="0" indent="0" algn="ctr">
              <a:buNone/>
            </a:pPr>
            <a:r>
              <a:rPr lang="en-US" sz="1600" b="1" dirty="0">
                <a:solidFill>
                  <a:srgbClr val="2B2B2B"/>
                </a:solidFill>
                <a:latin typeface="Georgia" pitchFamily="34" charset="0"/>
                <a:ea typeface="Georgia" pitchFamily="34" charset="-122"/>
                <a:cs typeface="Georgia" pitchFamily="34" charset="-120"/>
              </a:rPr>
              <a:t>Estimate</a:t>
            </a:r>
            <a:endParaRPr lang="en-US" sz="1600" dirty="0"/>
          </a:p>
        </p:txBody>
      </p:sp>
      <p:sp>
        <p:nvSpPr>
          <p:cNvPr id="20" name="Text 18"/>
          <p:cNvSpPr/>
          <p:nvPr/>
        </p:nvSpPr>
        <p:spPr>
          <a:xfrm>
            <a:off x="6537960" y="3741674"/>
            <a:ext cx="1691640" cy="365760"/>
          </a:xfrm>
          <a:prstGeom prst="rect">
            <a:avLst/>
          </a:prstGeom>
          <a:noFill/>
          <a:ln/>
        </p:spPr>
        <p:txBody>
          <a:bodyPr wrap="square" lIns="0" tIns="0" rIns="0" bIns="0"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calories + macros</a:t>
            </a:r>
            <a:endParaRPr lang="en-US" sz="1000" dirty="0"/>
          </a:p>
        </p:txBody>
      </p:sp>
      <p:sp>
        <p:nvSpPr>
          <p:cNvPr id="21" name="Text 19"/>
          <p:cNvSpPr/>
          <p:nvPr/>
        </p:nvSpPr>
        <p:spPr>
          <a:xfrm>
            <a:off x="457200" y="4272026"/>
            <a:ext cx="8229600" cy="274320"/>
          </a:xfrm>
          <a:prstGeom prst="rect">
            <a:avLst/>
          </a:prstGeom>
          <a:noFill/>
          <a:ln/>
        </p:spPr>
        <p:txBody>
          <a:bodyPr wrap="square" lIns="0" tIns="0" rIns="0" bIns="0" rtlCol="0" anchor="ctr"/>
          <a:lstStyle/>
          <a:p>
            <a:pPr marL="0" indent="0" algn="ctr">
              <a:buNone/>
            </a:pPr>
            <a:r>
              <a:rPr lang="en-US" sz="1000" i="1" dirty="0">
                <a:solidFill>
                  <a:srgbClr val="B85042"/>
                </a:solidFill>
                <a:latin typeface="Calibri" pitchFamily="34" charset="0"/>
                <a:ea typeface="Calibri" pitchFamily="34" charset="-122"/>
                <a:cs typeface="Calibri" pitchFamily="34" charset="-120"/>
              </a:rPr>
              <a:t>Classification the foundation of the pipeline</a:t>
            </a:r>
            <a:endParaRPr lang="en-US" sz="1000" dirty="0"/>
          </a:p>
        </p:txBody>
      </p:sp>
      <p:grpSp>
        <p:nvGrpSpPr>
          <p:cNvPr id="37" name="Group 36">
            <a:extLst>
              <a:ext uri="{FF2B5EF4-FFF2-40B4-BE49-F238E27FC236}">
                <a16:creationId xmlns:a16="http://schemas.microsoft.com/office/drawing/2014/main" id="{B6E8D217-56FB-ACC6-F798-6D7A2EF512BA}"/>
              </a:ext>
            </a:extLst>
          </p:cNvPr>
          <p:cNvGrpSpPr/>
          <p:nvPr/>
        </p:nvGrpSpPr>
        <p:grpSpPr>
          <a:xfrm>
            <a:off x="914400" y="1737360"/>
            <a:ext cx="3566160" cy="1012952"/>
            <a:chOff x="457200" y="3429001"/>
            <a:chExt cx="2552700" cy="868680"/>
          </a:xfrm>
        </p:grpSpPr>
        <p:sp>
          <p:nvSpPr>
            <p:cNvPr id="34" name="Shape 12">
              <a:extLst>
                <a:ext uri="{FF2B5EF4-FFF2-40B4-BE49-F238E27FC236}">
                  <a16:creationId xmlns:a16="http://schemas.microsoft.com/office/drawing/2014/main" id="{2A1FFD82-7E46-10F6-62DD-2076093D4EB6}"/>
                </a:ext>
              </a:extLst>
            </p:cNvPr>
            <p:cNvSpPr/>
            <p:nvPr/>
          </p:nvSpPr>
          <p:spPr>
            <a:xfrm>
              <a:off x="457200" y="3429001"/>
              <a:ext cx="2552700" cy="868680"/>
            </a:xfrm>
            <a:prstGeom prst="rect">
              <a:avLst/>
            </a:prstGeom>
            <a:solidFill>
              <a:srgbClr val="2B2B2B"/>
            </a:solidFill>
            <a:ln w="12700">
              <a:solidFill>
                <a:srgbClr val="2B2B2B"/>
              </a:solidFill>
              <a:prstDash val="solid"/>
            </a:ln>
          </p:spPr>
          <p:txBody>
            <a:bodyPr/>
            <a:lstStyle/>
            <a:p>
              <a:endParaRPr lang="en-US" dirty="0"/>
            </a:p>
          </p:txBody>
        </p:sp>
        <p:sp>
          <p:nvSpPr>
            <p:cNvPr id="35" name="Text 13">
              <a:extLst>
                <a:ext uri="{FF2B5EF4-FFF2-40B4-BE49-F238E27FC236}">
                  <a16:creationId xmlns:a16="http://schemas.microsoft.com/office/drawing/2014/main" id="{429E93C3-D4C9-F2D5-17B8-73D83FD54431}"/>
                </a:ext>
              </a:extLst>
            </p:cNvPr>
            <p:cNvSpPr/>
            <p:nvPr/>
          </p:nvSpPr>
          <p:spPr>
            <a:xfrm>
              <a:off x="640080" y="3520440"/>
              <a:ext cx="579120" cy="237744"/>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GOAL:</a:t>
              </a:r>
              <a:endParaRPr lang="en-US" sz="900" dirty="0"/>
            </a:p>
          </p:txBody>
        </p:sp>
        <p:sp>
          <p:nvSpPr>
            <p:cNvPr id="36" name="Text 14">
              <a:extLst>
                <a:ext uri="{FF2B5EF4-FFF2-40B4-BE49-F238E27FC236}">
                  <a16:creationId xmlns:a16="http://schemas.microsoft.com/office/drawing/2014/main" id="{9526CB67-1C6C-4ACD-ABF0-6D1BB7DD3906}"/>
                </a:ext>
              </a:extLst>
            </p:cNvPr>
            <p:cNvSpPr/>
            <p:nvPr/>
          </p:nvSpPr>
          <p:spPr>
            <a:xfrm>
              <a:off x="640080" y="3794760"/>
              <a:ext cx="2148840" cy="228600"/>
            </a:xfrm>
            <a:prstGeom prst="rect">
              <a:avLst/>
            </a:prstGeom>
            <a:noFill/>
            <a:ln/>
          </p:spPr>
          <p:txBody>
            <a:bodyPr wrap="square" lIns="0" tIns="0" rIns="0" bIns="0" rtlCol="0" anchor="t"/>
            <a:lstStyle/>
            <a:p>
              <a:pPr marL="0" indent="0">
                <a:buNone/>
              </a:pPr>
              <a:r>
                <a:rPr lang="en-US" sz="1500" i="1" dirty="0">
                  <a:solidFill>
                    <a:srgbClr val="FFFFFF"/>
                  </a:solidFill>
                  <a:latin typeface="Georgia" pitchFamily="34" charset="0"/>
                  <a:ea typeface="Georgia" pitchFamily="34" charset="-122"/>
                  <a:cs typeface="Georgia" pitchFamily="34" charset="-120"/>
                </a:rPr>
                <a:t>Replace manual food logging</a:t>
              </a:r>
              <a:endParaRPr lang="en-US" sz="1500" dirty="0"/>
            </a:p>
          </p:txBody>
        </p:sp>
      </p:grpSp>
      <p:grpSp>
        <p:nvGrpSpPr>
          <p:cNvPr id="38" name="Group 37">
            <a:extLst>
              <a:ext uri="{FF2B5EF4-FFF2-40B4-BE49-F238E27FC236}">
                <a16:creationId xmlns:a16="http://schemas.microsoft.com/office/drawing/2014/main" id="{55129897-26B3-370F-8BD9-1322820BFBBC}"/>
              </a:ext>
            </a:extLst>
          </p:cNvPr>
          <p:cNvGrpSpPr/>
          <p:nvPr/>
        </p:nvGrpSpPr>
        <p:grpSpPr>
          <a:xfrm>
            <a:off x="4663440" y="1737614"/>
            <a:ext cx="3566160" cy="1012952"/>
            <a:chOff x="457200" y="3429001"/>
            <a:chExt cx="2552700" cy="868680"/>
          </a:xfrm>
        </p:grpSpPr>
        <p:sp>
          <p:nvSpPr>
            <p:cNvPr id="39" name="Shape 12">
              <a:extLst>
                <a:ext uri="{FF2B5EF4-FFF2-40B4-BE49-F238E27FC236}">
                  <a16:creationId xmlns:a16="http://schemas.microsoft.com/office/drawing/2014/main" id="{15CCB0A6-E277-60BC-88AF-B320461C8376}"/>
                </a:ext>
              </a:extLst>
            </p:cNvPr>
            <p:cNvSpPr/>
            <p:nvPr/>
          </p:nvSpPr>
          <p:spPr>
            <a:xfrm>
              <a:off x="457200" y="3429001"/>
              <a:ext cx="2552700" cy="868680"/>
            </a:xfrm>
            <a:prstGeom prst="rect">
              <a:avLst/>
            </a:prstGeom>
            <a:solidFill>
              <a:srgbClr val="2B2B2B"/>
            </a:solidFill>
            <a:ln w="12700">
              <a:solidFill>
                <a:srgbClr val="2B2B2B"/>
              </a:solidFill>
              <a:prstDash val="solid"/>
            </a:ln>
          </p:spPr>
          <p:txBody>
            <a:bodyPr/>
            <a:lstStyle/>
            <a:p>
              <a:endParaRPr lang="en-US" dirty="0"/>
            </a:p>
          </p:txBody>
        </p:sp>
        <p:sp>
          <p:nvSpPr>
            <p:cNvPr id="40" name="Text 13">
              <a:extLst>
                <a:ext uri="{FF2B5EF4-FFF2-40B4-BE49-F238E27FC236}">
                  <a16:creationId xmlns:a16="http://schemas.microsoft.com/office/drawing/2014/main" id="{F3686EFD-FC0D-2417-8A6B-44E484132537}"/>
                </a:ext>
              </a:extLst>
            </p:cNvPr>
            <p:cNvSpPr/>
            <p:nvPr/>
          </p:nvSpPr>
          <p:spPr>
            <a:xfrm>
              <a:off x="640080" y="3520440"/>
              <a:ext cx="579120" cy="237744"/>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Failure:</a:t>
              </a:r>
              <a:endParaRPr lang="en-US" sz="900" dirty="0"/>
            </a:p>
          </p:txBody>
        </p:sp>
        <p:sp>
          <p:nvSpPr>
            <p:cNvPr id="41" name="Text 14">
              <a:extLst>
                <a:ext uri="{FF2B5EF4-FFF2-40B4-BE49-F238E27FC236}">
                  <a16:creationId xmlns:a16="http://schemas.microsoft.com/office/drawing/2014/main" id="{0772CDD0-0269-E9C6-C101-B3ADCC1BE13A}"/>
                </a:ext>
              </a:extLst>
            </p:cNvPr>
            <p:cNvSpPr/>
            <p:nvPr/>
          </p:nvSpPr>
          <p:spPr>
            <a:xfrm>
              <a:off x="640080" y="3794759"/>
              <a:ext cx="2148840" cy="433922"/>
            </a:xfrm>
            <a:prstGeom prst="rect">
              <a:avLst/>
            </a:prstGeom>
            <a:noFill/>
            <a:ln/>
          </p:spPr>
          <p:txBody>
            <a:bodyPr wrap="square" lIns="0" tIns="0" rIns="0" bIns="0" rtlCol="0" anchor="t"/>
            <a:lstStyle/>
            <a:p>
              <a:pPr marL="0" indent="0">
                <a:buNone/>
              </a:pPr>
              <a:r>
                <a:rPr lang="en-US" sz="1500" i="1" dirty="0">
                  <a:solidFill>
                    <a:srgbClr val="FFFFFF"/>
                  </a:solidFill>
                  <a:latin typeface="Georgia" pitchFamily="34" charset="0"/>
                  <a:ea typeface="Georgia" pitchFamily="34" charset="-122"/>
                  <a:cs typeface="Georgia" pitchFamily="34" charset="-120"/>
                </a:rPr>
                <a:t>Errors propagate through every downstream step</a:t>
              </a:r>
              <a:endParaRPr lang="en-US" sz="15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01  /  PROBLEM &amp; MOTIVATION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5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Deep learning architectures—food classification</a:t>
            </a:r>
            <a:endParaRPr lang="en-US" sz="2600" dirty="0"/>
          </a:p>
        </p:txBody>
      </p:sp>
      <p:sp>
        <p:nvSpPr>
          <p:cNvPr id="6" name="Shape 4"/>
          <p:cNvSpPr/>
          <p:nvPr/>
        </p:nvSpPr>
        <p:spPr>
          <a:xfrm>
            <a:off x="457200" y="1783080"/>
            <a:ext cx="4023360" cy="1463040"/>
          </a:xfrm>
          <a:prstGeom prst="rect">
            <a:avLst/>
          </a:prstGeom>
          <a:solidFill>
            <a:srgbClr val="FBF8F2"/>
          </a:solidFill>
          <a:ln w="6350">
            <a:solidFill>
              <a:srgbClr val="D8CFC0"/>
            </a:solidFill>
            <a:prstDash val="solid"/>
          </a:ln>
        </p:spPr>
        <p:txBody>
          <a:bodyPr/>
          <a:lstStyle/>
          <a:p>
            <a:endParaRPr lang="en-US" dirty="0"/>
          </a:p>
        </p:txBody>
      </p:sp>
      <p:sp>
        <p:nvSpPr>
          <p:cNvPr id="7" name="Text 5"/>
          <p:cNvSpPr/>
          <p:nvPr/>
        </p:nvSpPr>
        <p:spPr>
          <a:xfrm>
            <a:off x="640080" y="2057400"/>
            <a:ext cx="3657600" cy="274320"/>
          </a:xfrm>
          <a:prstGeom prst="rect">
            <a:avLst/>
          </a:prstGeom>
          <a:noFill/>
          <a:ln/>
        </p:spPr>
        <p:txBody>
          <a:bodyPr wrap="square" lIns="0" tIns="0" rIns="0" bIns="0" rtlCol="0" anchor="ctr"/>
          <a:lstStyle/>
          <a:p>
            <a:r>
              <a:rPr lang="en-US" sz="1600" b="1" i="1" dirty="0">
                <a:solidFill>
                  <a:srgbClr val="C97B3F"/>
                </a:solidFill>
                <a:latin typeface="Georgia" pitchFamily="34" charset="0"/>
                <a:ea typeface="Georgia" pitchFamily="34" charset="-122"/>
                <a:cs typeface="Georgia" pitchFamily="34" charset="-120"/>
              </a:rPr>
              <a:t>Convolutional Neural Networks (CNNs)</a:t>
            </a:r>
            <a:endParaRPr lang="en-US" sz="1600" dirty="0"/>
          </a:p>
        </p:txBody>
      </p:sp>
      <p:sp>
        <p:nvSpPr>
          <p:cNvPr id="8" name="Text 6"/>
          <p:cNvSpPr/>
          <p:nvPr/>
        </p:nvSpPr>
        <p:spPr>
          <a:xfrm>
            <a:off x="640080" y="2550649"/>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local inductive biases to capture spatial patterns</a:t>
            </a:r>
            <a:endParaRPr lang="en-US" sz="1600" dirty="0"/>
          </a:p>
        </p:txBody>
      </p:sp>
      <p:sp>
        <p:nvSpPr>
          <p:cNvPr id="9" name="Text 7"/>
          <p:cNvSpPr/>
          <p:nvPr/>
        </p:nvSpPr>
        <p:spPr>
          <a:xfrm>
            <a:off x="640080" y="2651760"/>
            <a:ext cx="3657600" cy="502920"/>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5029200" y="1828800"/>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Different dishes, very similar appearance</a:t>
            </a:r>
            <a:endParaRPr lang="en-US" sz="1600" dirty="0"/>
          </a:p>
        </p:txBody>
      </p:sp>
      <p:sp>
        <p:nvSpPr>
          <p:cNvPr id="14" name="Shape 12"/>
          <p:cNvSpPr/>
          <p:nvPr/>
        </p:nvSpPr>
        <p:spPr>
          <a:xfrm>
            <a:off x="457200" y="3429000"/>
            <a:ext cx="8229600" cy="1280160"/>
          </a:xfrm>
          <a:prstGeom prst="rect">
            <a:avLst/>
          </a:prstGeom>
          <a:solidFill>
            <a:srgbClr val="2B2B2B"/>
          </a:solidFill>
          <a:ln w="12700">
            <a:solidFill>
              <a:srgbClr val="2B2B2B"/>
            </a:solidFill>
            <a:prstDash val="solid"/>
          </a:ln>
        </p:spPr>
        <p:txBody>
          <a:bodyPr/>
          <a:lstStyle/>
          <a:p>
            <a:endParaRPr lang="en-US"/>
          </a:p>
        </p:txBody>
      </p:sp>
      <p:sp>
        <p:nvSpPr>
          <p:cNvPr id="15" name="Text 13"/>
          <p:cNvSpPr/>
          <p:nvPr/>
        </p:nvSpPr>
        <p:spPr>
          <a:xfrm>
            <a:off x="640080" y="3520440"/>
            <a:ext cx="7863840" cy="22860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RESEARCH QUESTION</a:t>
            </a:r>
            <a:endParaRPr lang="en-US" sz="900" dirty="0"/>
          </a:p>
        </p:txBody>
      </p:sp>
      <p:sp>
        <p:nvSpPr>
          <p:cNvPr id="16" name="Text 14"/>
          <p:cNvSpPr/>
          <p:nvPr/>
        </p:nvSpPr>
        <p:spPr>
          <a:xfrm>
            <a:off x="640080" y="3794760"/>
            <a:ext cx="7863840" cy="868680"/>
          </a:xfrm>
          <a:prstGeom prst="rect">
            <a:avLst/>
          </a:prstGeom>
          <a:noFill/>
          <a:ln/>
        </p:spPr>
        <p:txBody>
          <a:bodyPr wrap="square" lIns="0" tIns="0" rIns="0" bIns="0" rtlCol="0" anchor="t"/>
          <a:lstStyle/>
          <a:p>
            <a:pPr marL="0" indent="0">
              <a:buNone/>
            </a:pPr>
            <a:r>
              <a:rPr lang="en-US" sz="1500" i="1" dirty="0">
                <a:solidFill>
                  <a:srgbClr val="FFFFFF"/>
                </a:solidFill>
                <a:latin typeface="Georgia" pitchFamily="34" charset="0"/>
                <a:ea typeface="Georgia" pitchFamily="34" charset="-122"/>
                <a:cs typeface="Georgia" pitchFamily="34" charset="-120"/>
              </a:rPr>
              <a:t>Which deep-learning paradigm — </a:t>
            </a:r>
            <a:r>
              <a:rPr lang="en-US" sz="1500" b="1" i="1" dirty="0">
                <a:solidFill>
                  <a:srgbClr val="C97B3F"/>
                </a:solidFill>
                <a:latin typeface="Georgia" pitchFamily="34" charset="0"/>
                <a:ea typeface="Georgia" pitchFamily="34" charset="-122"/>
                <a:cs typeface="Georgia" pitchFamily="34" charset="-120"/>
              </a:rPr>
              <a:t>CNN</a:t>
            </a:r>
            <a:r>
              <a:rPr lang="en-US" sz="1500" i="1" dirty="0">
                <a:solidFill>
                  <a:srgbClr val="FFFFFF"/>
                </a:solidFill>
                <a:latin typeface="Georgia" pitchFamily="34" charset="0"/>
                <a:ea typeface="Georgia" pitchFamily="34" charset="-122"/>
                <a:cs typeface="Georgia" pitchFamily="34" charset="-120"/>
              </a:rPr>
              <a:t>, </a:t>
            </a:r>
            <a:r>
              <a:rPr lang="en-US" sz="1500" b="1" i="1" dirty="0">
                <a:solidFill>
                  <a:srgbClr val="5C7A55"/>
                </a:solidFill>
                <a:latin typeface="Georgia" pitchFamily="34" charset="0"/>
                <a:ea typeface="Georgia" pitchFamily="34" charset="-122"/>
                <a:cs typeface="Georgia" pitchFamily="34" charset="-120"/>
              </a:rPr>
              <a:t>Vision Transformer</a:t>
            </a:r>
            <a:r>
              <a:rPr lang="en-US" sz="1500" i="1" dirty="0">
                <a:solidFill>
                  <a:srgbClr val="FFFFFF"/>
                </a:solidFill>
                <a:latin typeface="Georgia" pitchFamily="34" charset="0"/>
                <a:ea typeface="Georgia" pitchFamily="34" charset="-122"/>
                <a:cs typeface="Georgia" pitchFamily="34" charset="-120"/>
              </a:rPr>
              <a:t>, or  a </a:t>
            </a:r>
            <a:r>
              <a:rPr lang="en-US" sz="1500" b="1" i="1" dirty="0">
                <a:solidFill>
                  <a:srgbClr val="E89B7B"/>
                </a:solidFill>
                <a:latin typeface="Georgia" pitchFamily="34" charset="0"/>
                <a:ea typeface="Georgia" pitchFamily="34" charset="-122"/>
                <a:cs typeface="Georgia" pitchFamily="34" charset="-120"/>
              </a:rPr>
              <a:t>Cross-paradigm inspired architecture</a:t>
            </a:r>
            <a:r>
              <a:rPr lang="en-US" sz="1500" i="1" dirty="0">
                <a:solidFill>
                  <a:srgbClr val="FFFFFF"/>
                </a:solidFill>
                <a:latin typeface="Georgia" pitchFamily="34" charset="0"/>
                <a:ea typeface="Georgia" pitchFamily="34" charset="-122"/>
                <a:cs typeface="Georgia" pitchFamily="34" charset="-120"/>
              </a:rPr>
              <a:t> — is best suited to fine-grained food image classification?</a:t>
            </a:r>
            <a:endParaRPr lang="en-US" sz="1500" dirty="0"/>
          </a:p>
        </p:txBody>
      </p:sp>
      <p:sp>
        <p:nvSpPr>
          <p:cNvPr id="18" name="Shape 4">
            <a:extLst>
              <a:ext uri="{FF2B5EF4-FFF2-40B4-BE49-F238E27FC236}">
                <a16:creationId xmlns:a16="http://schemas.microsoft.com/office/drawing/2014/main" id="{5A5FCA68-7E22-B4F1-5361-B74A76F4FEFB}"/>
              </a:ext>
            </a:extLst>
          </p:cNvPr>
          <p:cNvSpPr/>
          <p:nvPr/>
        </p:nvSpPr>
        <p:spPr>
          <a:xfrm>
            <a:off x="4663440" y="1783080"/>
            <a:ext cx="4023360" cy="1463040"/>
          </a:xfrm>
          <a:prstGeom prst="rect">
            <a:avLst/>
          </a:prstGeom>
          <a:solidFill>
            <a:srgbClr val="FBF8F2"/>
          </a:solidFill>
          <a:ln w="6350">
            <a:solidFill>
              <a:srgbClr val="D8CFC0"/>
            </a:solidFill>
            <a:prstDash val="solid"/>
          </a:ln>
        </p:spPr>
        <p:txBody>
          <a:bodyPr/>
          <a:lstStyle/>
          <a:p>
            <a:endParaRPr lang="en-US" dirty="0"/>
          </a:p>
        </p:txBody>
      </p:sp>
      <p:sp>
        <p:nvSpPr>
          <p:cNvPr id="19" name="Text 5">
            <a:extLst>
              <a:ext uri="{FF2B5EF4-FFF2-40B4-BE49-F238E27FC236}">
                <a16:creationId xmlns:a16="http://schemas.microsoft.com/office/drawing/2014/main" id="{16777FB5-0520-7BD4-1066-3008F66F32D8}"/>
              </a:ext>
            </a:extLst>
          </p:cNvPr>
          <p:cNvSpPr/>
          <p:nvPr/>
        </p:nvSpPr>
        <p:spPr>
          <a:xfrm>
            <a:off x="4892040" y="1780736"/>
            <a:ext cx="3657600" cy="594360"/>
          </a:xfrm>
          <a:prstGeom prst="rect">
            <a:avLst/>
          </a:prstGeom>
          <a:noFill/>
          <a:ln/>
        </p:spPr>
        <p:txBody>
          <a:bodyPr wrap="square" lIns="0" tIns="0" rIns="0" bIns="0" rtlCol="0" anchor="ctr"/>
          <a:lstStyle/>
          <a:p>
            <a:r>
              <a:rPr lang="en-US" sz="1600" b="1" i="1" dirty="0">
                <a:solidFill>
                  <a:srgbClr val="5C7A55"/>
                </a:solidFill>
                <a:latin typeface="Georgia" pitchFamily="34" charset="0"/>
                <a:ea typeface="Georgia" pitchFamily="34" charset="-122"/>
                <a:cs typeface="Georgia" pitchFamily="34" charset="-120"/>
              </a:rPr>
              <a:t>Vision Transformers (ViTs)</a:t>
            </a:r>
            <a:endParaRPr lang="en-US" sz="1600" dirty="0"/>
          </a:p>
        </p:txBody>
      </p:sp>
      <p:sp>
        <p:nvSpPr>
          <p:cNvPr id="20" name="Text 6">
            <a:extLst>
              <a:ext uri="{FF2B5EF4-FFF2-40B4-BE49-F238E27FC236}">
                <a16:creationId xmlns:a16="http://schemas.microsoft.com/office/drawing/2014/main" id="{C0258295-C157-1B4F-FA0C-132DFEA80155}"/>
              </a:ext>
            </a:extLst>
          </p:cNvPr>
          <p:cNvSpPr/>
          <p:nvPr/>
        </p:nvSpPr>
        <p:spPr>
          <a:xfrm>
            <a:off x="4892040" y="2555631"/>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self-attention to model long-range dependencies. </a:t>
            </a:r>
            <a:endParaRPr lang="en-US" sz="1600" dirty="0"/>
          </a:p>
        </p:txBody>
      </p:sp>
      <p:sp>
        <p:nvSpPr>
          <p:cNvPr id="21" name="Text 7">
            <a:extLst>
              <a:ext uri="{FF2B5EF4-FFF2-40B4-BE49-F238E27FC236}">
                <a16:creationId xmlns:a16="http://schemas.microsoft.com/office/drawing/2014/main" id="{B24BED0E-613D-82D9-3B4E-1EE08D5AF141}"/>
              </a:ext>
            </a:extLst>
          </p:cNvPr>
          <p:cNvSpPr/>
          <p:nvPr/>
        </p:nvSpPr>
        <p:spPr>
          <a:xfrm>
            <a:off x="4937760" y="2651760"/>
            <a:ext cx="3657600" cy="50292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6D6C7F-612D-8B23-5D1F-62B98D5681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30476D-577F-4E8B-2BA9-56B0A6CC80FD}"/>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06AF4295-EC95-3CA0-2B02-4D50F6CF9510}"/>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BE7FCA43-7583-CFA3-B30F-60DF1463644C}"/>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6 / 32</a:t>
            </a:r>
            <a:endParaRPr lang="en-US" sz="900" dirty="0"/>
          </a:p>
        </p:txBody>
      </p:sp>
      <p:sp>
        <p:nvSpPr>
          <p:cNvPr id="5" name="Text 3">
            <a:extLst>
              <a:ext uri="{FF2B5EF4-FFF2-40B4-BE49-F238E27FC236}">
                <a16:creationId xmlns:a16="http://schemas.microsoft.com/office/drawing/2014/main" id="{0FEE74AB-E9EF-D8F8-816B-C6D51BAAC1F2}"/>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Three architectural paradigms</a:t>
            </a:r>
            <a:endParaRPr lang="en-US" sz="2600" dirty="0"/>
          </a:p>
        </p:txBody>
      </p:sp>
      <p:sp>
        <p:nvSpPr>
          <p:cNvPr id="6" name="Shape 4">
            <a:extLst>
              <a:ext uri="{FF2B5EF4-FFF2-40B4-BE49-F238E27FC236}">
                <a16:creationId xmlns:a16="http://schemas.microsoft.com/office/drawing/2014/main" id="{083737AD-78E7-43B4-FF1A-D22434F33BF2}"/>
              </a:ext>
            </a:extLst>
          </p:cNvPr>
          <p:cNvSpPr/>
          <p:nvPr/>
        </p:nvSpPr>
        <p:spPr>
          <a:xfrm>
            <a:off x="457200" y="1783080"/>
            <a:ext cx="2697480" cy="2468880"/>
          </a:xfrm>
          <a:prstGeom prst="rect">
            <a:avLst/>
          </a:prstGeom>
          <a:solidFill>
            <a:srgbClr val="FBF8F2"/>
          </a:solidFill>
          <a:ln w="6350">
            <a:solidFill>
              <a:srgbClr val="D8CFC0"/>
            </a:solidFill>
            <a:prstDash val="solid"/>
          </a:ln>
        </p:spPr>
        <p:txBody>
          <a:bodyPr/>
          <a:lstStyle/>
          <a:p>
            <a:endParaRPr lang="en-US"/>
          </a:p>
        </p:txBody>
      </p:sp>
      <p:sp>
        <p:nvSpPr>
          <p:cNvPr id="7" name="Shape 5">
            <a:extLst>
              <a:ext uri="{FF2B5EF4-FFF2-40B4-BE49-F238E27FC236}">
                <a16:creationId xmlns:a16="http://schemas.microsoft.com/office/drawing/2014/main" id="{3AF0DA24-B68B-29C3-1A8A-2DA3779C7E7D}"/>
              </a:ext>
            </a:extLst>
          </p:cNvPr>
          <p:cNvSpPr/>
          <p:nvPr/>
        </p:nvSpPr>
        <p:spPr>
          <a:xfrm>
            <a:off x="457200" y="1783080"/>
            <a:ext cx="2697480" cy="73152"/>
          </a:xfrm>
          <a:prstGeom prst="rect">
            <a:avLst/>
          </a:prstGeom>
          <a:solidFill>
            <a:srgbClr val="C97B3F"/>
          </a:solidFill>
          <a:ln w="12700">
            <a:solidFill>
              <a:srgbClr val="C97B3F"/>
            </a:solidFill>
            <a:prstDash val="solid"/>
          </a:ln>
        </p:spPr>
        <p:txBody>
          <a:bodyPr/>
          <a:lstStyle/>
          <a:p>
            <a:endParaRPr lang="en-US"/>
          </a:p>
        </p:txBody>
      </p:sp>
      <p:sp>
        <p:nvSpPr>
          <p:cNvPr id="8" name="Text 6">
            <a:extLst>
              <a:ext uri="{FF2B5EF4-FFF2-40B4-BE49-F238E27FC236}">
                <a16:creationId xmlns:a16="http://schemas.microsoft.com/office/drawing/2014/main" id="{B7F9C5BB-E2A4-15C1-3591-F781241E2192}"/>
              </a:ext>
            </a:extLst>
          </p:cNvPr>
          <p:cNvSpPr/>
          <p:nvPr/>
        </p:nvSpPr>
        <p:spPr>
          <a:xfrm>
            <a:off x="621792" y="1947672"/>
            <a:ext cx="2368296" cy="274320"/>
          </a:xfrm>
          <a:prstGeom prst="rect">
            <a:avLst/>
          </a:prstGeom>
          <a:noFill/>
          <a:ln/>
        </p:spPr>
        <p:txBody>
          <a:bodyPr wrap="square" lIns="0" tIns="0" rIns="0" bIns="0" rtlCol="0" anchor="ctr"/>
          <a:lstStyle/>
          <a:p>
            <a:pPr marL="0" indent="0">
              <a:buNone/>
            </a:pPr>
            <a:r>
              <a:rPr lang="en-US" sz="900" b="1" kern="0" spc="300" dirty="0">
                <a:solidFill>
                  <a:srgbClr val="C97B3F"/>
                </a:solidFill>
                <a:latin typeface="Calibri" pitchFamily="34" charset="0"/>
                <a:ea typeface="Calibri" pitchFamily="34" charset="-122"/>
                <a:cs typeface="Calibri" pitchFamily="34" charset="-120"/>
              </a:rPr>
              <a:t>CNN</a:t>
            </a:r>
            <a:endParaRPr lang="en-US" sz="900" dirty="0"/>
          </a:p>
        </p:txBody>
      </p:sp>
      <p:sp>
        <p:nvSpPr>
          <p:cNvPr id="9" name="Text 7">
            <a:extLst>
              <a:ext uri="{FF2B5EF4-FFF2-40B4-BE49-F238E27FC236}">
                <a16:creationId xmlns:a16="http://schemas.microsoft.com/office/drawing/2014/main" id="{C1E437ED-4391-8710-71D3-558AB6EF99D5}"/>
              </a:ext>
            </a:extLst>
          </p:cNvPr>
          <p:cNvSpPr/>
          <p:nvPr/>
        </p:nvSpPr>
        <p:spPr>
          <a:xfrm>
            <a:off x="621792" y="2240280"/>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ResNet50</a:t>
            </a:r>
            <a:endParaRPr lang="en-US" sz="1800" dirty="0"/>
          </a:p>
        </p:txBody>
      </p:sp>
      <p:sp>
        <p:nvSpPr>
          <p:cNvPr id="10" name="Text 8">
            <a:extLst>
              <a:ext uri="{FF2B5EF4-FFF2-40B4-BE49-F238E27FC236}">
                <a16:creationId xmlns:a16="http://schemas.microsoft.com/office/drawing/2014/main" id="{8E65F7DB-B00F-F95B-5490-D974E3ACBC49}"/>
              </a:ext>
            </a:extLst>
          </p:cNvPr>
          <p:cNvSpPr/>
          <p:nvPr/>
        </p:nvSpPr>
        <p:spPr>
          <a:xfrm>
            <a:off x="621792" y="2697480"/>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Sliding convolutional kernels</a:t>
            </a:r>
            <a:endParaRPr lang="en-US" sz="1100" dirty="0"/>
          </a:p>
        </p:txBody>
      </p:sp>
      <p:sp>
        <p:nvSpPr>
          <p:cNvPr id="11" name="Text 9">
            <a:extLst>
              <a:ext uri="{FF2B5EF4-FFF2-40B4-BE49-F238E27FC236}">
                <a16:creationId xmlns:a16="http://schemas.microsoft.com/office/drawing/2014/main" id="{560F6A8E-2548-4087-B0A8-2637444338A7}"/>
              </a:ext>
            </a:extLst>
          </p:cNvPr>
          <p:cNvSpPr/>
          <p:nvPr/>
        </p:nvSpPr>
        <p:spPr>
          <a:xfrm>
            <a:off x="621792" y="3200400"/>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Strong local inductive bias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spatial locality, translation equivariance</a:t>
            </a:r>
            <a:endParaRPr lang="en-US" sz="1100" dirty="0"/>
          </a:p>
        </p:txBody>
      </p:sp>
      <p:sp>
        <p:nvSpPr>
          <p:cNvPr id="12" name="Text 10">
            <a:extLst>
              <a:ext uri="{FF2B5EF4-FFF2-40B4-BE49-F238E27FC236}">
                <a16:creationId xmlns:a16="http://schemas.microsoft.com/office/drawing/2014/main" id="{62C33627-E922-8D93-6781-B19EDEFF0C9E}"/>
              </a:ext>
            </a:extLst>
          </p:cNvPr>
          <p:cNvSpPr/>
          <p:nvPr/>
        </p:nvSpPr>
        <p:spPr>
          <a:xfrm>
            <a:off x="621792" y="3840480"/>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Mature in food classification literature</a:t>
            </a:r>
            <a:endParaRPr lang="en-US" sz="1000" dirty="0"/>
          </a:p>
        </p:txBody>
      </p:sp>
      <p:sp>
        <p:nvSpPr>
          <p:cNvPr id="13" name="Shape 11">
            <a:extLst>
              <a:ext uri="{FF2B5EF4-FFF2-40B4-BE49-F238E27FC236}">
                <a16:creationId xmlns:a16="http://schemas.microsoft.com/office/drawing/2014/main" id="{B136E20C-78D4-1C64-A972-D0E7F20EC03E}"/>
              </a:ext>
            </a:extLst>
          </p:cNvPr>
          <p:cNvSpPr/>
          <p:nvPr/>
        </p:nvSpPr>
        <p:spPr>
          <a:xfrm>
            <a:off x="3223260" y="1783080"/>
            <a:ext cx="2697480" cy="2468880"/>
          </a:xfrm>
          <a:prstGeom prst="rect">
            <a:avLst/>
          </a:prstGeom>
          <a:solidFill>
            <a:srgbClr val="FBF8F2"/>
          </a:solidFill>
          <a:ln w="6350">
            <a:solidFill>
              <a:srgbClr val="D8CFC0"/>
            </a:solidFill>
            <a:prstDash val="solid"/>
          </a:ln>
        </p:spPr>
        <p:txBody>
          <a:bodyPr/>
          <a:lstStyle/>
          <a:p>
            <a:endParaRPr lang="en-US"/>
          </a:p>
        </p:txBody>
      </p:sp>
      <p:sp>
        <p:nvSpPr>
          <p:cNvPr id="14" name="Shape 12">
            <a:extLst>
              <a:ext uri="{FF2B5EF4-FFF2-40B4-BE49-F238E27FC236}">
                <a16:creationId xmlns:a16="http://schemas.microsoft.com/office/drawing/2014/main" id="{F9D19619-C631-E245-A3E6-B221FC6CD4BE}"/>
              </a:ext>
            </a:extLst>
          </p:cNvPr>
          <p:cNvSpPr/>
          <p:nvPr/>
        </p:nvSpPr>
        <p:spPr>
          <a:xfrm>
            <a:off x="3223260" y="1783080"/>
            <a:ext cx="2697480" cy="73152"/>
          </a:xfrm>
          <a:prstGeom prst="rect">
            <a:avLst/>
          </a:prstGeom>
          <a:solidFill>
            <a:srgbClr val="5C7A55"/>
          </a:solidFill>
          <a:ln w="12700">
            <a:solidFill>
              <a:srgbClr val="5C7A55"/>
            </a:solidFill>
            <a:prstDash val="solid"/>
          </a:ln>
        </p:spPr>
        <p:txBody>
          <a:bodyPr/>
          <a:lstStyle/>
          <a:p>
            <a:endParaRPr lang="en-US"/>
          </a:p>
        </p:txBody>
      </p:sp>
      <p:sp>
        <p:nvSpPr>
          <p:cNvPr id="15" name="Text 13">
            <a:extLst>
              <a:ext uri="{FF2B5EF4-FFF2-40B4-BE49-F238E27FC236}">
                <a16:creationId xmlns:a16="http://schemas.microsoft.com/office/drawing/2014/main" id="{0069A4D9-368A-AAC3-62EA-1FBF9945AC5A}"/>
              </a:ext>
            </a:extLst>
          </p:cNvPr>
          <p:cNvSpPr/>
          <p:nvPr/>
        </p:nvSpPr>
        <p:spPr>
          <a:xfrm>
            <a:off x="3387852" y="1947672"/>
            <a:ext cx="2368296" cy="274320"/>
          </a:xfrm>
          <a:prstGeom prst="rect">
            <a:avLst/>
          </a:prstGeom>
          <a:noFill/>
          <a:ln/>
        </p:spPr>
        <p:txBody>
          <a:bodyPr wrap="square" lIns="0" tIns="0" rIns="0" bIns="0" rtlCol="0" anchor="ctr"/>
          <a:lstStyle/>
          <a:p>
            <a:pPr marL="0" indent="0">
              <a:buNone/>
            </a:pPr>
            <a:r>
              <a:rPr lang="en-US" sz="900" b="1" kern="0" spc="300" dirty="0">
                <a:solidFill>
                  <a:srgbClr val="5C7A55"/>
                </a:solidFill>
                <a:latin typeface="Calibri" pitchFamily="34" charset="0"/>
                <a:ea typeface="Calibri" pitchFamily="34" charset="-122"/>
                <a:cs typeface="Calibri" pitchFamily="34" charset="-120"/>
              </a:rPr>
              <a:t>VISION TRANSFORMER</a:t>
            </a:r>
            <a:endParaRPr lang="en-US" sz="900" dirty="0"/>
          </a:p>
        </p:txBody>
      </p:sp>
      <p:sp>
        <p:nvSpPr>
          <p:cNvPr id="16" name="Text 14">
            <a:extLst>
              <a:ext uri="{FF2B5EF4-FFF2-40B4-BE49-F238E27FC236}">
                <a16:creationId xmlns:a16="http://schemas.microsoft.com/office/drawing/2014/main" id="{0F4F826E-4128-DA6B-C4C5-C60D458B3622}"/>
              </a:ext>
            </a:extLst>
          </p:cNvPr>
          <p:cNvSpPr/>
          <p:nvPr/>
        </p:nvSpPr>
        <p:spPr>
          <a:xfrm>
            <a:off x="3387852" y="2240280"/>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ViT-Base</a:t>
            </a:r>
            <a:endParaRPr lang="en-US" sz="1800" dirty="0"/>
          </a:p>
        </p:txBody>
      </p:sp>
      <p:sp>
        <p:nvSpPr>
          <p:cNvPr id="17" name="Text 15">
            <a:extLst>
              <a:ext uri="{FF2B5EF4-FFF2-40B4-BE49-F238E27FC236}">
                <a16:creationId xmlns:a16="http://schemas.microsoft.com/office/drawing/2014/main" id="{AA2018D9-6CCF-8C81-1AB6-E747D192E117}"/>
              </a:ext>
            </a:extLst>
          </p:cNvPr>
          <p:cNvSpPr/>
          <p:nvPr/>
        </p:nvSpPr>
        <p:spPr>
          <a:xfrm>
            <a:off x="3387852" y="2697480"/>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Image as patch sequence + global self-attention</a:t>
            </a:r>
            <a:endParaRPr lang="en-US" sz="1100" dirty="0"/>
          </a:p>
        </p:txBody>
      </p:sp>
      <p:sp>
        <p:nvSpPr>
          <p:cNvPr id="18" name="Text 16">
            <a:extLst>
              <a:ext uri="{FF2B5EF4-FFF2-40B4-BE49-F238E27FC236}">
                <a16:creationId xmlns:a16="http://schemas.microsoft.com/office/drawing/2014/main" id="{E9E3FFE6-5011-C17A-9DB0-701238C5445A}"/>
              </a:ext>
            </a:extLst>
          </p:cNvPr>
          <p:cNvSpPr/>
          <p:nvPr/>
        </p:nvSpPr>
        <p:spPr>
          <a:xfrm>
            <a:off x="3387852" y="3200400"/>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Models long-range dependencies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weak inductive biases</a:t>
            </a:r>
            <a:endParaRPr lang="en-US" sz="1100" dirty="0"/>
          </a:p>
        </p:txBody>
      </p:sp>
      <p:sp>
        <p:nvSpPr>
          <p:cNvPr id="19" name="Text 17">
            <a:extLst>
              <a:ext uri="{FF2B5EF4-FFF2-40B4-BE49-F238E27FC236}">
                <a16:creationId xmlns:a16="http://schemas.microsoft.com/office/drawing/2014/main" id="{4F1D2416-9E1C-5845-6B59-D9FB411DA372}"/>
              </a:ext>
            </a:extLst>
          </p:cNvPr>
          <p:cNvSpPr/>
          <p:nvPr/>
        </p:nvSpPr>
        <p:spPr>
          <a:xfrm>
            <a:off x="3387852" y="3840480"/>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Recent works: ViT &gt; CNN baselines (2023–24)</a:t>
            </a:r>
            <a:endParaRPr lang="en-US" sz="1000" dirty="0"/>
          </a:p>
        </p:txBody>
      </p:sp>
      <p:sp>
        <p:nvSpPr>
          <p:cNvPr id="20" name="Shape 18">
            <a:extLst>
              <a:ext uri="{FF2B5EF4-FFF2-40B4-BE49-F238E27FC236}">
                <a16:creationId xmlns:a16="http://schemas.microsoft.com/office/drawing/2014/main" id="{22A108AA-4E8A-47E1-C173-A92B432EF55A}"/>
              </a:ext>
            </a:extLst>
          </p:cNvPr>
          <p:cNvSpPr/>
          <p:nvPr/>
        </p:nvSpPr>
        <p:spPr>
          <a:xfrm>
            <a:off x="5989320" y="1783080"/>
            <a:ext cx="2697480" cy="2468880"/>
          </a:xfrm>
          <a:prstGeom prst="rect">
            <a:avLst/>
          </a:prstGeom>
          <a:solidFill>
            <a:srgbClr val="FBF8F2"/>
          </a:solidFill>
          <a:ln w="6350">
            <a:solidFill>
              <a:srgbClr val="D8CFC0"/>
            </a:solidFill>
            <a:prstDash val="solid"/>
          </a:ln>
        </p:spPr>
        <p:txBody>
          <a:bodyPr/>
          <a:lstStyle/>
          <a:p>
            <a:endParaRPr lang="en-US"/>
          </a:p>
        </p:txBody>
      </p:sp>
      <p:sp>
        <p:nvSpPr>
          <p:cNvPr id="21" name="Shape 19">
            <a:extLst>
              <a:ext uri="{FF2B5EF4-FFF2-40B4-BE49-F238E27FC236}">
                <a16:creationId xmlns:a16="http://schemas.microsoft.com/office/drawing/2014/main" id="{239BC7F8-965E-5CE4-58D7-575EAC388E76}"/>
              </a:ext>
            </a:extLst>
          </p:cNvPr>
          <p:cNvSpPr/>
          <p:nvPr/>
        </p:nvSpPr>
        <p:spPr>
          <a:xfrm>
            <a:off x="5989320" y="1783080"/>
            <a:ext cx="2697480" cy="73152"/>
          </a:xfrm>
          <a:prstGeom prst="rect">
            <a:avLst/>
          </a:prstGeom>
          <a:solidFill>
            <a:srgbClr val="8B3A3A"/>
          </a:solidFill>
          <a:ln w="12700">
            <a:solidFill>
              <a:srgbClr val="8B3A3A"/>
            </a:solidFill>
            <a:prstDash val="solid"/>
          </a:ln>
        </p:spPr>
        <p:txBody>
          <a:bodyPr/>
          <a:lstStyle/>
          <a:p>
            <a:endParaRPr lang="en-US"/>
          </a:p>
        </p:txBody>
      </p:sp>
      <p:sp>
        <p:nvSpPr>
          <p:cNvPr id="22" name="Text 20">
            <a:extLst>
              <a:ext uri="{FF2B5EF4-FFF2-40B4-BE49-F238E27FC236}">
                <a16:creationId xmlns:a16="http://schemas.microsoft.com/office/drawing/2014/main" id="{1529B9A4-5E54-983E-E1B5-4A11FF2A8354}"/>
              </a:ext>
            </a:extLst>
          </p:cNvPr>
          <p:cNvSpPr/>
          <p:nvPr/>
        </p:nvSpPr>
        <p:spPr>
          <a:xfrm>
            <a:off x="6153912" y="1947672"/>
            <a:ext cx="2532888" cy="274320"/>
          </a:xfrm>
          <a:prstGeom prst="rect">
            <a:avLst/>
          </a:prstGeom>
          <a:noFill/>
          <a:ln/>
        </p:spPr>
        <p:txBody>
          <a:bodyPr wrap="square" lIns="0" tIns="0" rIns="0" bIns="0" rtlCol="0" anchor="ctr"/>
          <a:lstStyle/>
          <a:p>
            <a:pPr marL="0" indent="0">
              <a:buNone/>
            </a:pPr>
            <a:r>
              <a:rPr lang="en-US" sz="900" b="1" kern="0" spc="300" dirty="0">
                <a:solidFill>
                  <a:srgbClr val="8B3A3A"/>
                </a:solidFill>
                <a:latin typeface="Calibri" pitchFamily="34" charset="0"/>
                <a:ea typeface="Calibri" pitchFamily="34" charset="-122"/>
                <a:cs typeface="Calibri" pitchFamily="34" charset="-120"/>
              </a:rPr>
              <a:t>Cross-paradigm architecture</a:t>
            </a:r>
            <a:endParaRPr lang="en-US" sz="900" dirty="0"/>
          </a:p>
        </p:txBody>
      </p:sp>
      <p:sp>
        <p:nvSpPr>
          <p:cNvPr id="23" name="Text 21">
            <a:extLst>
              <a:ext uri="{FF2B5EF4-FFF2-40B4-BE49-F238E27FC236}">
                <a16:creationId xmlns:a16="http://schemas.microsoft.com/office/drawing/2014/main" id="{17670853-79AD-9BA6-1E56-56D7471C27DA}"/>
              </a:ext>
            </a:extLst>
          </p:cNvPr>
          <p:cNvSpPr/>
          <p:nvPr/>
        </p:nvSpPr>
        <p:spPr>
          <a:xfrm>
            <a:off x="6153912" y="2240280"/>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ConvNeXt-Base</a:t>
            </a:r>
            <a:endParaRPr lang="en-US" sz="1800" dirty="0"/>
          </a:p>
        </p:txBody>
      </p:sp>
      <p:sp>
        <p:nvSpPr>
          <p:cNvPr id="24" name="Text 22">
            <a:extLst>
              <a:ext uri="{FF2B5EF4-FFF2-40B4-BE49-F238E27FC236}">
                <a16:creationId xmlns:a16="http://schemas.microsoft.com/office/drawing/2014/main" id="{9BFA02DB-E8B3-3B5A-969E-3A76F92F365B}"/>
              </a:ext>
            </a:extLst>
          </p:cNvPr>
          <p:cNvSpPr/>
          <p:nvPr/>
        </p:nvSpPr>
        <p:spPr>
          <a:xfrm>
            <a:off x="6153912" y="2697480"/>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Purely convolutional — no attention</a:t>
            </a:r>
            <a:endParaRPr lang="en-US" sz="1100" dirty="0"/>
          </a:p>
        </p:txBody>
      </p:sp>
      <p:sp>
        <p:nvSpPr>
          <p:cNvPr id="25" name="Text 23">
            <a:extLst>
              <a:ext uri="{FF2B5EF4-FFF2-40B4-BE49-F238E27FC236}">
                <a16:creationId xmlns:a16="http://schemas.microsoft.com/office/drawing/2014/main" id="{A5C40A02-F1CC-BDE0-2A72-CF5941F8586E}"/>
              </a:ext>
            </a:extLst>
          </p:cNvPr>
          <p:cNvSpPr/>
          <p:nvPr/>
        </p:nvSpPr>
        <p:spPr>
          <a:xfrm>
            <a:off x="6153912" y="3200400"/>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7×7 depthwise · LayerNorm · GELU</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inverted bottleneck</a:t>
            </a:r>
            <a:endParaRPr lang="en-US" sz="1100" dirty="0"/>
          </a:p>
        </p:txBody>
      </p:sp>
      <p:sp>
        <p:nvSpPr>
          <p:cNvPr id="26" name="Text 24">
            <a:extLst>
              <a:ext uri="{FF2B5EF4-FFF2-40B4-BE49-F238E27FC236}">
                <a16:creationId xmlns:a16="http://schemas.microsoft.com/office/drawing/2014/main" id="{D3BCAF0E-3D8D-58D6-79E1-F437B56BCF9E}"/>
              </a:ext>
            </a:extLst>
          </p:cNvPr>
          <p:cNvSpPr/>
          <p:nvPr/>
        </p:nvSpPr>
        <p:spPr>
          <a:xfrm>
            <a:off x="6153912" y="3840480"/>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Recent works: competitive or superior to ViT</a:t>
            </a:r>
            <a:endParaRPr lang="en-US" sz="1000" dirty="0"/>
          </a:p>
        </p:txBody>
      </p:sp>
      <p:sp>
        <p:nvSpPr>
          <p:cNvPr id="27" name="Text 25">
            <a:extLst>
              <a:ext uri="{FF2B5EF4-FFF2-40B4-BE49-F238E27FC236}">
                <a16:creationId xmlns:a16="http://schemas.microsoft.com/office/drawing/2014/main" id="{F2853A38-5FCE-E9F5-CA3E-253F0C61126F}"/>
              </a:ext>
            </a:extLst>
          </p:cNvPr>
          <p:cNvSpPr/>
          <p:nvPr/>
        </p:nvSpPr>
        <p:spPr>
          <a:xfrm>
            <a:off x="457200" y="4434840"/>
            <a:ext cx="8229600" cy="365760"/>
          </a:xfrm>
          <a:prstGeom prst="rect">
            <a:avLst/>
          </a:prstGeom>
          <a:noFill/>
          <a:ln/>
        </p:spPr>
        <p:txBody>
          <a:bodyPr wrap="square" lIns="0" tIns="0" rIns="0" bIns="0" rtlCol="0" anchor="t"/>
          <a:lstStyle/>
          <a:p>
            <a:pPr marL="0" indent="0">
              <a:buNone/>
            </a:pPr>
            <a:r>
              <a:rPr lang="en-US" sz="1100" b="1" dirty="0">
                <a:solidFill>
                  <a:srgbClr val="B85042"/>
                </a:solidFill>
                <a:latin typeface="Calibri" pitchFamily="34" charset="0"/>
                <a:ea typeface="Calibri" pitchFamily="34" charset="-122"/>
                <a:cs typeface="Calibri" pitchFamily="34" charset="-120"/>
              </a:rPr>
              <a:t>Note: </a:t>
            </a:r>
            <a:r>
              <a:rPr lang="en-US" sz="1100" dirty="0">
                <a:solidFill>
                  <a:srgbClr val="454545"/>
                </a:solidFill>
                <a:latin typeface="Calibri" pitchFamily="34" charset="0"/>
                <a:ea typeface="Calibri" pitchFamily="34" charset="-122"/>
                <a:cs typeface="Calibri" pitchFamily="34" charset="-120"/>
              </a:rPr>
              <a:t>ConvNeXt is </a:t>
            </a:r>
            <a:r>
              <a:rPr lang="en-US" sz="1100" b="1" i="1" dirty="0">
                <a:solidFill>
                  <a:srgbClr val="2B2B2B"/>
                </a:solidFill>
                <a:latin typeface="Calibri" pitchFamily="34" charset="0"/>
                <a:ea typeface="Calibri" pitchFamily="34" charset="-122"/>
                <a:cs typeface="Calibri" pitchFamily="34" charset="-120"/>
              </a:rPr>
              <a:t>purely convolutional</a:t>
            </a:r>
            <a:r>
              <a:rPr lang="en-US" sz="1100" dirty="0">
                <a:solidFill>
                  <a:srgbClr val="454545"/>
                </a:solidFill>
                <a:latin typeface="Calibri" pitchFamily="34" charset="0"/>
                <a:ea typeface="Calibri" pitchFamily="34" charset="-122"/>
                <a:cs typeface="Calibri" pitchFamily="34" charset="-120"/>
              </a:rPr>
              <a:t> — not a hybrid. It adopts Transformer </a:t>
            </a:r>
            <a:r>
              <a:rPr lang="en-US" sz="1100" i="1" dirty="0">
                <a:solidFill>
                  <a:srgbClr val="2B2B2B"/>
                </a:solidFill>
                <a:latin typeface="Calibri" pitchFamily="34" charset="0"/>
                <a:ea typeface="Calibri" pitchFamily="34" charset="-122"/>
                <a:cs typeface="Calibri" pitchFamily="34" charset="-120"/>
              </a:rPr>
              <a:t>design principles</a:t>
            </a:r>
            <a:r>
              <a:rPr lang="en-US" sz="1100" dirty="0">
                <a:solidFill>
                  <a:srgbClr val="454545"/>
                </a:solidFill>
                <a:latin typeface="Calibri" pitchFamily="34" charset="0"/>
                <a:ea typeface="Calibri" pitchFamily="34" charset="-122"/>
                <a:cs typeface="Calibri" pitchFamily="34" charset="-120"/>
              </a:rPr>
              <a:t> within a CNN backbone.</a:t>
            </a:r>
            <a:endParaRPr lang="en-US" sz="1100" dirty="0"/>
          </a:p>
        </p:txBody>
      </p:sp>
    </p:spTree>
    <p:extLst>
      <p:ext uri="{BB962C8B-B14F-4D97-AF65-F5344CB8AC3E}">
        <p14:creationId xmlns:p14="http://schemas.microsoft.com/office/powerpoint/2010/main" val="5554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79EC09-7ECE-62AC-B9B5-F4F281C7DA8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C69FFA-195C-5956-5DB9-00A2CC6B0D73}"/>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53469DFE-CBF7-A3C6-C852-AAA72208BD18}"/>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DA9760F6-A538-DB56-DA94-0DF5ECA7B59C}"/>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7 / 32</a:t>
            </a:r>
            <a:endParaRPr lang="en-US" sz="900" dirty="0"/>
          </a:p>
        </p:txBody>
      </p:sp>
      <p:sp>
        <p:nvSpPr>
          <p:cNvPr id="5" name="Text 3">
            <a:extLst>
              <a:ext uri="{FF2B5EF4-FFF2-40B4-BE49-F238E27FC236}">
                <a16:creationId xmlns:a16="http://schemas.microsoft.com/office/drawing/2014/main" id="{6B2ED6A7-DFDC-6BE3-EEAD-BC54A04D3E1A}"/>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Three architectural paradigms - CNNs</a:t>
            </a:r>
            <a:endParaRPr lang="en-US" sz="2600" dirty="0"/>
          </a:p>
        </p:txBody>
      </p:sp>
      <p:graphicFrame>
        <p:nvGraphicFramePr>
          <p:cNvPr id="15" name="Table 14">
            <a:extLst>
              <a:ext uri="{FF2B5EF4-FFF2-40B4-BE49-F238E27FC236}">
                <a16:creationId xmlns:a16="http://schemas.microsoft.com/office/drawing/2014/main" id="{95188046-25FA-02E7-514F-6137B01F2990}"/>
              </a:ext>
            </a:extLst>
          </p:cNvPr>
          <p:cNvGraphicFramePr>
            <a:graphicFrameLocks noGrp="1"/>
          </p:cNvGraphicFramePr>
          <p:nvPr>
            <p:extLst>
              <p:ext uri="{D42A27DB-BD31-4B8C-83A1-F6EECF244321}">
                <p14:modId xmlns:p14="http://schemas.microsoft.com/office/powerpoint/2010/main" val="282841188"/>
              </p:ext>
            </p:extLst>
          </p:nvPr>
        </p:nvGraphicFramePr>
        <p:xfrm>
          <a:off x="530352" y="1477587"/>
          <a:ext cx="7516368" cy="3017520"/>
        </p:xfrm>
        <a:graphic>
          <a:graphicData uri="http://schemas.openxmlformats.org/drawingml/2006/table">
            <a:tbl>
              <a:tblPr firstRow="1" bandRow="1">
                <a:tableStyleId>{21E4AEA4-8DFA-4A89-87EB-49C32662AFE0}</a:tableStyleId>
              </a:tblPr>
              <a:tblGrid>
                <a:gridCol w="1064021">
                  <a:extLst>
                    <a:ext uri="{9D8B030D-6E8A-4147-A177-3AD203B41FA5}">
                      <a16:colId xmlns:a16="http://schemas.microsoft.com/office/drawing/2014/main" val="131224218"/>
                    </a:ext>
                  </a:extLst>
                </a:gridCol>
                <a:gridCol w="1107374">
                  <a:extLst>
                    <a:ext uri="{9D8B030D-6E8A-4147-A177-3AD203B41FA5}">
                      <a16:colId xmlns:a16="http://schemas.microsoft.com/office/drawing/2014/main" val="2179380637"/>
                    </a:ext>
                  </a:extLst>
                </a:gridCol>
                <a:gridCol w="1300451">
                  <a:extLst>
                    <a:ext uri="{9D8B030D-6E8A-4147-A177-3AD203B41FA5}">
                      <a16:colId xmlns:a16="http://schemas.microsoft.com/office/drawing/2014/main" val="3266904946"/>
                    </a:ext>
                  </a:extLst>
                </a:gridCol>
                <a:gridCol w="1300451">
                  <a:extLst>
                    <a:ext uri="{9D8B030D-6E8A-4147-A177-3AD203B41FA5}">
                      <a16:colId xmlns:a16="http://schemas.microsoft.com/office/drawing/2014/main" val="1661689476"/>
                    </a:ext>
                  </a:extLst>
                </a:gridCol>
                <a:gridCol w="1360105">
                  <a:extLst>
                    <a:ext uri="{9D8B030D-6E8A-4147-A177-3AD203B41FA5}">
                      <a16:colId xmlns:a16="http://schemas.microsoft.com/office/drawing/2014/main" val="864389550"/>
                    </a:ext>
                  </a:extLst>
                </a:gridCol>
                <a:gridCol w="1383966">
                  <a:extLst>
                    <a:ext uri="{9D8B030D-6E8A-4147-A177-3AD203B41FA5}">
                      <a16:colId xmlns:a16="http://schemas.microsoft.com/office/drawing/2014/main" val="195799292"/>
                    </a:ext>
                  </a:extLst>
                </a:gridCol>
              </a:tblGrid>
              <a:tr h="228538">
                <a:tc>
                  <a:txBody>
                    <a:bodyPr/>
                    <a:lstStyle/>
                    <a:p>
                      <a:pPr>
                        <a:buNone/>
                      </a:pPr>
                      <a:r>
                        <a:rPr lang="en-US" sz="1200" dirty="0"/>
                        <a:t>Study</a:t>
                      </a:r>
                    </a:p>
                  </a:txBody>
                  <a:tcPr anchor="ctr"/>
                </a:tc>
                <a:tc>
                  <a:txBody>
                    <a:bodyPr/>
                    <a:lstStyle/>
                    <a:p>
                      <a:pPr>
                        <a:buNone/>
                      </a:pPr>
                      <a:r>
                        <a:rPr lang="en-US" sz="1200" dirty="0"/>
                        <a:t>Approach</a:t>
                      </a:r>
                    </a:p>
                  </a:txBody>
                  <a:tcPr anchor="ctr"/>
                </a:tc>
                <a:tc>
                  <a:txBody>
                    <a:bodyPr/>
                    <a:lstStyle/>
                    <a:p>
                      <a:pPr>
                        <a:buNone/>
                      </a:pPr>
                      <a:r>
                        <a:rPr lang="en-US" sz="1200" dirty="0"/>
                        <a:t>Dataset</a:t>
                      </a:r>
                    </a:p>
                  </a:txBody>
                  <a:tcPr anchor="ctr"/>
                </a:tc>
                <a:tc>
                  <a:txBody>
                    <a:bodyPr/>
                    <a:lstStyle/>
                    <a:p>
                      <a:pPr>
                        <a:buNone/>
                      </a:pPr>
                      <a:r>
                        <a:rPr lang="en-US" sz="1200" dirty="0"/>
                        <a:t>Key Results</a:t>
                      </a:r>
                    </a:p>
                  </a:txBody>
                  <a:tcPr anchor="ctr"/>
                </a:tc>
                <a:tc>
                  <a:txBody>
                    <a:bodyPr/>
                    <a:lstStyle/>
                    <a:p>
                      <a:pPr>
                        <a:buNone/>
                      </a:pPr>
                      <a:r>
                        <a:rPr lang="en-US" sz="1200" dirty="0"/>
                        <a:t>Strengths</a:t>
                      </a:r>
                    </a:p>
                  </a:txBody>
                  <a:tcPr anchor="ctr"/>
                </a:tc>
                <a:tc>
                  <a:txBody>
                    <a:bodyPr/>
                    <a:lstStyle/>
                    <a:p>
                      <a:pPr>
                        <a:buNone/>
                      </a:pPr>
                      <a:r>
                        <a:rPr lang="en-US" sz="1200" dirty="0"/>
                        <a:t>Limitations</a:t>
                      </a:r>
                    </a:p>
                  </a:txBody>
                  <a:tcPr anchor="ctr"/>
                </a:tc>
                <a:extLst>
                  <a:ext uri="{0D108BD9-81ED-4DB2-BD59-A6C34878D82A}">
                    <a16:rowId xmlns:a16="http://schemas.microsoft.com/office/drawing/2014/main" val="3824115295"/>
                  </a:ext>
                </a:extLst>
              </a:tr>
              <a:tr h="1447409">
                <a:tc>
                  <a:txBody>
                    <a:bodyPr/>
                    <a:lstStyle/>
                    <a:p>
                      <a:pPr>
                        <a:buNone/>
                      </a:pPr>
                      <a:r>
                        <a:rPr lang="en-US" sz="1200" b="1" dirty="0"/>
                        <a:t>Bu et al. [27]</a:t>
                      </a:r>
                      <a:endParaRPr lang="en-US" sz="1200" dirty="0"/>
                    </a:p>
                  </a:txBody>
                  <a:tcPr anchor="ctr"/>
                </a:tc>
                <a:tc>
                  <a:txBody>
                    <a:bodyPr/>
                    <a:lstStyle/>
                    <a:p>
                      <a:pPr>
                        <a:buNone/>
                      </a:pPr>
                      <a:r>
                        <a:rPr lang="en-US" sz="1200" dirty="0"/>
                        <a:t>Transfer learning + </a:t>
                      </a:r>
                      <a:r>
                        <a:rPr lang="en-US" sz="1200" b="1" dirty="0"/>
                        <a:t>ensemble of multiple CNNs </a:t>
                      </a:r>
                      <a:r>
                        <a:rPr lang="en-US" sz="1200" dirty="0"/>
                        <a:t>(VGG19, </a:t>
                      </a:r>
                      <a:r>
                        <a:rPr lang="en-US" sz="1200" b="1" dirty="0"/>
                        <a:t>ResNet50</a:t>
                      </a:r>
                      <a:r>
                        <a:rPr lang="en-US" sz="1200" dirty="0"/>
                        <a:t>, MobileNetV2, </a:t>
                      </a:r>
                      <a:r>
                        <a:rPr lang="en-US" sz="1200" dirty="0" err="1"/>
                        <a:t>AlexNet</a:t>
                      </a:r>
                      <a:r>
                        <a:rPr lang="en-US" sz="1200" dirty="0"/>
                        <a:t>)</a:t>
                      </a:r>
                    </a:p>
                  </a:txBody>
                  <a:tcPr anchor="ctr"/>
                </a:tc>
                <a:tc>
                  <a:txBody>
                    <a:bodyPr/>
                    <a:lstStyle/>
                    <a:p>
                      <a:pPr>
                        <a:buNone/>
                      </a:pPr>
                      <a:r>
                        <a:rPr lang="en-US" sz="1200" dirty="0"/>
                        <a:t>Food-11</a:t>
                      </a:r>
                    </a:p>
                  </a:txBody>
                  <a:tcPr anchor="ctr"/>
                </a:tc>
                <a:tc>
                  <a:txBody>
                    <a:bodyPr/>
                    <a:lstStyle/>
                    <a:p>
                      <a:pPr>
                        <a:buNone/>
                      </a:pPr>
                      <a:r>
                        <a:rPr lang="en-US" sz="1200" b="1" dirty="0"/>
                        <a:t>96.88% accuracy</a:t>
                      </a:r>
                      <a:r>
                        <a:rPr lang="en-US" sz="1200" dirty="0"/>
                        <a:t>, 95.43% F1-score</a:t>
                      </a:r>
                    </a:p>
                  </a:txBody>
                  <a:tcPr anchor="ctr"/>
                </a:tc>
                <a:tc>
                  <a:txBody>
                    <a:bodyPr/>
                    <a:lstStyle/>
                    <a:p>
                      <a:pPr>
                        <a:buNone/>
                      </a:pPr>
                      <a:r>
                        <a:rPr lang="en-US" sz="1200" dirty="0"/>
                        <a:t>High accuracy; ensemble improves robustness</a:t>
                      </a:r>
                    </a:p>
                  </a:txBody>
                  <a:tcPr anchor="ctr"/>
                </a:tc>
                <a:tc>
                  <a:txBody>
                    <a:bodyPr/>
                    <a:lstStyle/>
                    <a:p>
                      <a:pPr>
                        <a:buNone/>
                      </a:pPr>
                      <a:r>
                        <a:rPr lang="en-US" sz="1200" b="1" dirty="0"/>
                        <a:t>High computational cost</a:t>
                      </a:r>
                      <a:r>
                        <a:rPr lang="en-US" sz="1200" dirty="0"/>
                        <a:t>; slower inference</a:t>
                      </a:r>
                    </a:p>
                  </a:txBody>
                  <a:tcPr anchor="ctr"/>
                </a:tc>
                <a:extLst>
                  <a:ext uri="{0D108BD9-81ED-4DB2-BD59-A6C34878D82A}">
                    <a16:rowId xmlns:a16="http://schemas.microsoft.com/office/drawing/2014/main" val="2733985751"/>
                  </a:ext>
                </a:extLst>
              </a:tr>
              <a:tr h="1142691">
                <a:tc>
                  <a:txBody>
                    <a:bodyPr/>
                    <a:lstStyle/>
                    <a:p>
                      <a:pPr>
                        <a:buNone/>
                      </a:pPr>
                      <a:r>
                        <a:rPr lang="en-US" sz="1200" b="1"/>
                        <a:t>Karabay et al. [28]</a:t>
                      </a:r>
                      <a:endParaRPr lang="en-US" sz="1200"/>
                    </a:p>
                  </a:txBody>
                  <a:tcPr anchor="ctr"/>
                </a:tc>
                <a:tc>
                  <a:txBody>
                    <a:bodyPr/>
                    <a:lstStyle/>
                    <a:p>
                      <a:pPr>
                        <a:buNone/>
                      </a:pPr>
                      <a:r>
                        <a:rPr lang="en-US" sz="1200" dirty="0"/>
                        <a:t>Transfer learning with deep CNNs (best: </a:t>
                      </a:r>
                      <a:r>
                        <a:rPr lang="en-US" sz="1200" b="1" dirty="0"/>
                        <a:t>ResNet-152</a:t>
                      </a:r>
                      <a:r>
                        <a:rPr lang="en-US" sz="1200" dirty="0"/>
                        <a:t>)</a:t>
                      </a:r>
                    </a:p>
                  </a:txBody>
                  <a:tcPr anchor="ctr"/>
                </a:tc>
                <a:tc>
                  <a:txBody>
                    <a:bodyPr/>
                    <a:lstStyle/>
                    <a:p>
                      <a:pPr>
                        <a:buNone/>
                      </a:pPr>
                      <a:r>
                        <a:rPr lang="en-US" sz="1200" dirty="0"/>
                        <a:t>CAFD, Food1k, CAFD+Food1k</a:t>
                      </a:r>
                    </a:p>
                  </a:txBody>
                  <a:tcPr anchor="ctr"/>
                </a:tc>
                <a:tc>
                  <a:txBody>
                    <a:bodyPr/>
                    <a:lstStyle/>
                    <a:p>
                      <a:pPr>
                        <a:buNone/>
                      </a:pPr>
                      <a:r>
                        <a:rPr lang="en-US" sz="1200" b="1" dirty="0"/>
                        <a:t>Top-1: 88.70%</a:t>
                      </a:r>
                      <a:r>
                        <a:rPr lang="en-US" sz="1200" dirty="0"/>
                        <a:t>, </a:t>
                      </a:r>
                    </a:p>
                    <a:p>
                      <a:pPr>
                        <a:buNone/>
                      </a:pPr>
                      <a:r>
                        <a:rPr lang="en-US" sz="1200" dirty="0"/>
                        <a:t>Top-5: 98.59%</a:t>
                      </a:r>
                    </a:p>
                  </a:txBody>
                  <a:tcPr anchor="ctr"/>
                </a:tc>
                <a:tc>
                  <a:txBody>
                    <a:bodyPr/>
                    <a:lstStyle/>
                    <a:p>
                      <a:pPr>
                        <a:buNone/>
                      </a:pPr>
                      <a:r>
                        <a:rPr lang="en-US" sz="1200" b="1" dirty="0"/>
                        <a:t>Strong performance with region-specific data</a:t>
                      </a:r>
                      <a:r>
                        <a:rPr lang="en-US" sz="1200" dirty="0"/>
                        <a:t>; highlights dataset importance</a:t>
                      </a:r>
                    </a:p>
                  </a:txBody>
                  <a:tcPr anchor="ctr"/>
                </a:tc>
                <a:tc>
                  <a:txBody>
                    <a:bodyPr/>
                    <a:lstStyle/>
                    <a:p>
                      <a:pPr>
                        <a:buNone/>
                      </a:pPr>
                      <a:r>
                        <a:rPr lang="en-US" sz="1200" b="1" dirty="0"/>
                        <a:t>Class imbalance</a:t>
                      </a:r>
                      <a:r>
                        <a:rPr lang="en-US" sz="1200" dirty="0"/>
                        <a:t>; struggles with similar dishes; only single-food classification</a:t>
                      </a:r>
                    </a:p>
                  </a:txBody>
                  <a:tcPr anchor="ctr"/>
                </a:tc>
                <a:extLst>
                  <a:ext uri="{0D108BD9-81ED-4DB2-BD59-A6C34878D82A}">
                    <a16:rowId xmlns:a16="http://schemas.microsoft.com/office/drawing/2014/main" val="1166769607"/>
                  </a:ext>
                </a:extLst>
              </a:tr>
            </a:tbl>
          </a:graphicData>
        </a:graphic>
      </p:graphicFrame>
    </p:spTree>
    <p:extLst>
      <p:ext uri="{BB962C8B-B14F-4D97-AF65-F5344CB8AC3E}">
        <p14:creationId xmlns:p14="http://schemas.microsoft.com/office/powerpoint/2010/main" val="3615205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9F2D0B-4EFF-0F2B-EE22-961307AD13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277F28-4582-33B6-6228-1AFB01787DD5}"/>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07BA3E16-D0E9-EB80-5BB5-7FA21B67A028}"/>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6E68E57D-1E2F-2C84-9B44-170DF815DE45}"/>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8/ 232</a:t>
            </a:r>
            <a:endParaRPr lang="en-US" sz="900" dirty="0"/>
          </a:p>
        </p:txBody>
      </p:sp>
      <p:sp>
        <p:nvSpPr>
          <p:cNvPr id="5" name="Text 3">
            <a:extLst>
              <a:ext uri="{FF2B5EF4-FFF2-40B4-BE49-F238E27FC236}">
                <a16:creationId xmlns:a16="http://schemas.microsoft.com/office/drawing/2014/main" id="{60EE6414-9158-8D2C-42C8-55D631AF43FE}"/>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Vision Transformers (ViTs)</a:t>
            </a:r>
            <a:endParaRPr lang="en-US" sz="2600" dirty="0"/>
          </a:p>
        </p:txBody>
      </p:sp>
      <p:graphicFrame>
        <p:nvGraphicFramePr>
          <p:cNvPr id="13" name="Table 12">
            <a:extLst>
              <a:ext uri="{FF2B5EF4-FFF2-40B4-BE49-F238E27FC236}">
                <a16:creationId xmlns:a16="http://schemas.microsoft.com/office/drawing/2014/main" id="{8C48A2A5-EA45-3EEB-A9FA-6BB2FD81031A}"/>
              </a:ext>
            </a:extLst>
          </p:cNvPr>
          <p:cNvGraphicFramePr>
            <a:graphicFrameLocks noGrp="1"/>
          </p:cNvGraphicFramePr>
          <p:nvPr>
            <p:extLst>
              <p:ext uri="{D42A27DB-BD31-4B8C-83A1-F6EECF244321}">
                <p14:modId xmlns:p14="http://schemas.microsoft.com/office/powerpoint/2010/main" val="3176474498"/>
              </p:ext>
            </p:extLst>
          </p:nvPr>
        </p:nvGraphicFramePr>
        <p:xfrm>
          <a:off x="457200" y="1691640"/>
          <a:ext cx="7955279" cy="2763202"/>
        </p:xfrm>
        <a:graphic>
          <a:graphicData uri="http://schemas.openxmlformats.org/drawingml/2006/table">
            <a:tbl>
              <a:tblPr firstRow="1" bandRow="1">
                <a:tableStyleId>{93296810-A885-4BE3-A3E7-6D5BEEA58F35}</a:tableStyleId>
              </a:tblPr>
              <a:tblGrid>
                <a:gridCol w="1325880">
                  <a:extLst>
                    <a:ext uri="{9D8B030D-6E8A-4147-A177-3AD203B41FA5}">
                      <a16:colId xmlns:a16="http://schemas.microsoft.com/office/drawing/2014/main" val="2972389911"/>
                    </a:ext>
                  </a:extLst>
                </a:gridCol>
                <a:gridCol w="1325880">
                  <a:extLst>
                    <a:ext uri="{9D8B030D-6E8A-4147-A177-3AD203B41FA5}">
                      <a16:colId xmlns:a16="http://schemas.microsoft.com/office/drawing/2014/main" val="1339960532"/>
                    </a:ext>
                  </a:extLst>
                </a:gridCol>
                <a:gridCol w="1200868">
                  <a:extLst>
                    <a:ext uri="{9D8B030D-6E8A-4147-A177-3AD203B41FA5}">
                      <a16:colId xmlns:a16="http://schemas.microsoft.com/office/drawing/2014/main" val="3074294883"/>
                    </a:ext>
                  </a:extLst>
                </a:gridCol>
                <a:gridCol w="1250115">
                  <a:extLst>
                    <a:ext uri="{9D8B030D-6E8A-4147-A177-3AD203B41FA5}">
                      <a16:colId xmlns:a16="http://schemas.microsoft.com/office/drawing/2014/main" val="2385337395"/>
                    </a:ext>
                  </a:extLst>
                </a:gridCol>
                <a:gridCol w="1511503">
                  <a:extLst>
                    <a:ext uri="{9D8B030D-6E8A-4147-A177-3AD203B41FA5}">
                      <a16:colId xmlns:a16="http://schemas.microsoft.com/office/drawing/2014/main" val="2206543473"/>
                    </a:ext>
                  </a:extLst>
                </a:gridCol>
                <a:gridCol w="1341033">
                  <a:extLst>
                    <a:ext uri="{9D8B030D-6E8A-4147-A177-3AD203B41FA5}">
                      <a16:colId xmlns:a16="http://schemas.microsoft.com/office/drawing/2014/main" val="1699560288"/>
                    </a:ext>
                  </a:extLst>
                </a:gridCol>
              </a:tblGrid>
              <a:tr h="268034">
                <a:tc>
                  <a:txBody>
                    <a:bodyPr/>
                    <a:lstStyle/>
                    <a:p>
                      <a:pPr>
                        <a:buNone/>
                      </a:pPr>
                      <a:r>
                        <a:rPr lang="en-US" sz="1200" dirty="0"/>
                        <a:t>Study</a:t>
                      </a:r>
                    </a:p>
                  </a:txBody>
                  <a:tcPr anchor="ctr"/>
                </a:tc>
                <a:tc>
                  <a:txBody>
                    <a:bodyPr/>
                    <a:lstStyle/>
                    <a:p>
                      <a:pPr>
                        <a:buNone/>
                      </a:pPr>
                      <a:r>
                        <a:rPr lang="en-US" sz="1200"/>
                        <a:t>Approach</a:t>
                      </a:r>
                    </a:p>
                  </a:txBody>
                  <a:tcPr anchor="ctr"/>
                </a:tc>
                <a:tc>
                  <a:txBody>
                    <a:bodyPr/>
                    <a:lstStyle/>
                    <a:p>
                      <a:pPr>
                        <a:buNone/>
                      </a:pPr>
                      <a:r>
                        <a:rPr lang="en-US" sz="1200"/>
                        <a:t>Dataset</a:t>
                      </a:r>
                    </a:p>
                  </a:txBody>
                  <a:tcPr anchor="ctr"/>
                </a:tc>
                <a:tc>
                  <a:txBody>
                    <a:bodyPr/>
                    <a:lstStyle/>
                    <a:p>
                      <a:pPr>
                        <a:buNone/>
                      </a:pPr>
                      <a:r>
                        <a:rPr lang="en-US" sz="1200"/>
                        <a:t>Key Results</a:t>
                      </a:r>
                    </a:p>
                  </a:txBody>
                  <a:tcPr anchor="ctr"/>
                </a:tc>
                <a:tc>
                  <a:txBody>
                    <a:bodyPr/>
                    <a:lstStyle/>
                    <a:p>
                      <a:pPr>
                        <a:buNone/>
                      </a:pPr>
                      <a:r>
                        <a:rPr lang="en-US" sz="1200"/>
                        <a:t>Strengths</a:t>
                      </a:r>
                    </a:p>
                  </a:txBody>
                  <a:tcPr anchor="ctr"/>
                </a:tc>
                <a:tc>
                  <a:txBody>
                    <a:bodyPr/>
                    <a:lstStyle/>
                    <a:p>
                      <a:pPr>
                        <a:buNone/>
                      </a:pPr>
                      <a:r>
                        <a:rPr lang="en-US" sz="1200"/>
                        <a:t>Limitations</a:t>
                      </a:r>
                    </a:p>
                  </a:txBody>
                  <a:tcPr anchor="ctr"/>
                </a:tc>
                <a:extLst>
                  <a:ext uri="{0D108BD9-81ED-4DB2-BD59-A6C34878D82A}">
                    <a16:rowId xmlns:a16="http://schemas.microsoft.com/office/drawing/2014/main" val="2471149533"/>
                  </a:ext>
                </a:extLst>
              </a:tr>
              <a:tr h="1301877">
                <a:tc>
                  <a:txBody>
                    <a:bodyPr/>
                    <a:lstStyle/>
                    <a:p>
                      <a:pPr>
                        <a:buNone/>
                      </a:pPr>
                      <a:r>
                        <a:rPr lang="en-US" sz="1200" b="1"/>
                        <a:t>Banerjee et al. [29]</a:t>
                      </a:r>
                      <a:endParaRPr lang="en-US" sz="1200"/>
                    </a:p>
                  </a:txBody>
                  <a:tcPr anchor="ctr"/>
                </a:tc>
                <a:tc>
                  <a:txBody>
                    <a:bodyPr/>
                    <a:lstStyle/>
                    <a:p>
                      <a:pPr>
                        <a:buNone/>
                      </a:pPr>
                      <a:r>
                        <a:rPr lang="fr-FR" sz="1200" dirty="0"/>
                        <a:t>Vision Transformer (ViT-B16) for classification + </a:t>
                      </a:r>
                      <a:r>
                        <a:rPr lang="fr-FR" sz="1200" dirty="0" err="1"/>
                        <a:t>nutritional</a:t>
                      </a:r>
                      <a:r>
                        <a:rPr lang="fr-FR" sz="1200" dirty="0"/>
                        <a:t> </a:t>
                      </a:r>
                      <a:r>
                        <a:rPr lang="fr-FR" sz="1200" dirty="0" err="1"/>
                        <a:t>regression</a:t>
                      </a:r>
                      <a:endParaRPr lang="fr-FR" sz="1200" dirty="0"/>
                    </a:p>
                  </a:txBody>
                  <a:tcPr anchor="ctr"/>
                </a:tc>
                <a:tc>
                  <a:txBody>
                    <a:bodyPr/>
                    <a:lstStyle/>
                    <a:p>
                      <a:pPr>
                        <a:buNone/>
                      </a:pPr>
                      <a:r>
                        <a:rPr lang="en-US" sz="1200"/>
                        <a:t>Food-101, Recipe1M+</a:t>
                      </a:r>
                    </a:p>
                  </a:txBody>
                  <a:tcPr anchor="ctr"/>
                </a:tc>
                <a:tc>
                  <a:txBody>
                    <a:bodyPr/>
                    <a:lstStyle/>
                    <a:p>
                      <a:pPr>
                        <a:buNone/>
                      </a:pPr>
                      <a:r>
                        <a:rPr lang="en-US" sz="1200" b="1" dirty="0"/>
                        <a:t>92.3% accuracy</a:t>
                      </a:r>
                      <a:r>
                        <a:rPr lang="en-US" sz="1200" dirty="0"/>
                        <a:t>, 8.5% MAE</a:t>
                      </a:r>
                    </a:p>
                  </a:txBody>
                  <a:tcPr anchor="ctr"/>
                </a:tc>
                <a:tc>
                  <a:txBody>
                    <a:bodyPr/>
                    <a:lstStyle/>
                    <a:p>
                      <a:pPr>
                        <a:buNone/>
                      </a:pPr>
                      <a:r>
                        <a:rPr lang="en-US" sz="1200" dirty="0"/>
                        <a:t>Captures </a:t>
                      </a:r>
                      <a:r>
                        <a:rPr lang="en-US" sz="1200" b="1" dirty="0"/>
                        <a:t>global relationships </a:t>
                      </a:r>
                      <a:r>
                        <a:rPr lang="en-US" sz="1200" dirty="0"/>
                        <a:t>in multi-ingredient dishes; outperforms CNNs</a:t>
                      </a:r>
                    </a:p>
                  </a:txBody>
                  <a:tcPr anchor="ctr"/>
                </a:tc>
                <a:tc>
                  <a:txBody>
                    <a:bodyPr/>
                    <a:lstStyle/>
                    <a:p>
                      <a:pPr>
                        <a:buNone/>
                      </a:pPr>
                      <a:r>
                        <a:rPr lang="en-US" sz="1200" dirty="0"/>
                        <a:t>Higher computational cost; </a:t>
                      </a:r>
                      <a:r>
                        <a:rPr lang="en-US" sz="1200" b="1" dirty="0"/>
                        <a:t>requires large datasets</a:t>
                      </a:r>
                    </a:p>
                  </a:txBody>
                  <a:tcPr anchor="ctr"/>
                </a:tc>
                <a:extLst>
                  <a:ext uri="{0D108BD9-81ED-4DB2-BD59-A6C34878D82A}">
                    <a16:rowId xmlns:a16="http://schemas.microsoft.com/office/drawing/2014/main" val="3098759566"/>
                  </a:ext>
                </a:extLst>
              </a:tr>
              <a:tr h="1187005">
                <a:tc>
                  <a:txBody>
                    <a:bodyPr/>
                    <a:lstStyle/>
                    <a:p>
                      <a:pPr>
                        <a:buNone/>
                      </a:pPr>
                      <a:r>
                        <a:rPr lang="en-US" sz="1200" b="1"/>
                        <a:t>Gao et al. [30]</a:t>
                      </a:r>
                      <a:endParaRPr lang="en-US" sz="1200"/>
                    </a:p>
                  </a:txBody>
                  <a:tcPr anchor="ctr"/>
                </a:tc>
                <a:tc>
                  <a:txBody>
                    <a:bodyPr/>
                    <a:lstStyle/>
                    <a:p>
                      <a:pPr>
                        <a:buNone/>
                      </a:pPr>
                      <a:r>
                        <a:rPr lang="en-US" sz="1200"/>
                        <a:t>Enhanced ViT (AlsmViT) with AugmentPlus, LayerScale, improved MLP</a:t>
                      </a:r>
                    </a:p>
                  </a:txBody>
                  <a:tcPr anchor="ctr"/>
                </a:tc>
                <a:tc>
                  <a:txBody>
                    <a:bodyPr/>
                    <a:lstStyle/>
                    <a:p>
                      <a:pPr>
                        <a:buNone/>
                      </a:pPr>
                      <a:r>
                        <a:rPr lang="en-US" sz="1200"/>
                        <a:t>Food-101, Vireo Food-172</a:t>
                      </a:r>
                    </a:p>
                  </a:txBody>
                  <a:tcPr anchor="ctr"/>
                </a:tc>
                <a:tc>
                  <a:txBody>
                    <a:bodyPr/>
                    <a:lstStyle/>
                    <a:p>
                      <a:pPr>
                        <a:buNone/>
                      </a:pPr>
                      <a:r>
                        <a:rPr lang="en-US" sz="1200" b="1" dirty="0"/>
                        <a:t>95.17%</a:t>
                      </a:r>
                      <a:r>
                        <a:rPr lang="en-US" sz="1200" dirty="0"/>
                        <a:t>, 94.29% accuracy</a:t>
                      </a:r>
                    </a:p>
                  </a:txBody>
                  <a:tcPr anchor="ctr"/>
                </a:tc>
                <a:tc>
                  <a:txBody>
                    <a:bodyPr/>
                    <a:lstStyle/>
                    <a:p>
                      <a:pPr>
                        <a:buNone/>
                      </a:pPr>
                      <a:r>
                        <a:rPr lang="en-US" sz="1200" dirty="0"/>
                        <a:t>State-of-the-art performance; </a:t>
                      </a:r>
                      <a:r>
                        <a:rPr lang="en-US" sz="1200" b="1" dirty="0"/>
                        <a:t>strong feature extraction</a:t>
                      </a:r>
                    </a:p>
                  </a:txBody>
                  <a:tcPr anchor="ctr"/>
                </a:tc>
                <a:tc>
                  <a:txBody>
                    <a:bodyPr/>
                    <a:lstStyle/>
                    <a:p>
                      <a:pPr>
                        <a:buNone/>
                      </a:pPr>
                      <a:r>
                        <a:rPr lang="en-US" sz="1200" dirty="0"/>
                        <a:t>Increased model complexity; </a:t>
                      </a:r>
                      <a:r>
                        <a:rPr lang="en-US" sz="1200" b="1" dirty="0"/>
                        <a:t>training cost</a:t>
                      </a:r>
                    </a:p>
                  </a:txBody>
                  <a:tcPr anchor="ctr"/>
                </a:tc>
                <a:extLst>
                  <a:ext uri="{0D108BD9-81ED-4DB2-BD59-A6C34878D82A}">
                    <a16:rowId xmlns:a16="http://schemas.microsoft.com/office/drawing/2014/main" val="3046461852"/>
                  </a:ext>
                </a:extLst>
              </a:tr>
            </a:tbl>
          </a:graphicData>
        </a:graphic>
      </p:graphicFrame>
    </p:spTree>
    <p:extLst>
      <p:ext uri="{BB962C8B-B14F-4D97-AF65-F5344CB8AC3E}">
        <p14:creationId xmlns:p14="http://schemas.microsoft.com/office/powerpoint/2010/main" val="862417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2A20CE7-D992-872D-8D11-BBAC94A5F5B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73C980-9630-47BB-836D-5D764E305EE5}"/>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DAB80A1D-0C4A-DDF8-911E-D9981AEF8283}"/>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4FBC2A63-CF35-38BE-94DA-FA5A42784522}"/>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9/324</a:t>
            </a:r>
            <a:endParaRPr lang="en-US" sz="900" dirty="0"/>
          </a:p>
        </p:txBody>
      </p:sp>
      <p:sp>
        <p:nvSpPr>
          <p:cNvPr id="5" name="Text 3">
            <a:extLst>
              <a:ext uri="{FF2B5EF4-FFF2-40B4-BE49-F238E27FC236}">
                <a16:creationId xmlns:a16="http://schemas.microsoft.com/office/drawing/2014/main" id="{07E6DF36-F186-16B9-7F9B-89950C69A038}"/>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Cross-paradigm – CNN inspired </a:t>
            </a:r>
            <a:r>
              <a:rPr lang="en-US" sz="2600" b="1" dirty="0" err="1">
                <a:solidFill>
                  <a:srgbClr val="2B2B2B"/>
                </a:solidFill>
                <a:latin typeface="Georgia" pitchFamily="34" charset="0"/>
                <a:ea typeface="Georgia" pitchFamily="34" charset="-122"/>
                <a:cs typeface="Georgia" pitchFamily="34" charset="-120"/>
              </a:rPr>
              <a:t>ViT</a:t>
            </a:r>
            <a:endParaRPr lang="en-US" sz="2600" dirty="0"/>
          </a:p>
        </p:txBody>
      </p:sp>
      <p:graphicFrame>
        <p:nvGraphicFramePr>
          <p:cNvPr id="6" name="Table 5">
            <a:extLst>
              <a:ext uri="{FF2B5EF4-FFF2-40B4-BE49-F238E27FC236}">
                <a16:creationId xmlns:a16="http://schemas.microsoft.com/office/drawing/2014/main" id="{C5EF8E26-ED0D-902A-1868-E942B2A175F6}"/>
              </a:ext>
            </a:extLst>
          </p:cNvPr>
          <p:cNvGraphicFramePr>
            <a:graphicFrameLocks noGrp="1"/>
          </p:cNvGraphicFramePr>
          <p:nvPr>
            <p:extLst>
              <p:ext uri="{D42A27DB-BD31-4B8C-83A1-F6EECF244321}">
                <p14:modId xmlns:p14="http://schemas.microsoft.com/office/powerpoint/2010/main" val="3982984764"/>
              </p:ext>
            </p:extLst>
          </p:nvPr>
        </p:nvGraphicFramePr>
        <p:xfrm>
          <a:off x="448056" y="1737360"/>
          <a:ext cx="7781544" cy="2286000"/>
        </p:xfrm>
        <a:graphic>
          <a:graphicData uri="http://schemas.openxmlformats.org/drawingml/2006/table">
            <a:tbl>
              <a:tblPr firstRow="1" bandRow="1">
                <a:tableStyleId>{5C22544A-7EE6-4342-B048-85BDC9FD1C3A}</a:tableStyleId>
              </a:tblPr>
              <a:tblGrid>
                <a:gridCol w="1296924">
                  <a:extLst>
                    <a:ext uri="{9D8B030D-6E8A-4147-A177-3AD203B41FA5}">
                      <a16:colId xmlns:a16="http://schemas.microsoft.com/office/drawing/2014/main" val="4253675409"/>
                    </a:ext>
                  </a:extLst>
                </a:gridCol>
                <a:gridCol w="1296924">
                  <a:extLst>
                    <a:ext uri="{9D8B030D-6E8A-4147-A177-3AD203B41FA5}">
                      <a16:colId xmlns:a16="http://schemas.microsoft.com/office/drawing/2014/main" val="894913483"/>
                    </a:ext>
                  </a:extLst>
                </a:gridCol>
                <a:gridCol w="1296924">
                  <a:extLst>
                    <a:ext uri="{9D8B030D-6E8A-4147-A177-3AD203B41FA5}">
                      <a16:colId xmlns:a16="http://schemas.microsoft.com/office/drawing/2014/main" val="4090555106"/>
                    </a:ext>
                  </a:extLst>
                </a:gridCol>
                <a:gridCol w="1296924">
                  <a:extLst>
                    <a:ext uri="{9D8B030D-6E8A-4147-A177-3AD203B41FA5}">
                      <a16:colId xmlns:a16="http://schemas.microsoft.com/office/drawing/2014/main" val="1887269459"/>
                    </a:ext>
                  </a:extLst>
                </a:gridCol>
                <a:gridCol w="1296924">
                  <a:extLst>
                    <a:ext uri="{9D8B030D-6E8A-4147-A177-3AD203B41FA5}">
                      <a16:colId xmlns:a16="http://schemas.microsoft.com/office/drawing/2014/main" val="2508877330"/>
                    </a:ext>
                  </a:extLst>
                </a:gridCol>
                <a:gridCol w="1296924">
                  <a:extLst>
                    <a:ext uri="{9D8B030D-6E8A-4147-A177-3AD203B41FA5}">
                      <a16:colId xmlns:a16="http://schemas.microsoft.com/office/drawing/2014/main" val="4147515570"/>
                    </a:ext>
                  </a:extLst>
                </a:gridCol>
              </a:tblGrid>
              <a:tr h="185045">
                <a:tc>
                  <a:txBody>
                    <a:bodyPr/>
                    <a:lstStyle/>
                    <a:p>
                      <a:pPr>
                        <a:buNone/>
                      </a:pPr>
                      <a:r>
                        <a:rPr lang="en-US" sz="1200" dirty="0"/>
                        <a:t>Study</a:t>
                      </a:r>
                    </a:p>
                  </a:txBody>
                  <a:tcPr anchor="ctr"/>
                </a:tc>
                <a:tc>
                  <a:txBody>
                    <a:bodyPr/>
                    <a:lstStyle/>
                    <a:p>
                      <a:pPr>
                        <a:buNone/>
                      </a:pPr>
                      <a:r>
                        <a:rPr lang="en-US" sz="1200"/>
                        <a:t>Approach</a:t>
                      </a:r>
                    </a:p>
                  </a:txBody>
                  <a:tcPr anchor="ctr"/>
                </a:tc>
                <a:tc>
                  <a:txBody>
                    <a:bodyPr/>
                    <a:lstStyle/>
                    <a:p>
                      <a:pPr>
                        <a:buNone/>
                      </a:pPr>
                      <a:r>
                        <a:rPr lang="en-US" sz="1200" dirty="0"/>
                        <a:t>Dataset</a:t>
                      </a:r>
                    </a:p>
                  </a:txBody>
                  <a:tcPr anchor="ctr"/>
                </a:tc>
                <a:tc>
                  <a:txBody>
                    <a:bodyPr/>
                    <a:lstStyle/>
                    <a:p>
                      <a:pPr>
                        <a:buNone/>
                      </a:pPr>
                      <a:r>
                        <a:rPr lang="en-US" sz="1200" dirty="0"/>
                        <a:t>Key Results</a:t>
                      </a:r>
                    </a:p>
                  </a:txBody>
                  <a:tcPr anchor="ctr"/>
                </a:tc>
                <a:tc>
                  <a:txBody>
                    <a:bodyPr/>
                    <a:lstStyle/>
                    <a:p>
                      <a:pPr>
                        <a:buNone/>
                      </a:pPr>
                      <a:r>
                        <a:rPr lang="en-US" sz="1200"/>
                        <a:t>Strengths</a:t>
                      </a:r>
                    </a:p>
                  </a:txBody>
                  <a:tcPr anchor="ctr"/>
                </a:tc>
                <a:tc>
                  <a:txBody>
                    <a:bodyPr/>
                    <a:lstStyle/>
                    <a:p>
                      <a:pPr>
                        <a:buNone/>
                      </a:pPr>
                      <a:r>
                        <a:rPr lang="en-US" sz="1200"/>
                        <a:t>Limitations</a:t>
                      </a:r>
                    </a:p>
                  </a:txBody>
                  <a:tcPr anchor="ctr"/>
                </a:tc>
                <a:extLst>
                  <a:ext uri="{0D108BD9-81ED-4DB2-BD59-A6C34878D82A}">
                    <a16:rowId xmlns:a16="http://schemas.microsoft.com/office/drawing/2014/main" val="2539345385"/>
                  </a:ext>
                </a:extLst>
              </a:tr>
              <a:tr h="704696">
                <a:tc>
                  <a:txBody>
                    <a:bodyPr/>
                    <a:lstStyle/>
                    <a:p>
                      <a:pPr>
                        <a:buNone/>
                      </a:pPr>
                      <a:r>
                        <a:rPr lang="nl-NL" sz="1200" b="1" dirty="0"/>
                        <a:t>Ze Liu et al. [31]</a:t>
                      </a:r>
                      <a:endParaRPr lang="nl-NL" sz="1200" dirty="0"/>
                    </a:p>
                  </a:txBody>
                  <a:tcPr anchor="ctr"/>
                </a:tc>
                <a:tc>
                  <a:txBody>
                    <a:bodyPr/>
                    <a:lstStyle/>
                    <a:p>
                      <a:pPr>
                        <a:buNone/>
                      </a:pPr>
                      <a:r>
                        <a:rPr lang="en-US" sz="1200"/>
                        <a:t>Swin Transformer (hierarchical ViT with shifted window attention)</a:t>
                      </a:r>
                    </a:p>
                  </a:txBody>
                  <a:tcPr anchor="ctr"/>
                </a:tc>
                <a:tc>
                  <a:txBody>
                    <a:bodyPr/>
                    <a:lstStyle/>
                    <a:p>
                      <a:pPr>
                        <a:buNone/>
                      </a:pPr>
                      <a:r>
                        <a:rPr lang="en-US" sz="1200"/>
                        <a:t>General vision benchmarks</a:t>
                      </a:r>
                    </a:p>
                  </a:txBody>
                  <a:tcPr anchor="ctr"/>
                </a:tc>
                <a:tc>
                  <a:txBody>
                    <a:bodyPr/>
                    <a:lstStyle/>
                    <a:p>
                      <a:pPr>
                        <a:buNone/>
                      </a:pPr>
                      <a:r>
                        <a:rPr lang="en-US" sz="1200" dirty="0"/>
                        <a:t>Improved efficiency with </a:t>
                      </a:r>
                      <a:r>
                        <a:rPr lang="en-US" sz="1200" b="0" dirty="0"/>
                        <a:t>linear complexity</a:t>
                      </a:r>
                    </a:p>
                  </a:txBody>
                  <a:tcPr anchor="ctr"/>
                </a:tc>
                <a:tc>
                  <a:txBody>
                    <a:bodyPr/>
                    <a:lstStyle/>
                    <a:p>
                      <a:pPr>
                        <a:buNone/>
                      </a:pPr>
                      <a:r>
                        <a:rPr lang="en-US" sz="1200"/>
                        <a:t>Captures both local and global features; scalable</a:t>
                      </a:r>
                    </a:p>
                  </a:txBody>
                  <a:tcPr anchor="ctr"/>
                </a:tc>
                <a:tc>
                  <a:txBody>
                    <a:bodyPr/>
                    <a:lstStyle/>
                    <a:p>
                      <a:pPr>
                        <a:buNone/>
                      </a:pPr>
                      <a:r>
                        <a:rPr lang="en-US" sz="1200" dirty="0"/>
                        <a:t>Still </a:t>
                      </a:r>
                      <a:r>
                        <a:rPr lang="en-US" sz="1200" b="1" dirty="0"/>
                        <a:t>computationally intensive </a:t>
                      </a:r>
                      <a:r>
                        <a:rPr lang="en-US" sz="1200" dirty="0"/>
                        <a:t>vs CNNs</a:t>
                      </a:r>
                    </a:p>
                  </a:txBody>
                  <a:tcPr anchor="ctr"/>
                </a:tc>
                <a:extLst>
                  <a:ext uri="{0D108BD9-81ED-4DB2-BD59-A6C34878D82A}">
                    <a16:rowId xmlns:a16="http://schemas.microsoft.com/office/drawing/2014/main" val="1329012888"/>
                  </a:ext>
                </a:extLst>
              </a:tr>
              <a:tr h="685502">
                <a:tc>
                  <a:txBody>
                    <a:bodyPr/>
                    <a:lstStyle/>
                    <a:p>
                      <a:pPr>
                        <a:buNone/>
                      </a:pPr>
                      <a:r>
                        <a:rPr lang="en-US" sz="1200" b="1"/>
                        <a:t>Xiao et al. [32]</a:t>
                      </a:r>
                      <a:endParaRPr lang="en-US" sz="1200"/>
                    </a:p>
                  </a:txBody>
                  <a:tcPr anchor="ctr"/>
                </a:tc>
                <a:tc>
                  <a:txBody>
                    <a:bodyPr/>
                    <a:lstStyle/>
                    <a:p>
                      <a:pPr>
                        <a:buNone/>
                      </a:pPr>
                      <a:r>
                        <a:rPr lang="en-US" sz="1200"/>
                        <a:t>Swin-DR (Swin Transformer + deep residual networks)</a:t>
                      </a:r>
                    </a:p>
                  </a:txBody>
                  <a:tcPr anchor="ctr"/>
                </a:tc>
                <a:tc>
                  <a:txBody>
                    <a:bodyPr/>
                    <a:lstStyle/>
                    <a:p>
                      <a:pPr>
                        <a:buNone/>
                      </a:pPr>
                      <a:r>
                        <a:rPr lang="en-US" sz="1200" dirty="0"/>
                        <a:t>FoodX-251, UEC Food-256</a:t>
                      </a:r>
                    </a:p>
                  </a:txBody>
                  <a:tcPr anchor="ctr"/>
                </a:tc>
                <a:tc>
                  <a:txBody>
                    <a:bodyPr/>
                    <a:lstStyle/>
                    <a:p>
                      <a:pPr>
                        <a:buNone/>
                      </a:pPr>
                      <a:r>
                        <a:rPr lang="en-US" sz="1200" b="1" dirty="0"/>
                        <a:t>81.07%, 82.77% accuracy</a:t>
                      </a:r>
                      <a:endParaRPr lang="en-US" sz="1200" dirty="0"/>
                    </a:p>
                  </a:txBody>
                  <a:tcPr anchor="ctr"/>
                </a:tc>
                <a:tc>
                  <a:txBody>
                    <a:bodyPr/>
                    <a:lstStyle/>
                    <a:p>
                      <a:pPr>
                        <a:buNone/>
                      </a:pPr>
                      <a:r>
                        <a:rPr lang="en-US" sz="1200"/>
                        <a:t>Combines CNN + Transformer strengths; good for fine-grained tasks</a:t>
                      </a:r>
                    </a:p>
                  </a:txBody>
                  <a:tcPr anchor="ctr"/>
                </a:tc>
                <a:tc>
                  <a:txBody>
                    <a:bodyPr/>
                    <a:lstStyle/>
                    <a:p>
                      <a:pPr>
                        <a:buNone/>
                      </a:pPr>
                      <a:r>
                        <a:rPr lang="en-US" sz="1200" dirty="0"/>
                        <a:t>Moderate accuracy; increased model complexity</a:t>
                      </a:r>
                    </a:p>
                  </a:txBody>
                  <a:tcPr anchor="ctr"/>
                </a:tc>
                <a:extLst>
                  <a:ext uri="{0D108BD9-81ED-4DB2-BD59-A6C34878D82A}">
                    <a16:rowId xmlns:a16="http://schemas.microsoft.com/office/drawing/2014/main" val="4049204785"/>
                  </a:ext>
                </a:extLst>
              </a:tr>
            </a:tbl>
          </a:graphicData>
        </a:graphic>
      </p:graphicFrame>
    </p:spTree>
    <p:extLst>
      <p:ext uri="{BB962C8B-B14F-4D97-AF65-F5344CB8AC3E}">
        <p14:creationId xmlns:p14="http://schemas.microsoft.com/office/powerpoint/2010/main" val="45972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F08B83-48C3-F15A-E070-6E138E7934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03CBBA-1CE6-52F9-9DD3-E4DBAA890C37}"/>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E133A9FB-686E-E7AE-6B8E-C58E5B723FAB}"/>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EAE48894-5A08-E1FD-0C6E-B57EBA4D0167}"/>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10/ 32</a:t>
            </a:r>
            <a:endParaRPr lang="en-US" sz="900" dirty="0"/>
          </a:p>
        </p:txBody>
      </p:sp>
      <p:sp>
        <p:nvSpPr>
          <p:cNvPr id="5" name="Text 3">
            <a:extLst>
              <a:ext uri="{FF2B5EF4-FFF2-40B4-BE49-F238E27FC236}">
                <a16:creationId xmlns:a16="http://schemas.microsoft.com/office/drawing/2014/main" id="{28430AE9-7F77-42FA-8667-7C6F3381AC1D}"/>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Cross-paradigm – </a:t>
            </a:r>
            <a:r>
              <a:rPr lang="en-US" sz="2600" b="1" dirty="0" err="1">
                <a:solidFill>
                  <a:srgbClr val="2B2B2B"/>
                </a:solidFill>
                <a:latin typeface="Georgia" pitchFamily="34" charset="0"/>
                <a:ea typeface="Georgia" pitchFamily="34" charset="-122"/>
                <a:cs typeface="Georgia" pitchFamily="34" charset="-120"/>
              </a:rPr>
              <a:t>ViT</a:t>
            </a:r>
            <a:r>
              <a:rPr lang="en-US" sz="2600" b="1" dirty="0">
                <a:solidFill>
                  <a:srgbClr val="2B2B2B"/>
                </a:solidFill>
                <a:latin typeface="Georgia" pitchFamily="34" charset="0"/>
                <a:ea typeface="Georgia" pitchFamily="34" charset="-122"/>
                <a:cs typeface="Georgia" pitchFamily="34" charset="-120"/>
              </a:rPr>
              <a:t> inspired CNN</a:t>
            </a:r>
            <a:endParaRPr lang="en-US" sz="2600" dirty="0"/>
          </a:p>
        </p:txBody>
      </p:sp>
      <p:graphicFrame>
        <p:nvGraphicFramePr>
          <p:cNvPr id="7" name="Table 6">
            <a:extLst>
              <a:ext uri="{FF2B5EF4-FFF2-40B4-BE49-F238E27FC236}">
                <a16:creationId xmlns:a16="http://schemas.microsoft.com/office/drawing/2014/main" id="{AE3B96F3-BEA9-D221-CA4E-DB3D81FD9717}"/>
              </a:ext>
            </a:extLst>
          </p:cNvPr>
          <p:cNvGraphicFramePr>
            <a:graphicFrameLocks noGrp="1"/>
          </p:cNvGraphicFramePr>
          <p:nvPr>
            <p:extLst>
              <p:ext uri="{D42A27DB-BD31-4B8C-83A1-F6EECF244321}">
                <p14:modId xmlns:p14="http://schemas.microsoft.com/office/powerpoint/2010/main" val="3229472864"/>
              </p:ext>
            </p:extLst>
          </p:nvPr>
        </p:nvGraphicFramePr>
        <p:xfrm>
          <a:off x="457200" y="1737360"/>
          <a:ext cx="7772400" cy="256032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4253675409"/>
                    </a:ext>
                  </a:extLst>
                </a:gridCol>
                <a:gridCol w="1295400">
                  <a:extLst>
                    <a:ext uri="{9D8B030D-6E8A-4147-A177-3AD203B41FA5}">
                      <a16:colId xmlns:a16="http://schemas.microsoft.com/office/drawing/2014/main" val="894913483"/>
                    </a:ext>
                  </a:extLst>
                </a:gridCol>
                <a:gridCol w="1295400">
                  <a:extLst>
                    <a:ext uri="{9D8B030D-6E8A-4147-A177-3AD203B41FA5}">
                      <a16:colId xmlns:a16="http://schemas.microsoft.com/office/drawing/2014/main" val="4090555106"/>
                    </a:ext>
                  </a:extLst>
                </a:gridCol>
                <a:gridCol w="1295400">
                  <a:extLst>
                    <a:ext uri="{9D8B030D-6E8A-4147-A177-3AD203B41FA5}">
                      <a16:colId xmlns:a16="http://schemas.microsoft.com/office/drawing/2014/main" val="1887269459"/>
                    </a:ext>
                  </a:extLst>
                </a:gridCol>
                <a:gridCol w="1295400">
                  <a:extLst>
                    <a:ext uri="{9D8B030D-6E8A-4147-A177-3AD203B41FA5}">
                      <a16:colId xmlns:a16="http://schemas.microsoft.com/office/drawing/2014/main" val="2508877330"/>
                    </a:ext>
                  </a:extLst>
                </a:gridCol>
                <a:gridCol w="1295400">
                  <a:extLst>
                    <a:ext uri="{9D8B030D-6E8A-4147-A177-3AD203B41FA5}">
                      <a16:colId xmlns:a16="http://schemas.microsoft.com/office/drawing/2014/main" val="4147515570"/>
                    </a:ext>
                  </a:extLst>
                </a:gridCol>
              </a:tblGrid>
              <a:tr h="185045">
                <a:tc>
                  <a:txBody>
                    <a:bodyPr/>
                    <a:lstStyle/>
                    <a:p>
                      <a:pPr>
                        <a:buNone/>
                      </a:pPr>
                      <a:r>
                        <a:rPr lang="en-US" sz="1200" dirty="0"/>
                        <a:t>Study</a:t>
                      </a:r>
                    </a:p>
                  </a:txBody>
                  <a:tcPr anchor="ctr"/>
                </a:tc>
                <a:tc>
                  <a:txBody>
                    <a:bodyPr/>
                    <a:lstStyle/>
                    <a:p>
                      <a:pPr>
                        <a:buNone/>
                      </a:pPr>
                      <a:r>
                        <a:rPr lang="en-US" sz="1200" dirty="0"/>
                        <a:t>Approach</a:t>
                      </a:r>
                    </a:p>
                  </a:txBody>
                  <a:tcPr anchor="ctr"/>
                </a:tc>
                <a:tc>
                  <a:txBody>
                    <a:bodyPr/>
                    <a:lstStyle/>
                    <a:p>
                      <a:pPr>
                        <a:buNone/>
                      </a:pPr>
                      <a:r>
                        <a:rPr lang="en-US" sz="1200" dirty="0"/>
                        <a:t>Dataset</a:t>
                      </a:r>
                    </a:p>
                  </a:txBody>
                  <a:tcPr anchor="ctr"/>
                </a:tc>
                <a:tc>
                  <a:txBody>
                    <a:bodyPr/>
                    <a:lstStyle/>
                    <a:p>
                      <a:pPr>
                        <a:buNone/>
                      </a:pPr>
                      <a:r>
                        <a:rPr lang="en-US" sz="1200"/>
                        <a:t>Key Results</a:t>
                      </a:r>
                    </a:p>
                  </a:txBody>
                  <a:tcPr anchor="ctr"/>
                </a:tc>
                <a:tc>
                  <a:txBody>
                    <a:bodyPr/>
                    <a:lstStyle/>
                    <a:p>
                      <a:pPr>
                        <a:buNone/>
                      </a:pPr>
                      <a:r>
                        <a:rPr lang="en-US" sz="1200" dirty="0"/>
                        <a:t>Strengths</a:t>
                      </a:r>
                    </a:p>
                  </a:txBody>
                  <a:tcPr anchor="ctr"/>
                </a:tc>
                <a:tc>
                  <a:txBody>
                    <a:bodyPr/>
                    <a:lstStyle/>
                    <a:p>
                      <a:pPr>
                        <a:buNone/>
                      </a:pPr>
                      <a:r>
                        <a:rPr lang="en-US" sz="1200"/>
                        <a:t>Limitations</a:t>
                      </a:r>
                    </a:p>
                  </a:txBody>
                  <a:tcPr anchor="ctr"/>
                </a:tc>
                <a:extLst>
                  <a:ext uri="{0D108BD9-81ED-4DB2-BD59-A6C34878D82A}">
                    <a16:rowId xmlns:a16="http://schemas.microsoft.com/office/drawing/2014/main" val="2539345385"/>
                  </a:ext>
                </a:extLst>
              </a:tr>
              <a:tr h="564873">
                <a:tc>
                  <a:txBody>
                    <a:bodyPr/>
                    <a:lstStyle/>
                    <a:p>
                      <a:pPr>
                        <a:buNone/>
                      </a:pPr>
                      <a:r>
                        <a:rPr lang="nl-NL" sz="1200" b="1" dirty="0"/>
                        <a:t>Ze Liu et al. [33]</a:t>
                      </a:r>
                      <a:endParaRPr lang="nl-NL" sz="1200" dirty="0"/>
                    </a:p>
                  </a:txBody>
                  <a:tcPr anchor="ctr"/>
                </a:tc>
                <a:tc>
                  <a:txBody>
                    <a:bodyPr/>
                    <a:lstStyle/>
                    <a:p>
                      <a:pPr>
                        <a:buNone/>
                      </a:pPr>
                      <a:r>
                        <a:rPr lang="en-US" sz="1200" dirty="0"/>
                        <a:t>ConvNeXt (</a:t>
                      </a:r>
                      <a:r>
                        <a:rPr lang="en-US" sz="1200" dirty="0" err="1"/>
                        <a:t>modernised</a:t>
                      </a:r>
                      <a:r>
                        <a:rPr lang="en-US" sz="1200" dirty="0"/>
                        <a:t> CNN inspired by Transformers)</a:t>
                      </a:r>
                    </a:p>
                  </a:txBody>
                  <a:tcPr anchor="ctr"/>
                </a:tc>
                <a:tc>
                  <a:txBody>
                    <a:bodyPr/>
                    <a:lstStyle/>
                    <a:p>
                      <a:pPr>
                        <a:buNone/>
                      </a:pPr>
                      <a:r>
                        <a:rPr lang="en-US" sz="1200" dirty="0"/>
                        <a:t>Image classification benchmarks</a:t>
                      </a:r>
                    </a:p>
                  </a:txBody>
                  <a:tcPr anchor="ctr"/>
                </a:tc>
                <a:tc>
                  <a:txBody>
                    <a:bodyPr/>
                    <a:lstStyle/>
                    <a:p>
                      <a:pPr>
                        <a:buNone/>
                      </a:pPr>
                      <a:r>
                        <a:rPr lang="en-US" sz="1200" b="1" dirty="0"/>
                        <a:t>Competitive against ViTs</a:t>
                      </a:r>
                    </a:p>
                  </a:txBody>
                  <a:tcPr anchor="ctr"/>
                </a:tc>
                <a:tc>
                  <a:txBody>
                    <a:bodyPr/>
                    <a:lstStyle/>
                    <a:p>
                      <a:pPr>
                        <a:buNone/>
                      </a:pPr>
                      <a:r>
                        <a:rPr lang="en-US" sz="1200" b="1" dirty="0"/>
                        <a:t>Retains CNN efficiency with improved global modeling</a:t>
                      </a:r>
                    </a:p>
                  </a:txBody>
                  <a:tcPr anchor="ctr"/>
                </a:tc>
                <a:tc>
                  <a:txBody>
                    <a:bodyPr/>
                    <a:lstStyle/>
                    <a:p>
                      <a:pPr>
                        <a:buNone/>
                      </a:pPr>
                      <a:r>
                        <a:rPr lang="en-US" sz="1200" dirty="0"/>
                        <a:t>Still limited vs full attention mechanisms</a:t>
                      </a:r>
                    </a:p>
                  </a:txBody>
                  <a:tcPr anchor="ctr"/>
                </a:tc>
                <a:extLst>
                  <a:ext uri="{0D108BD9-81ED-4DB2-BD59-A6C34878D82A}">
                    <a16:rowId xmlns:a16="http://schemas.microsoft.com/office/drawing/2014/main" val="1186544098"/>
                  </a:ext>
                </a:extLst>
              </a:tr>
              <a:tr h="438263">
                <a:tc>
                  <a:txBody>
                    <a:bodyPr/>
                    <a:lstStyle/>
                    <a:p>
                      <a:pPr>
                        <a:buNone/>
                      </a:pPr>
                      <a:r>
                        <a:rPr lang="en-US" sz="1200" b="1"/>
                        <a:t>Bingöl [34]</a:t>
                      </a:r>
                      <a:endParaRPr lang="en-US" sz="1200"/>
                    </a:p>
                  </a:txBody>
                  <a:tcPr anchor="ctr"/>
                </a:tc>
                <a:tc>
                  <a:txBody>
                    <a:bodyPr/>
                    <a:lstStyle/>
                    <a:p>
                      <a:pPr>
                        <a:buNone/>
                      </a:pPr>
                      <a:r>
                        <a:rPr lang="en-US" sz="1200" dirty="0"/>
                        <a:t>ConvNeXt</a:t>
                      </a:r>
                    </a:p>
                  </a:txBody>
                  <a:tcPr anchor="ctr"/>
                </a:tc>
                <a:tc>
                  <a:txBody>
                    <a:bodyPr/>
                    <a:lstStyle/>
                    <a:p>
                      <a:pPr>
                        <a:buNone/>
                      </a:pPr>
                      <a:r>
                        <a:rPr lang="en-US" sz="1200"/>
                        <a:t>Turkish food datasets</a:t>
                      </a:r>
                    </a:p>
                  </a:txBody>
                  <a:tcPr anchor="ctr"/>
                </a:tc>
                <a:tc>
                  <a:txBody>
                    <a:bodyPr/>
                    <a:lstStyle/>
                    <a:p>
                      <a:pPr>
                        <a:buNone/>
                      </a:pPr>
                      <a:r>
                        <a:rPr lang="en-US" sz="1200" b="1"/>
                        <a:t>Highest accuracy across datasets</a:t>
                      </a:r>
                      <a:endParaRPr lang="en-US" sz="1200"/>
                    </a:p>
                  </a:txBody>
                  <a:tcPr anchor="ctr"/>
                </a:tc>
                <a:tc>
                  <a:txBody>
                    <a:bodyPr/>
                    <a:lstStyle/>
                    <a:p>
                      <a:pPr>
                        <a:buNone/>
                      </a:pPr>
                      <a:r>
                        <a:rPr lang="en-US" sz="1200" dirty="0"/>
                        <a:t>Strong performance vs </a:t>
                      </a:r>
                      <a:r>
                        <a:rPr lang="en-US" sz="1200" dirty="0" err="1"/>
                        <a:t>ViT</a:t>
                      </a:r>
                      <a:r>
                        <a:rPr lang="en-US" sz="1200" dirty="0"/>
                        <a:t> &amp; Swin</a:t>
                      </a:r>
                    </a:p>
                  </a:txBody>
                  <a:tcPr anchor="ctr"/>
                </a:tc>
                <a:tc>
                  <a:txBody>
                    <a:bodyPr/>
                    <a:lstStyle/>
                    <a:p>
                      <a:pPr>
                        <a:buNone/>
                      </a:pPr>
                      <a:r>
                        <a:rPr lang="en-US" sz="1200" dirty="0"/>
                        <a:t>Dataset-specific validation</a:t>
                      </a:r>
                    </a:p>
                  </a:txBody>
                  <a:tcPr anchor="ctr"/>
                </a:tc>
                <a:extLst>
                  <a:ext uri="{0D108BD9-81ED-4DB2-BD59-A6C34878D82A}">
                    <a16:rowId xmlns:a16="http://schemas.microsoft.com/office/drawing/2014/main" val="1162770093"/>
                  </a:ext>
                </a:extLst>
              </a:tr>
              <a:tr h="564873">
                <a:tc>
                  <a:txBody>
                    <a:bodyPr/>
                    <a:lstStyle/>
                    <a:p>
                      <a:pPr>
                        <a:buNone/>
                      </a:pPr>
                      <a:r>
                        <a:rPr lang="en-US" sz="1200" b="1"/>
                        <a:t>Zheng et al. [23]</a:t>
                      </a:r>
                      <a:endParaRPr lang="en-US" sz="1200"/>
                    </a:p>
                  </a:txBody>
                  <a:tcPr anchor="ctr"/>
                </a:tc>
                <a:tc>
                  <a:txBody>
                    <a:bodyPr/>
                    <a:lstStyle/>
                    <a:p>
                      <a:pPr>
                        <a:buNone/>
                      </a:pPr>
                      <a:r>
                        <a:rPr lang="en-US" sz="1200"/>
                        <a:t>CNNs + Supervised Contrastive Learning (SCL)</a:t>
                      </a:r>
                    </a:p>
                  </a:txBody>
                  <a:tcPr anchor="ctr"/>
                </a:tc>
                <a:tc>
                  <a:txBody>
                    <a:bodyPr/>
                    <a:lstStyle/>
                    <a:p>
                      <a:pPr>
                        <a:buNone/>
                      </a:pPr>
                      <a:r>
                        <a:rPr lang="en-US" sz="1200"/>
                        <a:t>FoodSG-233</a:t>
                      </a:r>
                    </a:p>
                  </a:txBody>
                  <a:tcPr anchor="ctr"/>
                </a:tc>
                <a:tc>
                  <a:txBody>
                    <a:bodyPr/>
                    <a:lstStyle/>
                    <a:p>
                      <a:pPr>
                        <a:buNone/>
                      </a:pPr>
                      <a:r>
                        <a:rPr lang="en-US" sz="1200" dirty="0"/>
                        <a:t>EfficientNetV2 &gt; ConvNeXt (Top-1 accuracy)</a:t>
                      </a:r>
                    </a:p>
                  </a:txBody>
                  <a:tcPr anchor="ctr"/>
                </a:tc>
                <a:tc>
                  <a:txBody>
                    <a:bodyPr/>
                    <a:lstStyle/>
                    <a:p>
                      <a:pPr>
                        <a:buNone/>
                      </a:pPr>
                      <a:r>
                        <a:rPr lang="en-US" sz="1200"/>
                        <a:t>Shows effectiveness of optimisation strategies</a:t>
                      </a:r>
                    </a:p>
                  </a:txBody>
                  <a:tcPr anchor="ctr"/>
                </a:tc>
                <a:tc>
                  <a:txBody>
                    <a:bodyPr/>
                    <a:lstStyle/>
                    <a:p>
                      <a:pPr>
                        <a:buNone/>
                      </a:pPr>
                      <a:r>
                        <a:rPr lang="en-US" sz="1200" dirty="0"/>
                        <a:t>ConvNeXt slightly underperforms compared to EfficientNetV2</a:t>
                      </a:r>
                    </a:p>
                  </a:txBody>
                  <a:tcPr anchor="ctr"/>
                </a:tc>
                <a:extLst>
                  <a:ext uri="{0D108BD9-81ED-4DB2-BD59-A6C34878D82A}">
                    <a16:rowId xmlns:a16="http://schemas.microsoft.com/office/drawing/2014/main" val="954455"/>
                  </a:ext>
                </a:extLst>
              </a:tr>
            </a:tbl>
          </a:graphicData>
        </a:graphic>
      </p:graphicFrame>
    </p:spTree>
    <p:extLst>
      <p:ext uri="{BB962C8B-B14F-4D97-AF65-F5344CB8AC3E}">
        <p14:creationId xmlns:p14="http://schemas.microsoft.com/office/powerpoint/2010/main" val="1255670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11/32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Optimisation techniques in prior work</a:t>
            </a:r>
            <a:endParaRPr lang="en-US" sz="2600" dirty="0"/>
          </a:p>
        </p:txBody>
      </p:sp>
      <p:sp>
        <p:nvSpPr>
          <p:cNvPr id="6" name="Text 4"/>
          <p:cNvSpPr/>
          <p:nvPr/>
        </p:nvSpPr>
        <p:spPr>
          <a:xfrm>
            <a:off x="457200" y="1828800"/>
            <a:ext cx="4023360" cy="27432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TRAINING STRATEGIES</a:t>
            </a:r>
            <a:endParaRPr lang="en-US" sz="1000" dirty="0"/>
          </a:p>
        </p:txBody>
      </p:sp>
      <p:sp>
        <p:nvSpPr>
          <p:cNvPr id="7" name="Text 5"/>
          <p:cNvSpPr/>
          <p:nvPr/>
        </p:nvSpPr>
        <p:spPr>
          <a:xfrm>
            <a:off x="457200" y="2194560"/>
            <a:ext cx="4023360" cy="2103120"/>
          </a:xfrm>
          <a:prstGeom prst="rect">
            <a:avLst/>
          </a:prstGeom>
          <a:noFill/>
          <a:ln/>
        </p:spPr>
        <p:txBody>
          <a:bodyPr wrap="square" lIns="0" tIns="0" rIns="0" bIns="0" rtlCol="0" anchor="t"/>
          <a:lstStyle/>
          <a:p>
            <a:pPr marL="0" indent="0">
              <a:spcAft>
                <a:spcPts val="400"/>
              </a:spcAft>
              <a:buNone/>
            </a:pPr>
            <a:r>
              <a:rPr lang="en-US" sz="1400" b="1" dirty="0">
                <a:solidFill>
                  <a:srgbClr val="2B2B2B"/>
                </a:solidFill>
                <a:latin typeface="Calibri" pitchFamily="34" charset="0"/>
                <a:ea typeface="Calibri" pitchFamily="34" charset="-122"/>
                <a:cs typeface="Calibri" pitchFamily="34" charset="-120"/>
              </a:rPr>
              <a:t>Transfer learning</a:t>
            </a:r>
            <a:endParaRPr lang="en-US" sz="1400" dirty="0"/>
          </a:p>
          <a:p>
            <a:pPr marL="0" indent="0">
              <a:spcAft>
                <a:spcPts val="400"/>
              </a:spcAft>
              <a:buNone/>
            </a:pPr>
            <a:r>
              <a:rPr lang="en-US" sz="1200" dirty="0">
                <a:solidFill>
                  <a:srgbClr val="454545"/>
                </a:solidFill>
                <a:latin typeface="Calibri" pitchFamily="34" charset="0"/>
                <a:ea typeface="Calibri" pitchFamily="34" charset="-122"/>
                <a:cs typeface="Calibri" pitchFamily="34" charset="-120"/>
              </a:rPr>
              <a:t>ImageNet pretrained weights — faster convergence and better generalisation in data-limited settings.</a:t>
            </a:r>
            <a:endParaRPr lang="en-US" sz="1400" dirty="0"/>
          </a:p>
          <a:p>
            <a:pPr marL="0" indent="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2B2B2B"/>
                </a:solidFill>
                <a:latin typeface="Calibri" pitchFamily="34" charset="0"/>
                <a:ea typeface="Calibri" pitchFamily="34" charset="-122"/>
                <a:cs typeface="Calibri" pitchFamily="34" charset="-120"/>
              </a:rPr>
              <a:t>Data augmentation</a:t>
            </a:r>
            <a:endParaRPr lang="en-US" sz="1400" dirty="0"/>
          </a:p>
          <a:p>
            <a:pPr marL="0" indent="0">
              <a:spcAft>
                <a:spcPts val="400"/>
              </a:spcAft>
              <a:buNone/>
            </a:pPr>
            <a:r>
              <a:rPr lang="en-US" sz="1200" dirty="0">
                <a:solidFill>
                  <a:srgbClr val="454545"/>
                </a:solidFill>
                <a:latin typeface="Calibri" pitchFamily="34" charset="0"/>
                <a:ea typeface="Calibri" pitchFamily="34" charset="-122"/>
                <a:cs typeface="Calibri" pitchFamily="34" charset="-120"/>
              </a:rPr>
              <a:t>random crops, rotations, flips, colour perturbations — robust to lighting, viewpoint, scale.</a:t>
            </a:r>
            <a:endParaRPr lang="en-US" sz="1400" dirty="0"/>
          </a:p>
        </p:txBody>
      </p:sp>
      <p:sp>
        <p:nvSpPr>
          <p:cNvPr id="8" name="Text 6"/>
          <p:cNvSpPr/>
          <p:nvPr/>
        </p:nvSpPr>
        <p:spPr>
          <a:xfrm>
            <a:off x="4663440" y="1828800"/>
            <a:ext cx="402336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HANDLING CLASS IMBALANCE</a:t>
            </a:r>
            <a:endParaRPr lang="en-US" sz="1000" dirty="0"/>
          </a:p>
        </p:txBody>
      </p:sp>
      <p:sp>
        <p:nvSpPr>
          <p:cNvPr id="9" name="Text 7"/>
          <p:cNvSpPr/>
          <p:nvPr/>
        </p:nvSpPr>
        <p:spPr>
          <a:xfrm>
            <a:off x="4663440" y="2194560"/>
            <a:ext cx="4023360" cy="2103120"/>
          </a:xfrm>
          <a:prstGeom prst="rect">
            <a:avLst/>
          </a:prstGeom>
          <a:noFill/>
          <a:ln/>
        </p:spPr>
        <p:txBody>
          <a:bodyPr wrap="square" lIns="0" tIns="0" rIns="0" bIns="0" rtlCol="0" anchor="t"/>
          <a:lstStyle/>
          <a:p>
            <a:pPr marL="0" indent="0">
              <a:spcAft>
                <a:spcPts val="400"/>
              </a:spcAft>
              <a:buNone/>
            </a:pPr>
            <a:r>
              <a:rPr lang="en-US" sz="1400" b="1" dirty="0">
                <a:solidFill>
                  <a:srgbClr val="2B2B2B"/>
                </a:solidFill>
                <a:latin typeface="Calibri" pitchFamily="34" charset="0"/>
                <a:ea typeface="Calibri" pitchFamily="34" charset="-122"/>
                <a:cs typeface="Calibri" pitchFamily="34" charset="-120"/>
              </a:rPr>
              <a:t>Class-weighted loss</a:t>
            </a:r>
            <a:endParaRPr lang="en-US" sz="1400" dirty="0"/>
          </a:p>
          <a:p>
            <a:pPr marL="0" indent="0">
              <a:spcAft>
                <a:spcPts val="400"/>
              </a:spcAft>
              <a:buNone/>
            </a:pPr>
            <a:r>
              <a:rPr lang="en-US" sz="1200" dirty="0">
                <a:solidFill>
                  <a:srgbClr val="454545"/>
                </a:solidFill>
                <a:latin typeface="Calibri" pitchFamily="34" charset="0"/>
                <a:ea typeface="Calibri" pitchFamily="34" charset="-122"/>
                <a:cs typeface="Calibri" pitchFamily="34" charset="-120"/>
              </a:rPr>
              <a:t>weights inversely proportional to class frequency — penalise minority-class misclassifications.</a:t>
            </a:r>
            <a:endParaRPr lang="en-US" sz="1400" dirty="0"/>
          </a:p>
          <a:p>
            <a:pPr marL="0" indent="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2B2B2B"/>
                </a:solidFill>
                <a:latin typeface="Calibri" pitchFamily="34" charset="0"/>
                <a:ea typeface="Calibri" pitchFamily="34" charset="-122"/>
                <a:cs typeface="Calibri" pitchFamily="34" charset="-120"/>
              </a:rPr>
              <a:t>Stratified sampling</a:t>
            </a:r>
            <a:endParaRPr lang="en-US" sz="1400" dirty="0"/>
          </a:p>
          <a:p>
            <a:pPr marL="0" indent="0">
              <a:spcAft>
                <a:spcPts val="400"/>
              </a:spcAft>
              <a:buNone/>
            </a:pPr>
            <a:r>
              <a:rPr lang="en-US" sz="1200" dirty="0">
                <a:solidFill>
                  <a:srgbClr val="454545"/>
                </a:solidFill>
                <a:latin typeface="Calibri" pitchFamily="34" charset="0"/>
                <a:ea typeface="Calibri" pitchFamily="34" charset="-122"/>
                <a:cs typeface="Calibri" pitchFamily="34" charset="-120"/>
              </a:rPr>
              <a:t>preserve class proportions across train / val / test splits to prevent evaluation bias.</a:t>
            </a:r>
            <a:endParaRPr lang="en-US" sz="1400" dirty="0"/>
          </a:p>
        </p:txBody>
      </p:sp>
      <p:sp>
        <p:nvSpPr>
          <p:cNvPr id="11" name="Text 9"/>
          <p:cNvSpPr/>
          <p:nvPr/>
        </p:nvSpPr>
        <p:spPr>
          <a:xfrm>
            <a:off x="457200" y="1417320"/>
            <a:ext cx="8229600" cy="274320"/>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Benchmark datasets discussed in detail in Methodology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12/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Research gaps &amp; proposed contributions</a:t>
            </a:r>
            <a:endParaRPr lang="en-US" sz="2600" dirty="0"/>
          </a:p>
        </p:txBody>
      </p:sp>
      <p:sp>
        <p:nvSpPr>
          <p:cNvPr id="6" name="Text 4"/>
          <p:cNvSpPr/>
          <p:nvPr/>
        </p:nvSpPr>
        <p:spPr>
          <a:xfrm>
            <a:off x="457200" y="1783080"/>
            <a:ext cx="4023360" cy="27432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GAPS IN THE LITERATURE</a:t>
            </a:r>
            <a:endParaRPr lang="en-US" sz="1000" dirty="0"/>
          </a:p>
        </p:txBody>
      </p:sp>
      <p:sp>
        <p:nvSpPr>
          <p:cNvPr id="7" name="Shape 5"/>
          <p:cNvSpPr/>
          <p:nvPr/>
        </p:nvSpPr>
        <p:spPr>
          <a:xfrm>
            <a:off x="457200" y="2148840"/>
            <a:ext cx="4023360" cy="1143000"/>
          </a:xfrm>
          <a:prstGeom prst="rect">
            <a:avLst/>
          </a:prstGeom>
          <a:solidFill>
            <a:srgbClr val="FBF8F2"/>
          </a:solidFill>
          <a:ln w="6350">
            <a:solidFill>
              <a:srgbClr val="D8CFC0"/>
            </a:solidFill>
            <a:prstDash val="solid"/>
          </a:ln>
        </p:spPr>
        <p:txBody>
          <a:bodyPr/>
          <a:lstStyle/>
          <a:p>
            <a:endParaRPr lang="en-US"/>
          </a:p>
        </p:txBody>
      </p:sp>
      <p:sp>
        <p:nvSpPr>
          <p:cNvPr id="8" name="Text 6"/>
          <p:cNvSpPr/>
          <p:nvPr/>
        </p:nvSpPr>
        <p:spPr>
          <a:xfrm>
            <a:off x="594360" y="2240280"/>
            <a:ext cx="3749040" cy="960120"/>
          </a:xfrm>
          <a:prstGeom prst="rect">
            <a:avLst/>
          </a:prstGeom>
          <a:noFill/>
          <a:ln/>
        </p:spPr>
        <p:txBody>
          <a:bodyPr wrap="square" lIns="0" tIns="0" rIns="0" bIns="0" rtlCol="0" anchor="t"/>
          <a:lstStyle/>
          <a:p>
            <a:pPr marL="0" indent="0">
              <a:buNone/>
            </a:pPr>
            <a:r>
              <a:rPr lang="en-US" sz="1300" b="1" dirty="0">
                <a:solidFill>
                  <a:srgbClr val="2B2B2B"/>
                </a:solidFill>
                <a:latin typeface="Calibri" pitchFamily="34" charset="0"/>
                <a:ea typeface="Calibri" pitchFamily="34" charset="-122"/>
                <a:cs typeface="Calibri" pitchFamily="34" charset="-120"/>
              </a:rPr>
              <a:t>1   Limited systematic comparisons across paradigms</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100" dirty="0">
                <a:solidFill>
                  <a:srgbClr val="454545"/>
                </a:solidFill>
                <a:latin typeface="Calibri" pitchFamily="34" charset="0"/>
                <a:ea typeface="Calibri" pitchFamily="34" charset="-122"/>
                <a:cs typeface="Calibri" pitchFamily="34" charset="-120"/>
              </a:rPr>
              <a:t>Prior work compares </a:t>
            </a:r>
            <a:r>
              <a:rPr lang="en-US" sz="1100" i="1" dirty="0">
                <a:solidFill>
                  <a:srgbClr val="454545"/>
                </a:solidFill>
                <a:latin typeface="Calibri" pitchFamily="34" charset="0"/>
                <a:ea typeface="Calibri" pitchFamily="34" charset="-122"/>
                <a:cs typeface="Calibri" pitchFamily="34" charset="-120"/>
              </a:rPr>
              <a:t>specific models</a:t>
            </a:r>
            <a:r>
              <a:rPr lang="en-US" sz="1100" dirty="0">
                <a:solidFill>
                  <a:srgbClr val="454545"/>
                </a:solidFill>
                <a:latin typeface="Calibri" pitchFamily="34" charset="0"/>
                <a:ea typeface="Calibri" pitchFamily="34" charset="-122"/>
                <a:cs typeface="Calibri" pitchFamily="34" charset="-120"/>
              </a:rPr>
              <a:t>, not paradigms under matched protocols.</a:t>
            </a:r>
            <a:endParaRPr lang="en-US" sz="1300" dirty="0"/>
          </a:p>
        </p:txBody>
      </p:sp>
      <p:sp>
        <p:nvSpPr>
          <p:cNvPr id="9" name="Shape 7"/>
          <p:cNvSpPr/>
          <p:nvPr/>
        </p:nvSpPr>
        <p:spPr>
          <a:xfrm>
            <a:off x="457200" y="3429000"/>
            <a:ext cx="4023360" cy="1143000"/>
          </a:xfrm>
          <a:prstGeom prst="rect">
            <a:avLst/>
          </a:prstGeom>
          <a:solidFill>
            <a:srgbClr val="FBF8F2"/>
          </a:solidFill>
          <a:ln w="6350">
            <a:solidFill>
              <a:srgbClr val="D8CFC0"/>
            </a:solidFill>
            <a:prstDash val="solid"/>
          </a:ln>
        </p:spPr>
        <p:txBody>
          <a:bodyPr/>
          <a:lstStyle/>
          <a:p>
            <a:endParaRPr lang="en-US"/>
          </a:p>
        </p:txBody>
      </p:sp>
      <p:sp>
        <p:nvSpPr>
          <p:cNvPr id="10" name="Text 8"/>
          <p:cNvSpPr/>
          <p:nvPr/>
        </p:nvSpPr>
        <p:spPr>
          <a:xfrm>
            <a:off x="594360" y="3520440"/>
            <a:ext cx="3749040" cy="960120"/>
          </a:xfrm>
          <a:prstGeom prst="rect">
            <a:avLst/>
          </a:prstGeom>
          <a:noFill/>
          <a:ln/>
        </p:spPr>
        <p:txBody>
          <a:bodyPr wrap="square" lIns="0" tIns="0" rIns="0" bIns="0" rtlCol="0" anchor="t"/>
          <a:lstStyle/>
          <a:p>
            <a:pPr marL="0" indent="0">
              <a:buNone/>
            </a:pPr>
            <a:r>
              <a:rPr lang="en-US" sz="1300" b="1" dirty="0">
                <a:solidFill>
                  <a:srgbClr val="2B2B2B"/>
                </a:solidFill>
                <a:latin typeface="Calibri" pitchFamily="34" charset="0"/>
                <a:ea typeface="Calibri" pitchFamily="34" charset="-122"/>
                <a:cs typeface="Calibri" pitchFamily="34" charset="-120"/>
              </a:rPr>
              <a:t>2   Southeast Asian cuisines under-represented</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100" dirty="0">
                <a:solidFill>
                  <a:srgbClr val="454545"/>
                </a:solidFill>
                <a:latin typeface="Calibri" pitchFamily="34" charset="0"/>
                <a:ea typeface="Calibri" pitchFamily="34" charset="-122"/>
                <a:cs typeface="Calibri" pitchFamily="34" charset="-120"/>
              </a:rPr>
              <a:t>Most benchmarks centre Western, Chinese, or Japanese food.</a:t>
            </a:r>
            <a:endParaRPr lang="en-US" sz="1300" dirty="0"/>
          </a:p>
        </p:txBody>
      </p:sp>
      <p:sp>
        <p:nvSpPr>
          <p:cNvPr id="11" name="Text 9"/>
          <p:cNvSpPr/>
          <p:nvPr/>
        </p:nvSpPr>
        <p:spPr>
          <a:xfrm>
            <a:off x="4663440" y="1783080"/>
            <a:ext cx="402336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THIS PROJECT'S CONTRIBUTIONS</a:t>
            </a:r>
            <a:endParaRPr lang="en-US" sz="1000" dirty="0"/>
          </a:p>
        </p:txBody>
      </p:sp>
      <p:sp>
        <p:nvSpPr>
          <p:cNvPr id="12" name="Shape 10"/>
          <p:cNvSpPr/>
          <p:nvPr/>
        </p:nvSpPr>
        <p:spPr>
          <a:xfrm>
            <a:off x="4663440" y="2148840"/>
            <a:ext cx="4023360" cy="777240"/>
          </a:xfrm>
          <a:prstGeom prst="rect">
            <a:avLst/>
          </a:prstGeom>
          <a:solidFill>
            <a:srgbClr val="F5F0E6"/>
          </a:solidFill>
          <a:ln w="12700">
            <a:solidFill>
              <a:srgbClr val="F5F0E6"/>
            </a:solidFill>
            <a:prstDash val="solid"/>
          </a:ln>
        </p:spPr>
        <p:txBody>
          <a:bodyPr/>
          <a:lstStyle/>
          <a:p>
            <a:endParaRPr lang="en-US"/>
          </a:p>
        </p:txBody>
      </p:sp>
      <p:sp>
        <p:nvSpPr>
          <p:cNvPr id="13" name="Text 11"/>
          <p:cNvSpPr/>
          <p:nvPr/>
        </p:nvSpPr>
        <p:spPr>
          <a:xfrm>
            <a:off x="4663440" y="2148840"/>
            <a:ext cx="365760" cy="777240"/>
          </a:xfrm>
          <a:prstGeom prst="rect">
            <a:avLst/>
          </a:prstGeom>
          <a:noFill/>
          <a:ln/>
        </p:spPr>
        <p:txBody>
          <a:bodyPr wrap="square" lIns="0" tIns="0" rIns="0" bIns="0" rtlCol="0" anchor="ctr"/>
          <a:lstStyle/>
          <a:p>
            <a:pPr marL="0" indent="0" algn="ctr">
              <a:buNone/>
            </a:pPr>
            <a:r>
              <a:rPr lang="en-US" sz="1800" b="1" dirty="0">
                <a:solidFill>
                  <a:srgbClr val="5C7A55"/>
                </a:solidFill>
                <a:latin typeface="Georgia" pitchFamily="34" charset="0"/>
                <a:ea typeface="Georgia" pitchFamily="34" charset="-122"/>
                <a:cs typeface="Georgia" pitchFamily="34" charset="-120"/>
              </a:rPr>
              <a:t>1</a:t>
            </a:r>
            <a:endParaRPr lang="en-US" sz="1800" dirty="0"/>
          </a:p>
        </p:txBody>
      </p:sp>
      <p:sp>
        <p:nvSpPr>
          <p:cNvPr id="14" name="Text 12"/>
          <p:cNvSpPr/>
          <p:nvPr/>
        </p:nvSpPr>
        <p:spPr>
          <a:xfrm>
            <a:off x="5074920" y="2240280"/>
            <a:ext cx="3520440" cy="64008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Controlled paradigm comparison</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ResNet50, ViT-Base, ConvNeXt-Base under identical training, preprocessing, and HP tuning</a:t>
            </a:r>
            <a:endParaRPr lang="en-US" sz="1200" dirty="0"/>
          </a:p>
        </p:txBody>
      </p:sp>
      <p:sp>
        <p:nvSpPr>
          <p:cNvPr id="15" name="Shape 13"/>
          <p:cNvSpPr/>
          <p:nvPr/>
        </p:nvSpPr>
        <p:spPr>
          <a:xfrm>
            <a:off x="4663440" y="2971800"/>
            <a:ext cx="4023360" cy="777240"/>
          </a:xfrm>
          <a:prstGeom prst="rect">
            <a:avLst/>
          </a:prstGeom>
          <a:solidFill>
            <a:srgbClr val="F5F0E6"/>
          </a:solidFill>
          <a:ln w="12700">
            <a:solidFill>
              <a:srgbClr val="F5F0E6"/>
            </a:solidFill>
            <a:prstDash val="solid"/>
          </a:ln>
        </p:spPr>
        <p:txBody>
          <a:bodyPr/>
          <a:lstStyle/>
          <a:p>
            <a:endParaRPr lang="en-US"/>
          </a:p>
        </p:txBody>
      </p:sp>
      <p:sp>
        <p:nvSpPr>
          <p:cNvPr id="16" name="Text 14"/>
          <p:cNvSpPr/>
          <p:nvPr/>
        </p:nvSpPr>
        <p:spPr>
          <a:xfrm>
            <a:off x="4663440" y="2971800"/>
            <a:ext cx="365760" cy="777240"/>
          </a:xfrm>
          <a:prstGeom prst="rect">
            <a:avLst/>
          </a:prstGeom>
          <a:noFill/>
          <a:ln/>
        </p:spPr>
        <p:txBody>
          <a:bodyPr wrap="square" lIns="0" tIns="0" rIns="0" bIns="0" rtlCol="0" anchor="ctr"/>
          <a:lstStyle/>
          <a:p>
            <a:pPr marL="0" indent="0" algn="ctr">
              <a:buNone/>
            </a:pPr>
            <a:r>
              <a:rPr lang="en-US" sz="1800" b="1" dirty="0">
                <a:solidFill>
                  <a:srgbClr val="5C7A55"/>
                </a:solidFill>
                <a:latin typeface="Georgia" pitchFamily="34" charset="0"/>
                <a:ea typeface="Georgia" pitchFamily="34" charset="-122"/>
                <a:cs typeface="Georgia" pitchFamily="34" charset="-120"/>
              </a:rPr>
              <a:t>2</a:t>
            </a:r>
            <a:endParaRPr lang="en-US" sz="1800" dirty="0"/>
          </a:p>
        </p:txBody>
      </p:sp>
      <p:sp>
        <p:nvSpPr>
          <p:cNvPr id="17" name="Text 15"/>
          <p:cNvSpPr/>
          <p:nvPr/>
        </p:nvSpPr>
        <p:spPr>
          <a:xfrm>
            <a:off x="5074920" y="3063240"/>
            <a:ext cx="3520440" cy="64008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Primary evaluation on SGFood-233</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Fills the SEA gap; class imbalance + fine-grained inter-class similarity</a:t>
            </a:r>
            <a:endParaRPr lang="en-US" sz="1200" dirty="0"/>
          </a:p>
        </p:txBody>
      </p:sp>
      <p:sp>
        <p:nvSpPr>
          <p:cNvPr id="18" name="Shape 16"/>
          <p:cNvSpPr/>
          <p:nvPr/>
        </p:nvSpPr>
        <p:spPr>
          <a:xfrm>
            <a:off x="4663440" y="3794760"/>
            <a:ext cx="4023360" cy="777240"/>
          </a:xfrm>
          <a:prstGeom prst="rect">
            <a:avLst/>
          </a:prstGeom>
          <a:solidFill>
            <a:srgbClr val="F5F0E6"/>
          </a:solidFill>
          <a:ln w="12700">
            <a:solidFill>
              <a:srgbClr val="F5F0E6"/>
            </a:solidFill>
            <a:prstDash val="solid"/>
          </a:ln>
        </p:spPr>
        <p:txBody>
          <a:bodyPr/>
          <a:lstStyle/>
          <a:p>
            <a:endParaRPr lang="en-US"/>
          </a:p>
        </p:txBody>
      </p:sp>
      <p:sp>
        <p:nvSpPr>
          <p:cNvPr id="19" name="Text 17"/>
          <p:cNvSpPr/>
          <p:nvPr/>
        </p:nvSpPr>
        <p:spPr>
          <a:xfrm>
            <a:off x="4663440" y="3794760"/>
            <a:ext cx="365760" cy="777240"/>
          </a:xfrm>
          <a:prstGeom prst="rect">
            <a:avLst/>
          </a:prstGeom>
          <a:noFill/>
          <a:ln/>
        </p:spPr>
        <p:txBody>
          <a:bodyPr wrap="square" lIns="0" tIns="0" rIns="0" bIns="0" rtlCol="0" anchor="ctr"/>
          <a:lstStyle/>
          <a:p>
            <a:pPr marL="0" indent="0" algn="ctr">
              <a:buNone/>
            </a:pPr>
            <a:r>
              <a:rPr lang="en-US" sz="1800" b="1" dirty="0">
                <a:solidFill>
                  <a:srgbClr val="5C7A55"/>
                </a:solidFill>
                <a:latin typeface="Georgia" pitchFamily="34" charset="0"/>
                <a:ea typeface="Georgia" pitchFamily="34" charset="-122"/>
                <a:cs typeface="Georgia" pitchFamily="34" charset="-120"/>
              </a:rPr>
              <a:t>3</a:t>
            </a:r>
            <a:endParaRPr lang="en-US" sz="1800" dirty="0"/>
          </a:p>
        </p:txBody>
      </p:sp>
      <p:sp>
        <p:nvSpPr>
          <p:cNvPr id="20" name="Text 18"/>
          <p:cNvSpPr/>
          <p:nvPr/>
        </p:nvSpPr>
        <p:spPr>
          <a:xfrm>
            <a:off x="5074920" y="3886200"/>
            <a:ext cx="3520440" cy="64008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Food-101 as secondary benchmark</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Verifies findings generalise beyond a single dataset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13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Dataset selection</a:t>
            </a:r>
            <a:endParaRPr lang="en-US" sz="2600" dirty="0"/>
          </a:p>
        </p:txBody>
      </p:sp>
      <p:sp>
        <p:nvSpPr>
          <p:cNvPr id="6" name="Text 4"/>
          <p:cNvSpPr/>
          <p:nvPr/>
        </p:nvSpPr>
        <p:spPr>
          <a:xfrm>
            <a:off x="457200" y="1554480"/>
            <a:ext cx="8229600" cy="274320"/>
          </a:xfrm>
          <a:prstGeom prst="rect">
            <a:avLst/>
          </a:prstGeom>
          <a:noFill/>
          <a:ln/>
        </p:spPr>
        <p:txBody>
          <a:bodyPr wrap="square" lIns="0" tIns="0" rIns="0" bIns="0" rtlCol="0" anchor="ctr"/>
          <a:lstStyle/>
          <a:p>
            <a:r>
              <a:rPr lang="en-US" sz="1100" i="1" dirty="0">
                <a:solidFill>
                  <a:srgbClr val="888888"/>
                </a:solidFill>
                <a:latin typeface="Calibri" pitchFamily="34" charset="0"/>
                <a:ea typeface="Calibri" pitchFamily="34" charset="-122"/>
                <a:cs typeface="Calibri" pitchFamily="34" charset="-120"/>
              </a:rPr>
              <a:t>Selection criteria   · computational feasibility  · task alignment   ·   </a:t>
            </a:r>
            <a:r>
              <a:rPr lang="en-US" sz="1100" i="1" dirty="0" err="1">
                <a:solidFill>
                  <a:srgbClr val="888888"/>
                </a:solidFill>
                <a:latin typeface="Calibri" pitchFamily="34" charset="0"/>
                <a:ea typeface="Calibri" pitchFamily="34" charset="-122"/>
                <a:cs typeface="Calibri" pitchFamily="34" charset="-120"/>
              </a:rPr>
              <a:t>generalisability</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3048286240"/>
              </p:ext>
            </p:extLst>
          </p:nvPr>
        </p:nvGraphicFramePr>
        <p:xfrm>
          <a:off x="457200" y="1874520"/>
          <a:ext cx="8229600" cy="146304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DATASET</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ISIA Food-500, Food2K</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i="1" dirty="0">
                          <a:solidFill>
                            <a:srgbClr val="888888"/>
                          </a:solidFill>
                          <a:latin typeface="Calibri" pitchFamily="34" charset="0"/>
                          <a:ea typeface="Calibri" pitchFamily="34" charset="-122"/>
                          <a:cs typeface="Calibri" pitchFamily="34" charset="-120"/>
                        </a:rPr>
                        <a:t>Excluded — too large for available hardware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UEC-Food256, VireoFood-172</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i="1" dirty="0">
                          <a:solidFill>
                            <a:srgbClr val="888888"/>
                          </a:solidFill>
                          <a:latin typeface="Calibri" pitchFamily="34" charset="0"/>
                          <a:ea typeface="Calibri" pitchFamily="34" charset="-122"/>
                          <a:cs typeface="Calibri" pitchFamily="34" charset="-120"/>
                        </a:rPr>
                        <a:t>Excluded — task misalignment (multiple food detection / ingredient retrieval)</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SGFood-233</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b="1" dirty="0">
                          <a:solidFill>
                            <a:srgbClr val="2B2B2B"/>
                          </a:solidFill>
                          <a:latin typeface="Calibri" pitchFamily="34" charset="0"/>
                          <a:ea typeface="Calibri" pitchFamily="34" charset="-122"/>
                          <a:cs typeface="Calibri" pitchFamily="34" charset="-120"/>
                        </a:rPr>
                        <a:t>Primary  ·  203,655 images  ·  233 classes  ·  18.8× class imbalance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5C7A55"/>
                          </a:solidFill>
                          <a:latin typeface="Calibri" pitchFamily="34" charset="0"/>
                          <a:ea typeface="Calibri" pitchFamily="34" charset="-122"/>
                          <a:cs typeface="Calibri" pitchFamily="34" charset="-120"/>
                        </a:rPr>
                        <a:t>Food-101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b="1" dirty="0">
                          <a:solidFill>
                            <a:srgbClr val="2B2B2B"/>
                          </a:solidFill>
                          <a:latin typeface="Calibri" pitchFamily="34" charset="0"/>
                          <a:ea typeface="Calibri" pitchFamily="34" charset="-122"/>
                          <a:cs typeface="Calibri" pitchFamily="34" charset="-120"/>
                        </a:rPr>
                        <a:t>Secondary  ·  established benchmark for cross-dataset validation</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918AD0-9C0C-8296-1B7D-F7DB822C16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A0B60C-16C3-0DA0-85FF-83E963888A73}"/>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5B24F897-871D-3875-207E-CF230B873BF1}"/>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a:extLst>
              <a:ext uri="{FF2B5EF4-FFF2-40B4-BE49-F238E27FC236}">
                <a16:creationId xmlns:a16="http://schemas.microsoft.com/office/drawing/2014/main" id="{B47E2D23-41DA-BE20-2892-79319EAD0D8C}"/>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14 / 32</a:t>
            </a:r>
            <a:endParaRPr lang="en-US" sz="900" dirty="0"/>
          </a:p>
        </p:txBody>
      </p:sp>
      <p:sp>
        <p:nvSpPr>
          <p:cNvPr id="5" name="Text 3">
            <a:extLst>
              <a:ext uri="{FF2B5EF4-FFF2-40B4-BE49-F238E27FC236}">
                <a16:creationId xmlns:a16="http://schemas.microsoft.com/office/drawing/2014/main" id="{DB074D76-8E9A-5299-39F4-6BFB59E3ACC9}"/>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Data cleaning pipeline</a:t>
            </a:r>
            <a:endParaRPr lang="en-US" sz="2600" dirty="0"/>
          </a:p>
        </p:txBody>
      </p:sp>
      <p:sp>
        <p:nvSpPr>
          <p:cNvPr id="6" name="Shape 4">
            <a:extLst>
              <a:ext uri="{FF2B5EF4-FFF2-40B4-BE49-F238E27FC236}">
                <a16:creationId xmlns:a16="http://schemas.microsoft.com/office/drawing/2014/main" id="{3348FB77-812F-AB75-C9B9-44E6A5C29680}"/>
              </a:ext>
            </a:extLst>
          </p:cNvPr>
          <p:cNvSpPr/>
          <p:nvPr/>
        </p:nvSpPr>
        <p:spPr>
          <a:xfrm>
            <a:off x="457200" y="1851660"/>
            <a:ext cx="365760" cy="365760"/>
          </a:xfrm>
          <a:prstGeom prst="ellipse">
            <a:avLst/>
          </a:prstGeom>
          <a:solidFill>
            <a:srgbClr val="F5F0E6"/>
          </a:solidFill>
          <a:ln w="6350">
            <a:solidFill>
              <a:srgbClr val="D8CFC0"/>
            </a:solidFill>
            <a:prstDash val="solid"/>
          </a:ln>
        </p:spPr>
        <p:txBody>
          <a:bodyPr/>
          <a:lstStyle/>
          <a:p>
            <a:endParaRPr lang="en-US"/>
          </a:p>
        </p:txBody>
      </p:sp>
      <p:sp>
        <p:nvSpPr>
          <p:cNvPr id="7" name="Text 5">
            <a:extLst>
              <a:ext uri="{FF2B5EF4-FFF2-40B4-BE49-F238E27FC236}">
                <a16:creationId xmlns:a16="http://schemas.microsoft.com/office/drawing/2014/main" id="{379266C8-5702-F032-BE62-BEED83BD0CE8}"/>
              </a:ext>
            </a:extLst>
          </p:cNvPr>
          <p:cNvSpPr/>
          <p:nvPr/>
        </p:nvSpPr>
        <p:spPr>
          <a:xfrm>
            <a:off x="457200" y="185166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1</a:t>
            </a:r>
            <a:endParaRPr lang="en-US" sz="1300" dirty="0"/>
          </a:p>
        </p:txBody>
      </p:sp>
      <p:sp>
        <p:nvSpPr>
          <p:cNvPr id="8" name="Text 6">
            <a:extLst>
              <a:ext uri="{FF2B5EF4-FFF2-40B4-BE49-F238E27FC236}">
                <a16:creationId xmlns:a16="http://schemas.microsoft.com/office/drawing/2014/main" id="{AADBC509-86C3-7C70-65C7-A17E71010AC8}"/>
              </a:ext>
            </a:extLst>
          </p:cNvPr>
          <p:cNvSpPr/>
          <p:nvPr/>
        </p:nvSpPr>
        <p:spPr>
          <a:xfrm>
            <a:off x="914400" y="178308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Integrity check</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Truncated, corrupt, or invalid images</a:t>
            </a:r>
            <a:endParaRPr lang="en-US" sz="1200" dirty="0"/>
          </a:p>
        </p:txBody>
      </p:sp>
      <p:sp>
        <p:nvSpPr>
          <p:cNvPr id="9" name="Shape 7">
            <a:extLst>
              <a:ext uri="{FF2B5EF4-FFF2-40B4-BE49-F238E27FC236}">
                <a16:creationId xmlns:a16="http://schemas.microsoft.com/office/drawing/2014/main" id="{7328ED91-832F-8CDC-497C-38E29AD5BF83}"/>
              </a:ext>
            </a:extLst>
          </p:cNvPr>
          <p:cNvSpPr/>
          <p:nvPr/>
        </p:nvSpPr>
        <p:spPr>
          <a:xfrm>
            <a:off x="457200" y="2400300"/>
            <a:ext cx="365760" cy="365760"/>
          </a:xfrm>
          <a:prstGeom prst="ellipse">
            <a:avLst/>
          </a:prstGeom>
          <a:solidFill>
            <a:srgbClr val="F5F0E6"/>
          </a:solidFill>
          <a:ln w="6350">
            <a:solidFill>
              <a:srgbClr val="D8CFC0"/>
            </a:solidFill>
            <a:prstDash val="solid"/>
          </a:ln>
        </p:spPr>
        <p:txBody>
          <a:bodyPr/>
          <a:lstStyle/>
          <a:p>
            <a:endParaRPr lang="en-US"/>
          </a:p>
        </p:txBody>
      </p:sp>
      <p:sp>
        <p:nvSpPr>
          <p:cNvPr id="10" name="Text 8">
            <a:extLst>
              <a:ext uri="{FF2B5EF4-FFF2-40B4-BE49-F238E27FC236}">
                <a16:creationId xmlns:a16="http://schemas.microsoft.com/office/drawing/2014/main" id="{685D88EB-2958-EB4A-89A4-48348BCA1219}"/>
              </a:ext>
            </a:extLst>
          </p:cNvPr>
          <p:cNvSpPr/>
          <p:nvPr/>
        </p:nvSpPr>
        <p:spPr>
          <a:xfrm>
            <a:off x="457200" y="240030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2</a:t>
            </a:r>
            <a:endParaRPr lang="en-US" sz="1300" dirty="0"/>
          </a:p>
        </p:txBody>
      </p:sp>
      <p:sp>
        <p:nvSpPr>
          <p:cNvPr id="11" name="Text 9">
            <a:extLst>
              <a:ext uri="{FF2B5EF4-FFF2-40B4-BE49-F238E27FC236}">
                <a16:creationId xmlns:a16="http://schemas.microsoft.com/office/drawing/2014/main" id="{7A37F25E-5328-1F11-03CA-5BFC264E1EBF}"/>
              </a:ext>
            </a:extLst>
          </p:cNvPr>
          <p:cNvSpPr/>
          <p:nvPr/>
        </p:nvSpPr>
        <p:spPr>
          <a:xfrm>
            <a:off x="914400" y="233172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Exact duplicates  →  MD5 hash</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2,409 removed (incl. 2,394 cross-class label conflicts)</a:t>
            </a:r>
            <a:endParaRPr lang="en-US" sz="1200" dirty="0"/>
          </a:p>
        </p:txBody>
      </p:sp>
      <p:sp>
        <p:nvSpPr>
          <p:cNvPr id="12" name="Shape 10">
            <a:extLst>
              <a:ext uri="{FF2B5EF4-FFF2-40B4-BE49-F238E27FC236}">
                <a16:creationId xmlns:a16="http://schemas.microsoft.com/office/drawing/2014/main" id="{FDD4760B-0C23-6019-0406-04BA4728607F}"/>
              </a:ext>
            </a:extLst>
          </p:cNvPr>
          <p:cNvSpPr/>
          <p:nvPr/>
        </p:nvSpPr>
        <p:spPr>
          <a:xfrm>
            <a:off x="457200" y="2948940"/>
            <a:ext cx="365760" cy="365760"/>
          </a:xfrm>
          <a:prstGeom prst="ellipse">
            <a:avLst/>
          </a:prstGeom>
          <a:solidFill>
            <a:srgbClr val="F5F0E6"/>
          </a:solidFill>
          <a:ln w="6350">
            <a:solidFill>
              <a:srgbClr val="D8CFC0"/>
            </a:solidFill>
            <a:prstDash val="solid"/>
          </a:ln>
        </p:spPr>
        <p:txBody>
          <a:bodyPr/>
          <a:lstStyle/>
          <a:p>
            <a:endParaRPr lang="en-US"/>
          </a:p>
        </p:txBody>
      </p:sp>
      <p:sp>
        <p:nvSpPr>
          <p:cNvPr id="13" name="Text 11">
            <a:extLst>
              <a:ext uri="{FF2B5EF4-FFF2-40B4-BE49-F238E27FC236}">
                <a16:creationId xmlns:a16="http://schemas.microsoft.com/office/drawing/2014/main" id="{98422F08-C135-5663-CED0-21EB5A7B7E47}"/>
              </a:ext>
            </a:extLst>
          </p:cNvPr>
          <p:cNvSpPr/>
          <p:nvPr/>
        </p:nvSpPr>
        <p:spPr>
          <a:xfrm>
            <a:off x="457200" y="294894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3</a:t>
            </a:r>
            <a:endParaRPr lang="en-US" sz="1300" dirty="0"/>
          </a:p>
        </p:txBody>
      </p:sp>
      <p:sp>
        <p:nvSpPr>
          <p:cNvPr id="14" name="Text 12">
            <a:extLst>
              <a:ext uri="{FF2B5EF4-FFF2-40B4-BE49-F238E27FC236}">
                <a16:creationId xmlns:a16="http://schemas.microsoft.com/office/drawing/2014/main" id="{BC89D64D-BFCC-A1A7-C962-18C8D4E40D20}"/>
              </a:ext>
            </a:extLst>
          </p:cNvPr>
          <p:cNvSpPr/>
          <p:nvPr/>
        </p:nvSpPr>
        <p:spPr>
          <a:xfrm>
            <a:off x="914400" y="288036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Near duplicates  →  Perceptual hash</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3,094 removed (Hamming ≤ 8)</a:t>
            </a:r>
            <a:endParaRPr lang="en-US" sz="1200" dirty="0"/>
          </a:p>
        </p:txBody>
      </p:sp>
      <p:sp>
        <p:nvSpPr>
          <p:cNvPr id="15" name="Shape 13">
            <a:extLst>
              <a:ext uri="{FF2B5EF4-FFF2-40B4-BE49-F238E27FC236}">
                <a16:creationId xmlns:a16="http://schemas.microsoft.com/office/drawing/2014/main" id="{8C8B4705-53FC-2B6B-0758-6F04134DA966}"/>
              </a:ext>
            </a:extLst>
          </p:cNvPr>
          <p:cNvSpPr/>
          <p:nvPr/>
        </p:nvSpPr>
        <p:spPr>
          <a:xfrm>
            <a:off x="457200" y="3497580"/>
            <a:ext cx="365760" cy="365760"/>
          </a:xfrm>
          <a:prstGeom prst="ellipse">
            <a:avLst/>
          </a:prstGeom>
          <a:solidFill>
            <a:srgbClr val="B85042"/>
          </a:solidFill>
          <a:ln w="6350">
            <a:solidFill>
              <a:srgbClr val="B85042"/>
            </a:solidFill>
            <a:prstDash val="solid"/>
          </a:ln>
        </p:spPr>
        <p:txBody>
          <a:bodyPr/>
          <a:lstStyle/>
          <a:p>
            <a:endParaRPr lang="en-US"/>
          </a:p>
        </p:txBody>
      </p:sp>
      <p:sp>
        <p:nvSpPr>
          <p:cNvPr id="16" name="Text 14">
            <a:extLst>
              <a:ext uri="{FF2B5EF4-FFF2-40B4-BE49-F238E27FC236}">
                <a16:creationId xmlns:a16="http://schemas.microsoft.com/office/drawing/2014/main" id="{730A86A6-D8B5-01D0-AEAC-A53B012F2E90}"/>
              </a:ext>
            </a:extLst>
          </p:cNvPr>
          <p:cNvSpPr/>
          <p:nvPr/>
        </p:nvSpPr>
        <p:spPr>
          <a:xfrm>
            <a:off x="457200" y="34975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17" name="Text 15">
            <a:extLst>
              <a:ext uri="{FF2B5EF4-FFF2-40B4-BE49-F238E27FC236}">
                <a16:creationId xmlns:a16="http://schemas.microsoft.com/office/drawing/2014/main" id="{81172CFB-2EFA-5CA4-0096-B777D1035ABA}"/>
              </a:ext>
            </a:extLst>
          </p:cNvPr>
          <p:cNvSpPr/>
          <p:nvPr/>
        </p:nvSpPr>
        <p:spPr>
          <a:xfrm>
            <a:off x="914400" y="3429000"/>
            <a:ext cx="3749040" cy="5029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Mislabel detection  →  3-model consensus</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Flag if all three architectures unanimously disagree with label</a:t>
            </a:r>
            <a:endParaRPr lang="en-US" sz="1200" dirty="0"/>
          </a:p>
        </p:txBody>
      </p:sp>
      <p:sp>
        <p:nvSpPr>
          <p:cNvPr id="18" name="Shape 16">
            <a:extLst>
              <a:ext uri="{FF2B5EF4-FFF2-40B4-BE49-F238E27FC236}">
                <a16:creationId xmlns:a16="http://schemas.microsoft.com/office/drawing/2014/main" id="{230A24EE-E2A4-00E6-A878-AAEFBBD28B7A}"/>
              </a:ext>
            </a:extLst>
          </p:cNvPr>
          <p:cNvSpPr/>
          <p:nvPr/>
        </p:nvSpPr>
        <p:spPr>
          <a:xfrm>
            <a:off x="457200" y="4046220"/>
            <a:ext cx="365760" cy="365760"/>
          </a:xfrm>
          <a:prstGeom prst="ellipse">
            <a:avLst/>
          </a:prstGeom>
          <a:solidFill>
            <a:srgbClr val="F5F0E6"/>
          </a:solidFill>
          <a:ln w="6350">
            <a:solidFill>
              <a:srgbClr val="D8CFC0"/>
            </a:solidFill>
            <a:prstDash val="solid"/>
          </a:ln>
        </p:spPr>
        <p:txBody>
          <a:bodyPr/>
          <a:lstStyle/>
          <a:p>
            <a:endParaRPr lang="en-US"/>
          </a:p>
        </p:txBody>
      </p:sp>
      <p:sp>
        <p:nvSpPr>
          <p:cNvPr id="19" name="Text 17">
            <a:extLst>
              <a:ext uri="{FF2B5EF4-FFF2-40B4-BE49-F238E27FC236}">
                <a16:creationId xmlns:a16="http://schemas.microsoft.com/office/drawing/2014/main" id="{33CEBFFD-98BB-A9CF-73CD-E8E30A44B221}"/>
              </a:ext>
            </a:extLst>
          </p:cNvPr>
          <p:cNvSpPr/>
          <p:nvPr/>
        </p:nvSpPr>
        <p:spPr>
          <a:xfrm>
            <a:off x="457200" y="404622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5</a:t>
            </a:r>
            <a:endParaRPr lang="en-US" sz="1300" dirty="0"/>
          </a:p>
        </p:txBody>
      </p:sp>
      <p:sp>
        <p:nvSpPr>
          <p:cNvPr id="20" name="Text 18">
            <a:extLst>
              <a:ext uri="{FF2B5EF4-FFF2-40B4-BE49-F238E27FC236}">
                <a16:creationId xmlns:a16="http://schemas.microsoft.com/office/drawing/2014/main" id="{84766E1F-B4AB-AB20-E38A-1C479586859C}"/>
              </a:ext>
            </a:extLst>
          </p:cNvPr>
          <p:cNvSpPr/>
          <p:nvPr/>
        </p:nvSpPr>
        <p:spPr>
          <a:xfrm>
            <a:off x="914400" y="397764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Human review via Streamlit UI</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271 kept · 650 removed · 1,296 relabelled</a:t>
            </a:r>
            <a:endParaRPr lang="en-US" sz="1200" dirty="0"/>
          </a:p>
        </p:txBody>
      </p:sp>
      <p:sp>
        <p:nvSpPr>
          <p:cNvPr id="21" name="Shape 19">
            <a:extLst>
              <a:ext uri="{FF2B5EF4-FFF2-40B4-BE49-F238E27FC236}">
                <a16:creationId xmlns:a16="http://schemas.microsoft.com/office/drawing/2014/main" id="{E51A42FC-46CD-5156-D908-48B30A23DD8F}"/>
              </a:ext>
            </a:extLst>
          </p:cNvPr>
          <p:cNvSpPr/>
          <p:nvPr/>
        </p:nvSpPr>
        <p:spPr>
          <a:xfrm>
            <a:off x="5029200" y="1783080"/>
            <a:ext cx="3657600" cy="2331720"/>
          </a:xfrm>
          <a:prstGeom prst="rect">
            <a:avLst/>
          </a:prstGeom>
          <a:solidFill>
            <a:srgbClr val="2B2B2B"/>
          </a:solidFill>
          <a:ln w="12700">
            <a:solidFill>
              <a:srgbClr val="2B2B2B"/>
            </a:solidFill>
            <a:prstDash val="solid"/>
          </a:ln>
        </p:spPr>
        <p:txBody>
          <a:bodyPr/>
          <a:lstStyle/>
          <a:p>
            <a:endParaRPr lang="en-US"/>
          </a:p>
        </p:txBody>
      </p:sp>
      <p:sp>
        <p:nvSpPr>
          <p:cNvPr id="22" name="Text 20">
            <a:extLst>
              <a:ext uri="{FF2B5EF4-FFF2-40B4-BE49-F238E27FC236}">
                <a16:creationId xmlns:a16="http://schemas.microsoft.com/office/drawing/2014/main" id="{70F3B361-604C-DD17-6B5E-4C6B0FB21CD9}"/>
              </a:ext>
            </a:extLst>
          </p:cNvPr>
          <p:cNvSpPr/>
          <p:nvPr/>
        </p:nvSpPr>
        <p:spPr>
          <a:xfrm>
            <a:off x="5257800" y="1965960"/>
            <a:ext cx="32004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THE NOVEL PIECE</a:t>
            </a:r>
            <a:endParaRPr lang="en-US" sz="900" dirty="0"/>
          </a:p>
        </p:txBody>
      </p:sp>
      <p:sp>
        <p:nvSpPr>
          <p:cNvPr id="23" name="Text 21">
            <a:extLst>
              <a:ext uri="{FF2B5EF4-FFF2-40B4-BE49-F238E27FC236}">
                <a16:creationId xmlns:a16="http://schemas.microsoft.com/office/drawing/2014/main" id="{F87A961A-259E-C8FE-11F9-72024C8D9E04}"/>
              </a:ext>
            </a:extLst>
          </p:cNvPr>
          <p:cNvSpPr/>
          <p:nvPr/>
        </p:nvSpPr>
        <p:spPr>
          <a:xfrm>
            <a:off x="5257800" y="2286000"/>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Why a 3 / 3 consensus?</a:t>
            </a:r>
            <a:endParaRPr lang="en-US" sz="1600" dirty="0"/>
          </a:p>
        </p:txBody>
      </p:sp>
      <p:sp>
        <p:nvSpPr>
          <p:cNvPr id="24" name="Text 22">
            <a:extLst>
              <a:ext uri="{FF2B5EF4-FFF2-40B4-BE49-F238E27FC236}">
                <a16:creationId xmlns:a16="http://schemas.microsoft.com/office/drawing/2014/main" id="{B60DC64C-27C5-14BF-411C-D57863ACF44E}"/>
              </a:ext>
            </a:extLst>
          </p:cNvPr>
          <p:cNvSpPr/>
          <p:nvPr/>
        </p:nvSpPr>
        <p:spPr>
          <a:xfrm>
            <a:off x="5257800" y="2743200"/>
            <a:ext cx="3200400" cy="1280160"/>
          </a:xfrm>
          <a:prstGeom prst="rect">
            <a:avLst/>
          </a:prstGeom>
          <a:noFill/>
          <a:ln/>
        </p:spPr>
        <p:txBody>
          <a:bodyPr wrap="square" lIns="0" tIns="0" rIns="0" bIns="0" rtlCol="0" anchor="ctr"/>
          <a:lstStyle/>
          <a:p>
            <a:pPr marL="0" indent="0">
              <a:buNone/>
            </a:pPr>
            <a:r>
              <a:rPr lang="en-US" sz="1100" dirty="0">
                <a:solidFill>
                  <a:srgbClr val="DDDDDD"/>
                </a:solidFill>
                <a:latin typeface="Calibri" pitchFamily="34" charset="0"/>
                <a:ea typeface="Calibri" pitchFamily="34" charset="-122"/>
                <a:cs typeface="Calibri" pitchFamily="34" charset="-120"/>
              </a:rPr>
              <a:t>Three architectures with fundamentally different feature-extraction paradigms agreeing on a wrong label is a high-precision noise signal — not just an ambiguous example.</a:t>
            </a:r>
            <a:endParaRPr lang="en-US" sz="1100" dirty="0"/>
          </a:p>
        </p:txBody>
      </p:sp>
    </p:spTree>
    <p:extLst>
      <p:ext uri="{BB962C8B-B14F-4D97-AF65-F5344CB8AC3E}">
        <p14:creationId xmlns:p14="http://schemas.microsoft.com/office/powerpoint/2010/main" val="376468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21E46B-30EE-49DB-4852-65032EF417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B0A84D-A0D4-677D-D8DC-7E243307E505}"/>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0EC4A2DF-246F-9F94-95E2-8896F7E18F95}"/>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a:extLst>
              <a:ext uri="{FF2B5EF4-FFF2-40B4-BE49-F238E27FC236}">
                <a16:creationId xmlns:a16="http://schemas.microsoft.com/office/drawing/2014/main" id="{8CF1252B-524B-C0B0-912B-7B38EC5A142A}"/>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15/ 32</a:t>
            </a:r>
            <a:endParaRPr lang="en-US" sz="900" dirty="0"/>
          </a:p>
        </p:txBody>
      </p:sp>
      <p:sp>
        <p:nvSpPr>
          <p:cNvPr id="5" name="Text 3">
            <a:extLst>
              <a:ext uri="{FF2B5EF4-FFF2-40B4-BE49-F238E27FC236}">
                <a16:creationId xmlns:a16="http://schemas.microsoft.com/office/drawing/2014/main" id="{4485F298-C22F-9DC3-3628-5848B1286947}"/>
              </a:ext>
            </a:extLst>
          </p:cNvPr>
          <p:cNvSpPr/>
          <p:nvPr/>
        </p:nvSpPr>
        <p:spPr>
          <a:xfrm>
            <a:off x="457200" y="914400"/>
            <a:ext cx="8229600" cy="777240"/>
          </a:xfrm>
          <a:prstGeom prst="rect">
            <a:avLst/>
          </a:prstGeom>
          <a:noFill/>
          <a:ln/>
        </p:spPr>
        <p:txBody>
          <a:bodyPr wrap="square" lIns="0" tIns="0" rIns="0" bIns="0" rtlCol="0" anchor="t"/>
          <a:lstStyle/>
          <a:p>
            <a:pPr>
              <a:lnSpc>
                <a:spcPct val="95000"/>
              </a:lnSpc>
            </a:pPr>
            <a:r>
              <a:rPr lang="en-US" sz="2600" b="1" dirty="0">
                <a:solidFill>
                  <a:srgbClr val="2B2B2B"/>
                </a:solidFill>
                <a:latin typeface="Georgia" pitchFamily="34" charset="0"/>
                <a:ea typeface="Georgia" pitchFamily="34" charset="-122"/>
                <a:cs typeface="Georgia" pitchFamily="34" charset="-120"/>
              </a:rPr>
              <a:t>Summary statistics &amp; data split</a:t>
            </a:r>
            <a:endParaRPr lang="en-US" sz="2600" dirty="0"/>
          </a:p>
        </p:txBody>
      </p:sp>
      <p:pic>
        <p:nvPicPr>
          <p:cNvPr id="28" name="Picture 27">
            <a:extLst>
              <a:ext uri="{FF2B5EF4-FFF2-40B4-BE49-F238E27FC236}">
                <a16:creationId xmlns:a16="http://schemas.microsoft.com/office/drawing/2014/main" id="{B720B065-1815-0819-D67A-D344C905E1CD}"/>
              </a:ext>
            </a:extLst>
          </p:cNvPr>
          <p:cNvPicPr>
            <a:picLocks noChangeAspect="1"/>
          </p:cNvPicPr>
          <p:nvPr/>
        </p:nvPicPr>
        <p:blipFill>
          <a:blip r:embed="rId3"/>
          <a:stretch>
            <a:fillRect/>
          </a:stretch>
        </p:blipFill>
        <p:spPr>
          <a:xfrm>
            <a:off x="457201" y="1528617"/>
            <a:ext cx="3886742" cy="2086266"/>
          </a:xfrm>
          <a:prstGeom prst="rect">
            <a:avLst/>
          </a:prstGeom>
        </p:spPr>
      </p:pic>
      <p:pic>
        <p:nvPicPr>
          <p:cNvPr id="32" name="Picture 31">
            <a:extLst>
              <a:ext uri="{FF2B5EF4-FFF2-40B4-BE49-F238E27FC236}">
                <a16:creationId xmlns:a16="http://schemas.microsoft.com/office/drawing/2014/main" id="{EF62FC74-E174-994C-BDA6-BFBAE78F791E}"/>
              </a:ext>
            </a:extLst>
          </p:cNvPr>
          <p:cNvPicPr>
            <a:picLocks noChangeAspect="1"/>
          </p:cNvPicPr>
          <p:nvPr/>
        </p:nvPicPr>
        <p:blipFill>
          <a:blip r:embed="rId4"/>
          <a:stretch>
            <a:fillRect/>
          </a:stretch>
        </p:blipFill>
        <p:spPr>
          <a:xfrm>
            <a:off x="4933731" y="3355477"/>
            <a:ext cx="3615909" cy="1445124"/>
          </a:xfrm>
          <a:prstGeom prst="rect">
            <a:avLst/>
          </a:prstGeom>
        </p:spPr>
      </p:pic>
      <p:pic>
        <p:nvPicPr>
          <p:cNvPr id="34" name="Picture 33">
            <a:extLst>
              <a:ext uri="{FF2B5EF4-FFF2-40B4-BE49-F238E27FC236}">
                <a16:creationId xmlns:a16="http://schemas.microsoft.com/office/drawing/2014/main" id="{3231C1D1-E4A9-1114-DACD-841D9A2FB216}"/>
              </a:ext>
            </a:extLst>
          </p:cNvPr>
          <p:cNvPicPr>
            <a:picLocks noChangeAspect="1"/>
          </p:cNvPicPr>
          <p:nvPr/>
        </p:nvPicPr>
        <p:blipFill>
          <a:blip r:embed="rId5"/>
          <a:stretch>
            <a:fillRect/>
          </a:stretch>
        </p:blipFill>
        <p:spPr>
          <a:xfrm>
            <a:off x="4933731" y="1384233"/>
            <a:ext cx="3681663" cy="1884364"/>
          </a:xfrm>
          <a:prstGeom prst="rect">
            <a:avLst/>
          </a:prstGeom>
        </p:spPr>
      </p:pic>
      <p:sp>
        <p:nvSpPr>
          <p:cNvPr id="8" name="Text 5"/>
          <p:cNvSpPr/>
          <p:nvPr/>
        </p:nvSpPr>
        <p:spPr>
          <a:xfrm>
            <a:off x="530352" y="3702074"/>
            <a:ext cx="3931920" cy="274320"/>
          </a:xfrm>
          <a:prstGeom prst="rect">
            <a:avLst/>
          </a:prstGeom>
          <a:noFill/>
          <a:ln/>
        </p:spPr>
        <p:txBody>
          <a:bodyPr wrap="square" lIns="0" tIns="0" rIns="0" bIns="0" rtlCol="0" anchor="ctr"/>
          <a:lstStyle/>
          <a:p>
            <a:pPr marL="0" indent="0" algn="ctr">
              <a:buNone/>
            </a:pPr>
            <a:r>
              <a:rPr lang="en-US" sz="1100" b="1" kern="0" spc="300" dirty="0">
                <a:solidFill>
                  <a:srgbClr val="B85042"/>
                </a:solidFill>
                <a:latin typeface="Calibri" pitchFamily="34" charset="0"/>
                <a:ea typeface="Calibri" pitchFamily="34" charset="-122"/>
                <a:cs typeface="Calibri" pitchFamily="34" charset="-120"/>
              </a:rPr>
              <a:t>Data split used in this study</a:t>
            </a:r>
            <a:endParaRPr lang="en-US" sz="1100" dirty="0"/>
          </a:p>
        </p:txBody>
      </p:sp>
      <p:sp>
        <p:nvSpPr>
          <p:cNvPr id="14" name="Shape 11"/>
          <p:cNvSpPr/>
          <p:nvPr/>
        </p:nvSpPr>
        <p:spPr>
          <a:xfrm>
            <a:off x="713232" y="4044721"/>
            <a:ext cx="2948940" cy="502920"/>
          </a:xfrm>
          <a:prstGeom prst="rect">
            <a:avLst/>
          </a:prstGeom>
          <a:solidFill>
            <a:srgbClr val="8B3A3A"/>
          </a:solidFill>
          <a:ln w="12700">
            <a:solidFill>
              <a:srgbClr val="8B3A3A"/>
            </a:solidFill>
            <a:prstDash val="solid"/>
          </a:ln>
        </p:spPr>
        <p:txBody>
          <a:bodyPr/>
          <a:lstStyle/>
          <a:p>
            <a:pPr algn="ctr"/>
            <a:endParaRPr lang="en-US"/>
          </a:p>
        </p:txBody>
      </p:sp>
      <p:sp>
        <p:nvSpPr>
          <p:cNvPr id="15" name="Text 12"/>
          <p:cNvSpPr/>
          <p:nvPr/>
        </p:nvSpPr>
        <p:spPr>
          <a:xfrm>
            <a:off x="713232" y="4044721"/>
            <a:ext cx="2948940" cy="50292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75% TRAIN</a:t>
            </a:r>
            <a:endParaRPr lang="en-US" sz="1000" dirty="0"/>
          </a:p>
        </p:txBody>
      </p:sp>
      <p:sp>
        <p:nvSpPr>
          <p:cNvPr id="16" name="Shape 13"/>
          <p:cNvSpPr/>
          <p:nvPr/>
        </p:nvSpPr>
        <p:spPr>
          <a:xfrm>
            <a:off x="3662172" y="4044721"/>
            <a:ext cx="589788" cy="502920"/>
          </a:xfrm>
          <a:prstGeom prst="rect">
            <a:avLst/>
          </a:prstGeom>
          <a:solidFill>
            <a:srgbClr val="5C7A55"/>
          </a:solidFill>
          <a:ln w="12700">
            <a:solidFill>
              <a:srgbClr val="5C7A55"/>
            </a:solidFill>
            <a:prstDash val="solid"/>
          </a:ln>
        </p:spPr>
        <p:txBody>
          <a:bodyPr/>
          <a:lstStyle/>
          <a:p>
            <a:pPr algn="ctr"/>
            <a:endParaRPr lang="en-US"/>
          </a:p>
        </p:txBody>
      </p:sp>
      <p:sp>
        <p:nvSpPr>
          <p:cNvPr id="17" name="Text 14"/>
          <p:cNvSpPr/>
          <p:nvPr/>
        </p:nvSpPr>
        <p:spPr>
          <a:xfrm>
            <a:off x="3662172" y="4044721"/>
            <a:ext cx="589788"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 VAL</a:t>
            </a:r>
            <a:endParaRPr lang="en-US" sz="900" dirty="0"/>
          </a:p>
        </p:txBody>
      </p:sp>
      <p:sp>
        <p:nvSpPr>
          <p:cNvPr id="18" name="Shape 15"/>
          <p:cNvSpPr/>
          <p:nvPr/>
        </p:nvSpPr>
        <p:spPr>
          <a:xfrm>
            <a:off x="4251960" y="4044721"/>
            <a:ext cx="393192" cy="502920"/>
          </a:xfrm>
          <a:prstGeom prst="rect">
            <a:avLst/>
          </a:prstGeom>
          <a:solidFill>
            <a:srgbClr val="F5F0E6"/>
          </a:solidFill>
          <a:ln w="12700">
            <a:solidFill>
              <a:srgbClr val="F5F0E6"/>
            </a:solidFill>
            <a:prstDash val="solid"/>
          </a:ln>
        </p:spPr>
        <p:txBody>
          <a:bodyPr/>
          <a:lstStyle/>
          <a:p>
            <a:pPr algn="ctr"/>
            <a:endParaRPr lang="en-US"/>
          </a:p>
        </p:txBody>
      </p:sp>
      <p:sp>
        <p:nvSpPr>
          <p:cNvPr id="19" name="Text 16"/>
          <p:cNvSpPr/>
          <p:nvPr/>
        </p:nvSpPr>
        <p:spPr>
          <a:xfrm>
            <a:off x="4251960" y="4044721"/>
            <a:ext cx="393192" cy="502920"/>
          </a:xfrm>
          <a:prstGeom prst="rect">
            <a:avLst/>
          </a:prstGeom>
          <a:noFill/>
          <a:ln/>
        </p:spPr>
        <p:txBody>
          <a:bodyPr wrap="square" lIns="0" tIns="0" rIns="0" bIns="0" rtlCol="0" anchor="ctr"/>
          <a:lstStyle/>
          <a:p>
            <a:pPr marL="0" indent="0" algn="ctr">
              <a:buNone/>
            </a:pPr>
            <a:r>
              <a:rPr lang="en-US" sz="800" b="1" dirty="0">
                <a:solidFill>
                  <a:srgbClr val="2B2B2B"/>
                </a:solidFill>
                <a:latin typeface="Calibri" pitchFamily="34" charset="0"/>
                <a:ea typeface="Calibri" pitchFamily="34" charset="-122"/>
                <a:cs typeface="Calibri" pitchFamily="34" charset="-120"/>
              </a:rPr>
              <a:t>10% TEST</a:t>
            </a:r>
            <a:endParaRPr lang="en-US" sz="800" dirty="0"/>
          </a:p>
        </p:txBody>
      </p:sp>
      <p:sp>
        <p:nvSpPr>
          <p:cNvPr id="20" name="Text 17"/>
          <p:cNvSpPr/>
          <p:nvPr/>
        </p:nvSpPr>
        <p:spPr>
          <a:xfrm>
            <a:off x="713232" y="4593361"/>
            <a:ext cx="3931920" cy="22860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Final experiments  ·  stratified sampling preserves class balance</a:t>
            </a:r>
            <a:endParaRPr lang="en-US" sz="900" dirty="0"/>
          </a:p>
        </p:txBody>
      </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6641F7AA-5772-CDF8-4A3C-FC0B17CC08C5}"/>
                  </a:ext>
                </a:extLst>
              </p14:cNvPr>
              <p14:cNvContentPartPr/>
              <p14:nvPr/>
            </p14:nvContentPartPr>
            <p14:xfrm>
              <a:off x="3338333" y="2423753"/>
              <a:ext cx="185400" cy="14760"/>
            </p14:xfrm>
          </p:contentPart>
        </mc:Choice>
        <mc:Fallback xmlns="">
          <p:pic>
            <p:nvPicPr>
              <p:cNvPr id="9" name="Ink 8">
                <a:extLst>
                  <a:ext uri="{FF2B5EF4-FFF2-40B4-BE49-F238E27FC236}">
                    <a16:creationId xmlns:a16="http://schemas.microsoft.com/office/drawing/2014/main" id="{6641F7AA-5772-CDF8-4A3C-FC0B17CC08C5}"/>
                  </a:ext>
                </a:extLst>
              </p:cNvPr>
              <p:cNvPicPr/>
              <p:nvPr/>
            </p:nvPicPr>
            <p:blipFill>
              <a:blip r:embed="rId7"/>
              <a:stretch>
                <a:fillRect/>
              </a:stretch>
            </p:blipFill>
            <p:spPr>
              <a:xfrm>
                <a:off x="3284693" y="2316113"/>
                <a:ext cx="29304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31797D6-2766-6AF1-EC5D-E2B38F0A6CEF}"/>
                  </a:ext>
                </a:extLst>
              </p14:cNvPr>
              <p14:cNvContentPartPr/>
              <p14:nvPr/>
            </p14:nvContentPartPr>
            <p14:xfrm>
              <a:off x="3209813" y="3452633"/>
              <a:ext cx="344880" cy="19440"/>
            </p14:xfrm>
          </p:contentPart>
        </mc:Choice>
        <mc:Fallback xmlns="">
          <p:pic>
            <p:nvPicPr>
              <p:cNvPr id="10" name="Ink 9">
                <a:extLst>
                  <a:ext uri="{FF2B5EF4-FFF2-40B4-BE49-F238E27FC236}">
                    <a16:creationId xmlns:a16="http://schemas.microsoft.com/office/drawing/2014/main" id="{731797D6-2766-6AF1-EC5D-E2B38F0A6CEF}"/>
                  </a:ext>
                </a:extLst>
              </p:cNvPr>
              <p:cNvPicPr/>
              <p:nvPr/>
            </p:nvPicPr>
            <p:blipFill>
              <a:blip r:embed="rId9"/>
              <a:stretch>
                <a:fillRect/>
              </a:stretch>
            </p:blipFill>
            <p:spPr>
              <a:xfrm>
                <a:off x="3155813" y="3344633"/>
                <a:ext cx="452520" cy="235080"/>
              </a:xfrm>
              <a:prstGeom prst="rect">
                <a:avLst/>
              </a:prstGeom>
            </p:spPr>
          </p:pic>
        </mc:Fallback>
      </mc:AlternateContent>
    </p:spTree>
    <p:extLst>
      <p:ext uri="{BB962C8B-B14F-4D97-AF65-F5344CB8AC3E}">
        <p14:creationId xmlns:p14="http://schemas.microsoft.com/office/powerpoint/2010/main" val="6403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16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Models and identical training protocol</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1170432"/>
        </p:xfrm>
        <a:graphic>
          <a:graphicData uri="http://schemas.openxmlformats.org/drawingml/2006/table">
            <a:tbl>
              <a:tblPr/>
              <a:tblGrid>
                <a:gridCol w="1645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PARADIGM</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PARAMS</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FEATURE</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C97B3F"/>
                          </a:solidFill>
                          <a:latin typeface="Calibri" pitchFamily="34" charset="0"/>
                          <a:ea typeface="Calibri" pitchFamily="34" charset="-122"/>
                          <a:cs typeface="Calibri" pitchFamily="34" charset="-120"/>
                        </a:rPr>
                        <a:t>ResNet50</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Pure CNN</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25.6 M</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Residual connections</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5C7A55"/>
                          </a:solidFill>
                          <a:latin typeface="Calibri" pitchFamily="34" charset="0"/>
                          <a:ea typeface="Calibri" pitchFamily="34" charset="-122"/>
                          <a:cs typeface="Calibri" pitchFamily="34" charset="-120"/>
                        </a:rPr>
                        <a:t>ViT-Base / 16</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Pure ViT</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86.6 M</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16×16 patch self-attention</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8B3A3A"/>
                          </a:solidFill>
                          <a:latin typeface="Calibri" pitchFamily="34" charset="0"/>
                          <a:ea typeface="Calibri" pitchFamily="34" charset="-122"/>
                          <a:cs typeface="Calibri" pitchFamily="34" charset="-120"/>
                        </a:rPr>
                        <a:t>ConvNeXt-Base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Transformer-inspired CNN</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88.6 M</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7×7 depthwise · LayerNorm · GELU</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457200" y="3337560"/>
            <a:ext cx="8229600" cy="1417320"/>
          </a:xfrm>
          <a:prstGeom prst="rect">
            <a:avLst/>
          </a:prstGeom>
          <a:solidFill>
            <a:srgbClr val="2B2B2B"/>
          </a:solidFill>
          <a:ln w="12700">
            <a:solidFill>
              <a:srgbClr val="2B2B2B"/>
            </a:solidFill>
            <a:prstDash val="solid"/>
          </a:ln>
        </p:spPr>
        <p:txBody>
          <a:bodyPr/>
          <a:lstStyle/>
          <a:p>
            <a:endParaRPr lang="en-US"/>
          </a:p>
        </p:txBody>
      </p:sp>
      <p:sp>
        <p:nvSpPr>
          <p:cNvPr id="8" name="Text 5"/>
          <p:cNvSpPr/>
          <p:nvPr/>
        </p:nvSpPr>
        <p:spPr>
          <a:xfrm>
            <a:off x="640080" y="3474720"/>
            <a:ext cx="7863840" cy="27432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IDENTICAL TRAINING PROTOCOL  —  the basis for fair comparison</a:t>
            </a:r>
            <a:endParaRPr lang="en-US" sz="1000" dirty="0"/>
          </a:p>
        </p:txBody>
      </p:sp>
      <p:sp>
        <p:nvSpPr>
          <p:cNvPr id="9" name="Text 6"/>
          <p:cNvSpPr/>
          <p:nvPr/>
        </p:nvSpPr>
        <p:spPr>
          <a:xfrm>
            <a:off x="640080" y="3794760"/>
            <a:ext cx="4023360" cy="914400"/>
          </a:xfrm>
          <a:prstGeom prst="rect">
            <a:avLst/>
          </a:prstGeom>
          <a:noFill/>
          <a:ln/>
        </p:spPr>
        <p:txBody>
          <a:bodyPr wrap="square" lIns="0" tIns="0" rIns="0" bIns="0" rtlCol="0" anchor="t"/>
          <a:lstStyle/>
          <a:p>
            <a:pPr marL="0" indent="0">
              <a:spcAft>
                <a:spcPts val="400"/>
              </a:spcAft>
              <a:buNone/>
            </a:pPr>
            <a:r>
              <a:rPr lang="en-US" sz="1100" b="1" dirty="0">
                <a:solidFill>
                  <a:srgbClr val="FFFFFF"/>
                </a:solidFill>
                <a:latin typeface="Calibri" pitchFamily="34" charset="0"/>
                <a:ea typeface="Calibri" pitchFamily="34" charset="-122"/>
                <a:cs typeface="Calibri" pitchFamily="34" charset="-120"/>
              </a:rPr>
              <a:t>Initialisation  </a:t>
            </a:r>
            <a:r>
              <a:rPr lang="en-US" sz="1100" dirty="0">
                <a:solidFill>
                  <a:srgbClr val="DDDDDD"/>
                </a:solidFill>
                <a:latin typeface="Calibri" pitchFamily="34" charset="0"/>
                <a:ea typeface="Calibri" pitchFamily="34" charset="-122"/>
                <a:cs typeface="Calibri" pitchFamily="34" charset="-120"/>
              </a:rPr>
              <a:t>ImageNet-1k pretrained → fine-tuned per dataset</a:t>
            </a:r>
            <a:endParaRPr lang="en-US" sz="1100" dirty="0"/>
          </a:p>
          <a:p>
            <a:pPr marL="0" indent="0">
              <a:spcAft>
                <a:spcPts val="400"/>
              </a:spcAft>
              <a:buNone/>
            </a:pPr>
            <a:r>
              <a:rPr lang="en-US" sz="1100" b="1" dirty="0">
                <a:solidFill>
                  <a:srgbClr val="FFFFFF"/>
                </a:solidFill>
                <a:latin typeface="Calibri" pitchFamily="34" charset="0"/>
                <a:ea typeface="Calibri" pitchFamily="34" charset="-122"/>
                <a:cs typeface="Calibri" pitchFamily="34" charset="-120"/>
              </a:rPr>
              <a:t>Image size  </a:t>
            </a:r>
            <a:r>
              <a:rPr lang="en-US" sz="1100" dirty="0">
                <a:solidFill>
                  <a:srgbClr val="DDDDDD"/>
                </a:solidFill>
                <a:latin typeface="Calibri" pitchFamily="34" charset="0"/>
                <a:ea typeface="Calibri" pitchFamily="34" charset="-122"/>
                <a:cs typeface="Calibri" pitchFamily="34" charset="-120"/>
              </a:rPr>
              <a:t>224 × 224  ·  Batch 64  ·  10 epochs</a:t>
            </a:r>
            <a:endParaRPr lang="en-US" sz="1100" dirty="0"/>
          </a:p>
          <a:p>
            <a:pPr marL="0" indent="0">
              <a:spcAft>
                <a:spcPts val="400"/>
              </a:spcAft>
              <a:buNone/>
            </a:pPr>
            <a:r>
              <a:rPr lang="en-US" sz="1100" b="1" dirty="0">
                <a:solidFill>
                  <a:srgbClr val="FFFFFF"/>
                </a:solidFill>
                <a:latin typeface="Calibri" pitchFamily="34" charset="0"/>
                <a:ea typeface="Calibri" pitchFamily="34" charset="-122"/>
                <a:cs typeface="Calibri" pitchFamily="34" charset="-120"/>
              </a:rPr>
              <a:t>Optimiser  </a:t>
            </a:r>
            <a:r>
              <a:rPr lang="en-US" sz="1100" dirty="0">
                <a:solidFill>
                  <a:srgbClr val="DDDDDD"/>
                </a:solidFill>
                <a:latin typeface="Calibri" pitchFamily="34" charset="0"/>
                <a:ea typeface="Calibri" pitchFamily="34" charset="-122"/>
                <a:cs typeface="Calibri" pitchFamily="34" charset="-120"/>
              </a:rPr>
              <a:t>AdamW  ·  LR = 1×10⁻⁴  ·  weight decay 1×10⁻⁴</a:t>
            </a:r>
            <a:endParaRPr lang="en-US" sz="1100" dirty="0"/>
          </a:p>
        </p:txBody>
      </p:sp>
      <p:sp>
        <p:nvSpPr>
          <p:cNvPr id="10" name="Text 7"/>
          <p:cNvSpPr/>
          <p:nvPr/>
        </p:nvSpPr>
        <p:spPr>
          <a:xfrm>
            <a:off x="4754880" y="3794760"/>
            <a:ext cx="3931920" cy="914400"/>
          </a:xfrm>
          <a:prstGeom prst="rect">
            <a:avLst/>
          </a:prstGeom>
          <a:noFill/>
          <a:ln/>
        </p:spPr>
        <p:txBody>
          <a:bodyPr wrap="square" lIns="0" tIns="0" rIns="0" bIns="0" rtlCol="0" anchor="t"/>
          <a:lstStyle/>
          <a:p>
            <a:pPr marL="0" indent="0">
              <a:spcAft>
                <a:spcPts val="400"/>
              </a:spcAft>
              <a:buNone/>
            </a:pPr>
            <a:r>
              <a:rPr lang="en-US" sz="1100" b="1" dirty="0">
                <a:solidFill>
                  <a:srgbClr val="FFFFFF"/>
                </a:solidFill>
                <a:latin typeface="Calibri" pitchFamily="34" charset="0"/>
                <a:ea typeface="Calibri" pitchFamily="34" charset="-122"/>
                <a:cs typeface="Calibri" pitchFamily="34" charset="-120"/>
              </a:rPr>
              <a:t>Loss  </a:t>
            </a:r>
            <a:r>
              <a:rPr lang="en-US" sz="1100" dirty="0">
                <a:solidFill>
                  <a:srgbClr val="DDDDDD"/>
                </a:solidFill>
                <a:latin typeface="Calibri" pitchFamily="34" charset="0"/>
                <a:ea typeface="Calibri" pitchFamily="34" charset="-122"/>
                <a:cs typeface="Calibri" pitchFamily="34" charset="-120"/>
              </a:rPr>
              <a:t>Cross-entropy  ·  early stopping (patience 3)</a:t>
            </a:r>
            <a:endParaRPr lang="en-US" sz="1100" dirty="0"/>
          </a:p>
          <a:p>
            <a:pPr marL="0" indent="0">
              <a:spcAft>
                <a:spcPts val="400"/>
              </a:spcAft>
              <a:buNone/>
            </a:pPr>
            <a:r>
              <a:rPr lang="en-US" sz="1100" b="1" dirty="0">
                <a:solidFill>
                  <a:srgbClr val="FFFFFF"/>
                </a:solidFill>
                <a:latin typeface="Calibri" pitchFamily="34" charset="0"/>
                <a:ea typeface="Calibri" pitchFamily="34" charset="-122"/>
                <a:cs typeface="Calibri" pitchFamily="34" charset="-120"/>
              </a:rPr>
              <a:t>Augmentation  </a:t>
            </a:r>
            <a:r>
              <a:rPr lang="en-US" sz="1100" dirty="0">
                <a:solidFill>
                  <a:srgbClr val="DDDDDD"/>
                </a:solidFill>
                <a:latin typeface="Calibri" pitchFamily="34" charset="0"/>
                <a:ea typeface="Calibri" pitchFamily="34" charset="-122"/>
                <a:cs typeface="Calibri" pitchFamily="34" charset="-120"/>
              </a:rPr>
              <a:t>Random crop, horizontal flip, ±15° rotation, colour jitter</a:t>
            </a:r>
            <a:endParaRPr lang="en-US" sz="1100" dirty="0"/>
          </a:p>
          <a:p>
            <a:pPr marL="0" indent="0">
              <a:spcAft>
                <a:spcPts val="400"/>
              </a:spcAft>
              <a:buNone/>
            </a:pPr>
            <a:r>
              <a:rPr lang="en-US" sz="1100" b="1" dirty="0">
                <a:solidFill>
                  <a:srgbClr val="FFFFFF"/>
                </a:solidFill>
                <a:latin typeface="Calibri" pitchFamily="34" charset="0"/>
                <a:ea typeface="Calibri" pitchFamily="34" charset="-122"/>
                <a:cs typeface="Calibri" pitchFamily="34" charset="-120"/>
              </a:rPr>
              <a:t>Normalisation  </a:t>
            </a:r>
            <a:r>
              <a:rPr lang="en-US" sz="1100" dirty="0">
                <a:solidFill>
                  <a:srgbClr val="DDDDDD"/>
                </a:solidFill>
                <a:latin typeface="Calibri" pitchFamily="34" charset="0"/>
                <a:ea typeface="Calibri" pitchFamily="34" charset="-122"/>
                <a:cs typeface="Calibri" pitchFamily="34" charset="-120"/>
              </a:rPr>
              <a:t>ImageNet statistics — identical across all three models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17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Evaluation metrics</a:t>
            </a:r>
            <a:endParaRPr lang="en-US" sz="2600" dirty="0"/>
          </a:p>
        </p:txBody>
      </p:sp>
      <p:sp>
        <p:nvSpPr>
          <p:cNvPr id="6" name="Text 4"/>
          <p:cNvSpPr/>
          <p:nvPr/>
        </p:nvSpPr>
        <p:spPr>
          <a:xfrm>
            <a:off x="457200" y="146304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Three families of metrics — each answers a different question about model behaviour</a:t>
            </a:r>
            <a:endParaRPr lang="en-US" sz="1100" dirty="0"/>
          </a:p>
        </p:txBody>
      </p:sp>
      <p:sp>
        <p:nvSpPr>
          <p:cNvPr id="7" name="Shape 5"/>
          <p:cNvSpPr/>
          <p:nvPr/>
        </p:nvSpPr>
        <p:spPr>
          <a:xfrm>
            <a:off x="457200" y="1828800"/>
            <a:ext cx="2697480" cy="2331720"/>
          </a:xfrm>
          <a:prstGeom prst="rect">
            <a:avLst/>
          </a:prstGeom>
          <a:solidFill>
            <a:srgbClr val="FBF8F2"/>
          </a:solidFill>
          <a:ln w="6350">
            <a:solidFill>
              <a:srgbClr val="D8CFC0"/>
            </a:solidFill>
            <a:prstDash val="solid"/>
          </a:ln>
        </p:spPr>
        <p:txBody>
          <a:bodyPr/>
          <a:lstStyle/>
          <a:p>
            <a:endParaRPr lang="en-US"/>
          </a:p>
        </p:txBody>
      </p:sp>
      <p:sp>
        <p:nvSpPr>
          <p:cNvPr id="8" name="Shape 6"/>
          <p:cNvSpPr/>
          <p:nvPr/>
        </p:nvSpPr>
        <p:spPr>
          <a:xfrm>
            <a:off x="457200" y="1828800"/>
            <a:ext cx="2697480" cy="73152"/>
          </a:xfrm>
          <a:prstGeom prst="rect">
            <a:avLst/>
          </a:prstGeom>
          <a:solidFill>
            <a:srgbClr val="B85042"/>
          </a:solidFill>
          <a:ln w="12700">
            <a:solidFill>
              <a:srgbClr val="B85042"/>
            </a:solidFill>
            <a:prstDash val="solid"/>
          </a:ln>
        </p:spPr>
        <p:txBody>
          <a:bodyPr/>
          <a:lstStyle/>
          <a:p>
            <a:endParaRPr lang="en-US"/>
          </a:p>
        </p:txBody>
      </p:sp>
      <p:sp>
        <p:nvSpPr>
          <p:cNvPr id="9" name="Text 7"/>
          <p:cNvSpPr/>
          <p:nvPr/>
        </p:nvSpPr>
        <p:spPr>
          <a:xfrm>
            <a:off x="621792" y="2011680"/>
            <a:ext cx="2368296" cy="274320"/>
          </a:xfrm>
          <a:prstGeom prst="rect">
            <a:avLst/>
          </a:prstGeom>
          <a:noFill/>
          <a:ln/>
        </p:spPr>
        <p:txBody>
          <a:bodyPr wrap="square" lIns="0" tIns="0" rIns="0" bIns="0" rtlCol="0" anchor="ctr"/>
          <a:lstStyle/>
          <a:p>
            <a:pPr marL="0" indent="0">
              <a:buNone/>
            </a:pPr>
            <a:r>
              <a:rPr lang="en-US" sz="900" b="1" kern="0" spc="300" dirty="0">
                <a:solidFill>
                  <a:srgbClr val="B85042"/>
                </a:solidFill>
                <a:latin typeface="Calibri" pitchFamily="34" charset="0"/>
                <a:ea typeface="Calibri" pitchFamily="34" charset="-122"/>
                <a:cs typeface="Calibri" pitchFamily="34" charset="-120"/>
              </a:rPr>
              <a:t>1   CLASSIFICATION</a:t>
            </a:r>
            <a:endParaRPr lang="en-US" sz="900" dirty="0"/>
          </a:p>
        </p:txBody>
      </p:sp>
      <p:sp>
        <p:nvSpPr>
          <p:cNvPr id="10" name="Text 8"/>
          <p:cNvSpPr/>
          <p:nvPr/>
        </p:nvSpPr>
        <p:spPr>
          <a:xfrm>
            <a:off x="621792" y="2286000"/>
            <a:ext cx="2368296" cy="320040"/>
          </a:xfrm>
          <a:prstGeom prst="rect">
            <a:avLst/>
          </a:prstGeom>
          <a:noFill/>
          <a:ln/>
        </p:spPr>
        <p:txBody>
          <a:bodyPr wrap="square" lIns="0" tIns="0" rIns="0" bIns="0" rtlCol="0" anchor="ctr"/>
          <a:lstStyle/>
          <a:p>
            <a:pPr marL="0" indent="0">
              <a:buNone/>
            </a:pPr>
            <a:r>
              <a:rPr lang="en-US" sz="1300" b="1" dirty="0">
                <a:solidFill>
                  <a:srgbClr val="2B2B2B"/>
                </a:solidFill>
                <a:latin typeface="Georgia" pitchFamily="34" charset="0"/>
                <a:ea typeface="Georgia" pitchFamily="34" charset="-122"/>
                <a:cs typeface="Georgia" pitchFamily="34" charset="-120"/>
              </a:rPr>
              <a:t>Headline performance</a:t>
            </a:r>
            <a:endParaRPr lang="en-US" sz="1300" dirty="0"/>
          </a:p>
        </p:txBody>
      </p:sp>
      <p:sp>
        <p:nvSpPr>
          <p:cNvPr id="11" name="Text 9"/>
          <p:cNvSpPr/>
          <p:nvPr/>
        </p:nvSpPr>
        <p:spPr>
          <a:xfrm>
            <a:off x="621792" y="2697480"/>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Top-1 Accuracy</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primary headline metric</a:t>
            </a:r>
            <a:endParaRPr lang="en-US" sz="1000" dirty="0"/>
          </a:p>
        </p:txBody>
      </p:sp>
      <p:sp>
        <p:nvSpPr>
          <p:cNvPr id="12" name="Text 10"/>
          <p:cNvSpPr/>
          <p:nvPr/>
        </p:nvSpPr>
        <p:spPr>
          <a:xfrm>
            <a:off x="621792" y="3081528"/>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Top-5 Accuracy</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practical relevance for user-facing apps</a:t>
            </a:r>
            <a:endParaRPr lang="en-US" sz="1000" dirty="0"/>
          </a:p>
        </p:txBody>
      </p:sp>
      <p:sp>
        <p:nvSpPr>
          <p:cNvPr id="13" name="Text 11"/>
          <p:cNvSpPr/>
          <p:nvPr/>
        </p:nvSpPr>
        <p:spPr>
          <a:xfrm>
            <a:off x="621792" y="3465576"/>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Macro-F1</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treats all 233 classes equally</a:t>
            </a:r>
            <a:endParaRPr lang="en-US" sz="1000" dirty="0"/>
          </a:p>
        </p:txBody>
      </p:sp>
      <p:sp>
        <p:nvSpPr>
          <p:cNvPr id="14" name="Text 12"/>
          <p:cNvSpPr/>
          <p:nvPr/>
        </p:nvSpPr>
        <p:spPr>
          <a:xfrm>
            <a:off x="621792" y="3849624"/>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Weighted-F1</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frequency-weighted by class size</a:t>
            </a:r>
            <a:endParaRPr lang="en-US" sz="1000" dirty="0"/>
          </a:p>
        </p:txBody>
      </p:sp>
      <p:sp>
        <p:nvSpPr>
          <p:cNvPr id="15" name="Shape 13"/>
          <p:cNvSpPr/>
          <p:nvPr/>
        </p:nvSpPr>
        <p:spPr>
          <a:xfrm>
            <a:off x="3223260" y="1828800"/>
            <a:ext cx="2697480" cy="2331720"/>
          </a:xfrm>
          <a:prstGeom prst="rect">
            <a:avLst/>
          </a:prstGeom>
          <a:solidFill>
            <a:srgbClr val="FBF8F2"/>
          </a:solidFill>
          <a:ln w="6350">
            <a:solidFill>
              <a:srgbClr val="D8CFC0"/>
            </a:solidFill>
            <a:prstDash val="solid"/>
          </a:ln>
        </p:spPr>
        <p:txBody>
          <a:bodyPr/>
          <a:lstStyle/>
          <a:p>
            <a:endParaRPr lang="en-US"/>
          </a:p>
        </p:txBody>
      </p:sp>
      <p:sp>
        <p:nvSpPr>
          <p:cNvPr id="16" name="Shape 14"/>
          <p:cNvSpPr/>
          <p:nvPr/>
        </p:nvSpPr>
        <p:spPr>
          <a:xfrm>
            <a:off x="3223260" y="1828800"/>
            <a:ext cx="2697480" cy="73152"/>
          </a:xfrm>
          <a:prstGeom prst="rect">
            <a:avLst/>
          </a:prstGeom>
          <a:solidFill>
            <a:srgbClr val="5C7A55"/>
          </a:solidFill>
          <a:ln w="12700">
            <a:solidFill>
              <a:srgbClr val="5C7A55"/>
            </a:solidFill>
            <a:prstDash val="solid"/>
          </a:ln>
        </p:spPr>
        <p:txBody>
          <a:bodyPr/>
          <a:lstStyle/>
          <a:p>
            <a:endParaRPr lang="en-US"/>
          </a:p>
        </p:txBody>
      </p:sp>
      <p:sp>
        <p:nvSpPr>
          <p:cNvPr id="17" name="Text 15"/>
          <p:cNvSpPr/>
          <p:nvPr/>
        </p:nvSpPr>
        <p:spPr>
          <a:xfrm>
            <a:off x="3387852" y="2011680"/>
            <a:ext cx="2368296" cy="274320"/>
          </a:xfrm>
          <a:prstGeom prst="rect">
            <a:avLst/>
          </a:prstGeom>
          <a:noFill/>
          <a:ln/>
        </p:spPr>
        <p:txBody>
          <a:bodyPr wrap="square" lIns="0" tIns="0" rIns="0" bIns="0" rtlCol="0" anchor="ctr"/>
          <a:lstStyle/>
          <a:p>
            <a:pPr marL="0" indent="0">
              <a:buNone/>
            </a:pPr>
            <a:r>
              <a:rPr lang="en-US" sz="900" b="1" kern="0" spc="300" dirty="0">
                <a:solidFill>
                  <a:srgbClr val="5C7A55"/>
                </a:solidFill>
                <a:latin typeface="Calibri" pitchFamily="34" charset="0"/>
                <a:ea typeface="Calibri" pitchFamily="34" charset="-122"/>
                <a:cs typeface="Calibri" pitchFamily="34" charset="-120"/>
              </a:rPr>
              <a:t>2   PER-CLASS</a:t>
            </a:r>
            <a:endParaRPr lang="en-US" sz="900" dirty="0"/>
          </a:p>
        </p:txBody>
      </p:sp>
      <p:sp>
        <p:nvSpPr>
          <p:cNvPr id="18" name="Text 16"/>
          <p:cNvSpPr/>
          <p:nvPr/>
        </p:nvSpPr>
        <p:spPr>
          <a:xfrm>
            <a:off x="3387852" y="2286000"/>
            <a:ext cx="2368296" cy="320040"/>
          </a:xfrm>
          <a:prstGeom prst="rect">
            <a:avLst/>
          </a:prstGeom>
          <a:noFill/>
          <a:ln/>
        </p:spPr>
        <p:txBody>
          <a:bodyPr wrap="square" lIns="0" tIns="0" rIns="0" bIns="0" rtlCol="0" anchor="ctr"/>
          <a:lstStyle/>
          <a:p>
            <a:pPr marL="0" indent="0">
              <a:buNone/>
            </a:pPr>
            <a:r>
              <a:rPr lang="en-US" sz="1300" b="1" dirty="0">
                <a:solidFill>
                  <a:srgbClr val="2B2B2B"/>
                </a:solidFill>
                <a:latin typeface="Georgia" pitchFamily="34" charset="0"/>
                <a:ea typeface="Georgia" pitchFamily="34" charset="-122"/>
                <a:cs typeface="Georgia" pitchFamily="34" charset="-120"/>
              </a:rPr>
              <a:t>Class-level diagnostics</a:t>
            </a:r>
            <a:endParaRPr lang="en-US" sz="1300" dirty="0"/>
          </a:p>
        </p:txBody>
      </p:sp>
      <p:sp>
        <p:nvSpPr>
          <p:cNvPr id="19" name="Text 17"/>
          <p:cNvSpPr/>
          <p:nvPr/>
        </p:nvSpPr>
        <p:spPr>
          <a:xfrm>
            <a:off x="3387852" y="2697480"/>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Per-class Precision, Recall, F1</a:t>
            </a:r>
            <a:endParaRPr lang="en-US" sz="1000" dirty="0"/>
          </a:p>
        </p:txBody>
      </p:sp>
      <p:sp>
        <p:nvSpPr>
          <p:cNvPr id="20" name="Text 18"/>
          <p:cNvSpPr/>
          <p:nvPr/>
        </p:nvSpPr>
        <p:spPr>
          <a:xfrm>
            <a:off x="3387852" y="2926080"/>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Identifies</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easiest, hardest, biggest cross-architecture gaps</a:t>
            </a:r>
            <a:endParaRPr lang="en-US" sz="1000" dirty="0"/>
          </a:p>
        </p:txBody>
      </p:sp>
      <p:sp>
        <p:nvSpPr>
          <p:cNvPr id="22" name="Shape 20"/>
          <p:cNvSpPr/>
          <p:nvPr/>
        </p:nvSpPr>
        <p:spPr>
          <a:xfrm>
            <a:off x="5989320" y="1828800"/>
            <a:ext cx="2697480" cy="2331720"/>
          </a:xfrm>
          <a:prstGeom prst="rect">
            <a:avLst/>
          </a:prstGeom>
          <a:solidFill>
            <a:srgbClr val="FBF8F2"/>
          </a:solidFill>
          <a:ln w="6350">
            <a:solidFill>
              <a:srgbClr val="D8CFC0"/>
            </a:solidFill>
            <a:prstDash val="solid"/>
          </a:ln>
        </p:spPr>
        <p:txBody>
          <a:bodyPr/>
          <a:lstStyle/>
          <a:p>
            <a:endParaRPr lang="en-US"/>
          </a:p>
        </p:txBody>
      </p:sp>
      <p:sp>
        <p:nvSpPr>
          <p:cNvPr id="23" name="Shape 21"/>
          <p:cNvSpPr/>
          <p:nvPr/>
        </p:nvSpPr>
        <p:spPr>
          <a:xfrm>
            <a:off x="5989320" y="1828800"/>
            <a:ext cx="2697480" cy="73152"/>
          </a:xfrm>
          <a:prstGeom prst="rect">
            <a:avLst/>
          </a:prstGeom>
          <a:solidFill>
            <a:srgbClr val="8B3A3A"/>
          </a:solidFill>
          <a:ln w="12700">
            <a:solidFill>
              <a:srgbClr val="8B3A3A"/>
            </a:solidFill>
            <a:prstDash val="solid"/>
          </a:ln>
        </p:spPr>
        <p:txBody>
          <a:bodyPr/>
          <a:lstStyle/>
          <a:p>
            <a:endParaRPr lang="en-US"/>
          </a:p>
        </p:txBody>
      </p:sp>
      <p:sp>
        <p:nvSpPr>
          <p:cNvPr id="24" name="Text 22"/>
          <p:cNvSpPr/>
          <p:nvPr/>
        </p:nvSpPr>
        <p:spPr>
          <a:xfrm>
            <a:off x="6153912" y="2011680"/>
            <a:ext cx="2368296" cy="274320"/>
          </a:xfrm>
          <a:prstGeom prst="rect">
            <a:avLst/>
          </a:prstGeom>
          <a:noFill/>
          <a:ln/>
        </p:spPr>
        <p:txBody>
          <a:bodyPr wrap="square" lIns="0" tIns="0" rIns="0" bIns="0" rtlCol="0" anchor="ctr"/>
          <a:lstStyle/>
          <a:p>
            <a:pPr marL="0" indent="0">
              <a:buNone/>
            </a:pPr>
            <a:r>
              <a:rPr lang="en-US" sz="900" b="1" kern="0" spc="300" dirty="0">
                <a:solidFill>
                  <a:srgbClr val="8B3A3A"/>
                </a:solidFill>
                <a:latin typeface="Calibri" pitchFamily="34" charset="0"/>
                <a:ea typeface="Calibri" pitchFamily="34" charset="-122"/>
                <a:cs typeface="Calibri" pitchFamily="34" charset="-120"/>
              </a:rPr>
              <a:t>3   EMBEDDING GEOMETRY</a:t>
            </a:r>
            <a:endParaRPr lang="en-US" sz="900" dirty="0"/>
          </a:p>
        </p:txBody>
      </p:sp>
      <p:sp>
        <p:nvSpPr>
          <p:cNvPr id="25" name="Text 23"/>
          <p:cNvSpPr/>
          <p:nvPr/>
        </p:nvSpPr>
        <p:spPr>
          <a:xfrm>
            <a:off x="6153912" y="2286000"/>
            <a:ext cx="2368296" cy="320040"/>
          </a:xfrm>
          <a:prstGeom prst="rect">
            <a:avLst/>
          </a:prstGeom>
          <a:noFill/>
          <a:ln/>
        </p:spPr>
        <p:txBody>
          <a:bodyPr wrap="square" lIns="0" tIns="0" rIns="0" bIns="0" rtlCol="0" anchor="ctr"/>
          <a:lstStyle/>
          <a:p>
            <a:pPr marL="0" indent="0">
              <a:buNone/>
            </a:pPr>
            <a:r>
              <a:rPr lang="en-US" sz="1300" b="1" dirty="0">
                <a:solidFill>
                  <a:srgbClr val="2B2B2B"/>
                </a:solidFill>
                <a:latin typeface="Georgia" pitchFamily="34" charset="0"/>
                <a:ea typeface="Georgia" pitchFamily="34" charset="-122"/>
                <a:cs typeface="Georgia" pitchFamily="34" charset="-120"/>
              </a:rPr>
              <a:t>Feature space quality</a:t>
            </a:r>
            <a:endParaRPr lang="en-US" sz="1300" dirty="0"/>
          </a:p>
        </p:txBody>
      </p:sp>
      <p:sp>
        <p:nvSpPr>
          <p:cNvPr id="26" name="Text 24"/>
          <p:cNvSpPr/>
          <p:nvPr/>
        </p:nvSpPr>
        <p:spPr>
          <a:xfrm>
            <a:off x="6153912" y="2697480"/>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Silhouette score</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cosine + Euclidean + PCA-256</a:t>
            </a:r>
            <a:endParaRPr lang="en-US" sz="1000" dirty="0"/>
          </a:p>
        </p:txBody>
      </p:sp>
      <p:sp>
        <p:nvSpPr>
          <p:cNvPr id="27" name="Text 25"/>
          <p:cNvSpPr/>
          <p:nvPr/>
        </p:nvSpPr>
        <p:spPr>
          <a:xfrm>
            <a:off x="6153912" y="3081528"/>
            <a:ext cx="2368296" cy="411480"/>
          </a:xfrm>
          <a:prstGeom prst="rect">
            <a:avLst/>
          </a:prstGeom>
          <a:noFill/>
          <a:ln/>
        </p:spPr>
        <p:txBody>
          <a:bodyPr wrap="square" lIns="0" tIns="0" rIns="0" bIns="0" rtlCol="0" anchor="t"/>
          <a:lstStyle/>
          <a:p>
            <a:pPr marL="0" indent="0">
              <a:spcAft>
                <a:spcPts val="100"/>
              </a:spcAft>
              <a:buNone/>
            </a:pPr>
            <a:r>
              <a:rPr lang="en-US" sz="1000" b="1" dirty="0">
                <a:solidFill>
                  <a:srgbClr val="2B2B2B"/>
                </a:solidFill>
                <a:latin typeface="Calibri" pitchFamily="34" charset="0"/>
                <a:ea typeface="Calibri" pitchFamily="34" charset="-122"/>
                <a:cs typeface="Calibri" pitchFamily="34" charset="-120"/>
              </a:rPr>
              <a:t>Centroid distances</a:t>
            </a:r>
            <a:endParaRPr lang="en-US" sz="1000" dirty="0"/>
          </a:p>
          <a:p>
            <a:pPr marL="0" indent="0">
              <a:spcAft>
                <a:spcPts val="100"/>
              </a:spcAft>
              <a:buNone/>
            </a:pPr>
            <a:r>
              <a:rPr lang="en-US" sz="900" i="1" dirty="0">
                <a:solidFill>
                  <a:srgbClr val="454545"/>
                </a:solidFill>
                <a:latin typeface="Calibri" pitchFamily="34" charset="0"/>
                <a:ea typeface="Calibri" pitchFamily="34" charset="-122"/>
                <a:cs typeface="Calibri" pitchFamily="34" charset="-120"/>
              </a:rPr>
              <a:t>inter-class separation in feature space</a:t>
            </a:r>
            <a:endParaRPr lang="en-US" sz="1000" dirty="0"/>
          </a:p>
        </p:txBody>
      </p:sp>
      <p:sp>
        <p:nvSpPr>
          <p:cNvPr id="29" name="Shape 27"/>
          <p:cNvSpPr/>
          <p:nvPr/>
        </p:nvSpPr>
        <p:spPr>
          <a:xfrm>
            <a:off x="457200" y="4297680"/>
            <a:ext cx="8229600" cy="457200"/>
          </a:xfrm>
          <a:prstGeom prst="rect">
            <a:avLst/>
          </a:prstGeom>
          <a:solidFill>
            <a:srgbClr val="2B2B2B"/>
          </a:solidFill>
          <a:ln w="12700">
            <a:solidFill>
              <a:srgbClr val="2B2B2B"/>
            </a:solidFill>
            <a:prstDash val="solid"/>
          </a:ln>
        </p:spPr>
        <p:txBody>
          <a:bodyPr/>
          <a:lstStyle/>
          <a:p>
            <a:endParaRPr lang="en-US"/>
          </a:p>
        </p:txBody>
      </p:sp>
      <p:sp>
        <p:nvSpPr>
          <p:cNvPr id="30" name="Text 28"/>
          <p:cNvSpPr/>
          <p:nvPr/>
        </p:nvSpPr>
        <p:spPr>
          <a:xfrm>
            <a:off x="640080" y="4297680"/>
            <a:ext cx="7863840" cy="457200"/>
          </a:xfrm>
          <a:prstGeom prst="rect">
            <a:avLst/>
          </a:prstGeom>
          <a:noFill/>
          <a:ln/>
        </p:spPr>
        <p:txBody>
          <a:bodyPr wrap="square" lIns="0" tIns="0" rIns="0" bIns="0" rtlCol="0" anchor="ctr"/>
          <a:lstStyle/>
          <a:p>
            <a:pPr marL="0" indent="0">
              <a:buNone/>
            </a:pPr>
            <a:r>
              <a:rPr lang="en-US" sz="900" b="1" kern="0" spc="300" dirty="0">
                <a:solidFill>
                  <a:srgbClr val="B85042"/>
                </a:solidFill>
                <a:latin typeface="Calibri" pitchFamily="34" charset="0"/>
                <a:ea typeface="Calibri" pitchFamily="34" charset="-122"/>
                <a:cs typeface="Calibri" pitchFamily="34" charset="-120"/>
              </a:rPr>
              <a:t>WHY MACRO-F1, NOT MACRO ACCURACY?   </a:t>
            </a:r>
            <a:r>
              <a:rPr lang="en-US" sz="1100" dirty="0">
                <a:solidFill>
                  <a:srgbClr val="FFFFFF"/>
                </a:solidFill>
                <a:latin typeface="Calibri" pitchFamily="34" charset="0"/>
                <a:ea typeface="Calibri" pitchFamily="34" charset="-122"/>
                <a:cs typeface="Calibri" pitchFamily="34" charset="-120"/>
              </a:rPr>
              <a:t>Macro Accuracy ignores false positives — Macro-F1 penalises both error directions equally, essential under SGFood-233's 18.8× class imbalance.</a:t>
            </a:r>
            <a:endParaRPr lang="en-US" sz="900" dirty="0"/>
          </a:p>
        </p:txBody>
      </p:sp>
      <p:pic>
        <p:nvPicPr>
          <p:cNvPr id="32" name="Picture 31">
            <a:extLst>
              <a:ext uri="{FF2B5EF4-FFF2-40B4-BE49-F238E27FC236}">
                <a16:creationId xmlns:a16="http://schemas.microsoft.com/office/drawing/2014/main" id="{6114E1C2-9561-4597-EB8B-00EFA290E95A}"/>
              </a:ext>
            </a:extLst>
          </p:cNvPr>
          <p:cNvPicPr>
            <a:picLocks noChangeAspect="1"/>
          </p:cNvPicPr>
          <p:nvPr/>
        </p:nvPicPr>
        <p:blipFill>
          <a:blip r:embed="rId3"/>
          <a:stretch>
            <a:fillRect/>
          </a:stretch>
        </p:blipFill>
        <p:spPr>
          <a:xfrm>
            <a:off x="3319272" y="3493008"/>
            <a:ext cx="2368296" cy="310408"/>
          </a:xfrm>
          <a:prstGeom prst="rect">
            <a:avLst/>
          </a:prstGeom>
        </p:spPr>
      </p:pic>
      <p:pic>
        <p:nvPicPr>
          <p:cNvPr id="34" name="Picture 33">
            <a:extLst>
              <a:ext uri="{FF2B5EF4-FFF2-40B4-BE49-F238E27FC236}">
                <a16:creationId xmlns:a16="http://schemas.microsoft.com/office/drawing/2014/main" id="{C14A845C-0766-887F-EF4F-A0AD9C4BB973}"/>
              </a:ext>
            </a:extLst>
          </p:cNvPr>
          <p:cNvPicPr>
            <a:picLocks noChangeAspect="1"/>
          </p:cNvPicPr>
          <p:nvPr/>
        </p:nvPicPr>
        <p:blipFill>
          <a:blip r:embed="rId4"/>
          <a:stretch>
            <a:fillRect/>
          </a:stretch>
        </p:blipFill>
        <p:spPr>
          <a:xfrm>
            <a:off x="7611627" y="2628589"/>
            <a:ext cx="979161" cy="3846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18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Error analysis framework</a:t>
            </a:r>
            <a:endParaRPr lang="en-US" sz="2600" dirty="0"/>
          </a:p>
        </p:txBody>
      </p:sp>
      <p:sp>
        <p:nvSpPr>
          <p:cNvPr id="6" name="Text 4"/>
          <p:cNvSpPr/>
          <p:nvPr/>
        </p:nvSpPr>
        <p:spPr>
          <a:xfrm>
            <a:off x="457200" y="1463040"/>
            <a:ext cx="8229600" cy="32004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Trace misclassifications back to architectural mechanisms — go beyond aggregate accuracy.</a:t>
            </a:r>
            <a:endParaRPr lang="en-US" sz="1300" dirty="0"/>
          </a:p>
        </p:txBody>
      </p:sp>
      <p:sp>
        <p:nvSpPr>
          <p:cNvPr id="7" name="Shape 5"/>
          <p:cNvSpPr/>
          <p:nvPr/>
        </p:nvSpPr>
        <p:spPr>
          <a:xfrm>
            <a:off x="457200" y="1965960"/>
            <a:ext cx="4023360" cy="1325880"/>
          </a:xfrm>
          <a:prstGeom prst="rect">
            <a:avLst/>
          </a:prstGeom>
          <a:solidFill>
            <a:srgbClr val="FBF8F2"/>
          </a:solidFill>
          <a:ln w="6350">
            <a:solidFill>
              <a:srgbClr val="D8CFC0"/>
            </a:solidFill>
            <a:prstDash val="solid"/>
          </a:ln>
        </p:spPr>
        <p:txBody>
          <a:bodyPr/>
          <a:lstStyle/>
          <a:p>
            <a:endParaRPr lang="en-US"/>
          </a:p>
        </p:txBody>
      </p:sp>
      <p:sp>
        <p:nvSpPr>
          <p:cNvPr id="8" name="Shape 6"/>
          <p:cNvSpPr/>
          <p:nvPr/>
        </p:nvSpPr>
        <p:spPr>
          <a:xfrm>
            <a:off x="457200" y="1965960"/>
            <a:ext cx="54864" cy="1325880"/>
          </a:xfrm>
          <a:prstGeom prst="rect">
            <a:avLst/>
          </a:prstGeom>
          <a:solidFill>
            <a:srgbClr val="B85042"/>
          </a:solidFill>
          <a:ln w="12700">
            <a:solidFill>
              <a:srgbClr val="B85042"/>
            </a:solidFill>
            <a:prstDash val="solid"/>
          </a:ln>
        </p:spPr>
        <p:txBody>
          <a:bodyPr/>
          <a:lstStyle/>
          <a:p>
            <a:endParaRPr lang="en-US"/>
          </a:p>
        </p:txBody>
      </p:sp>
      <p:sp>
        <p:nvSpPr>
          <p:cNvPr id="9" name="Text 7"/>
          <p:cNvSpPr/>
          <p:nvPr/>
        </p:nvSpPr>
        <p:spPr>
          <a:xfrm>
            <a:off x="640080" y="2103120"/>
            <a:ext cx="374904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1  CONFUSION PATTERNS</a:t>
            </a:r>
            <a:endParaRPr lang="en-US" sz="1000" dirty="0"/>
          </a:p>
        </p:txBody>
      </p:sp>
      <p:sp>
        <p:nvSpPr>
          <p:cNvPr id="10" name="Text 8"/>
          <p:cNvSpPr/>
          <p:nvPr/>
        </p:nvSpPr>
        <p:spPr>
          <a:xfrm>
            <a:off x="640080" y="2377440"/>
            <a:ext cx="374904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Architecture-sensitive vs invariant errors</a:t>
            </a:r>
            <a:endParaRPr lang="en-US" sz="1400" dirty="0"/>
          </a:p>
        </p:txBody>
      </p:sp>
      <p:sp>
        <p:nvSpPr>
          <p:cNvPr id="11" name="Text 9"/>
          <p:cNvSpPr/>
          <p:nvPr/>
        </p:nvSpPr>
        <p:spPr>
          <a:xfrm>
            <a:off x="640080" y="2788920"/>
            <a:ext cx="3749040" cy="457200"/>
          </a:xfrm>
          <a:prstGeom prst="rect">
            <a:avLst/>
          </a:prstGeom>
          <a:noFill/>
          <a:ln/>
        </p:spPr>
        <p:txBody>
          <a:bodyPr wrap="square" lIns="0" tIns="0" rIns="0" bIns="0" rtlCol="0" anchor="ctr"/>
          <a:lstStyle/>
          <a:p>
            <a:pPr marL="0" indent="0">
              <a:buNone/>
            </a:pPr>
            <a:r>
              <a:rPr lang="en-US" sz="1000" i="1" dirty="0">
                <a:solidFill>
                  <a:srgbClr val="454545"/>
                </a:solidFill>
                <a:latin typeface="Calibri" pitchFamily="34" charset="0"/>
                <a:ea typeface="Calibri" pitchFamily="34" charset="-122"/>
                <a:cs typeface="Calibri" pitchFamily="34" charset="-120"/>
              </a:rPr>
              <a:t>233×233 confusion matrix; shared &amp; unique pairs</a:t>
            </a:r>
            <a:endParaRPr lang="en-US" sz="1000" dirty="0"/>
          </a:p>
        </p:txBody>
      </p:sp>
      <p:sp>
        <p:nvSpPr>
          <p:cNvPr id="12" name="Shape 10"/>
          <p:cNvSpPr/>
          <p:nvPr/>
        </p:nvSpPr>
        <p:spPr>
          <a:xfrm>
            <a:off x="4617720" y="1965960"/>
            <a:ext cx="4023360" cy="1325880"/>
          </a:xfrm>
          <a:prstGeom prst="rect">
            <a:avLst/>
          </a:prstGeom>
          <a:solidFill>
            <a:srgbClr val="FBF8F2"/>
          </a:solidFill>
          <a:ln w="6350">
            <a:solidFill>
              <a:srgbClr val="D8CFC0"/>
            </a:solidFill>
            <a:prstDash val="solid"/>
          </a:ln>
        </p:spPr>
        <p:txBody>
          <a:bodyPr/>
          <a:lstStyle/>
          <a:p>
            <a:endParaRPr lang="en-US"/>
          </a:p>
        </p:txBody>
      </p:sp>
      <p:sp>
        <p:nvSpPr>
          <p:cNvPr id="13" name="Shape 11"/>
          <p:cNvSpPr/>
          <p:nvPr/>
        </p:nvSpPr>
        <p:spPr>
          <a:xfrm>
            <a:off x="4617720" y="1965960"/>
            <a:ext cx="54864" cy="1325880"/>
          </a:xfrm>
          <a:prstGeom prst="rect">
            <a:avLst/>
          </a:prstGeom>
          <a:solidFill>
            <a:srgbClr val="B85042"/>
          </a:solidFill>
          <a:ln w="12700">
            <a:solidFill>
              <a:srgbClr val="B85042"/>
            </a:solidFill>
            <a:prstDash val="solid"/>
          </a:ln>
        </p:spPr>
        <p:txBody>
          <a:bodyPr/>
          <a:lstStyle/>
          <a:p>
            <a:endParaRPr lang="en-US"/>
          </a:p>
        </p:txBody>
      </p:sp>
      <p:sp>
        <p:nvSpPr>
          <p:cNvPr id="14" name="Text 12"/>
          <p:cNvSpPr/>
          <p:nvPr/>
        </p:nvSpPr>
        <p:spPr>
          <a:xfrm>
            <a:off x="4800600" y="2103120"/>
            <a:ext cx="374904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2  PER-CLASS PERFORMANCE</a:t>
            </a:r>
            <a:endParaRPr lang="en-US" sz="1000" dirty="0"/>
          </a:p>
        </p:txBody>
      </p:sp>
      <p:sp>
        <p:nvSpPr>
          <p:cNvPr id="15" name="Text 13"/>
          <p:cNvSpPr/>
          <p:nvPr/>
        </p:nvSpPr>
        <p:spPr>
          <a:xfrm>
            <a:off x="4800600" y="2377440"/>
            <a:ext cx="374904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Easiest, hardest, biggest cross-architecture gaps</a:t>
            </a:r>
            <a:endParaRPr lang="en-US" sz="1400" dirty="0"/>
          </a:p>
        </p:txBody>
      </p:sp>
      <p:sp>
        <p:nvSpPr>
          <p:cNvPr id="16" name="Text 14"/>
          <p:cNvSpPr/>
          <p:nvPr/>
        </p:nvSpPr>
        <p:spPr>
          <a:xfrm>
            <a:off x="4800600" y="2788920"/>
            <a:ext cx="3749040" cy="457200"/>
          </a:xfrm>
          <a:prstGeom prst="rect">
            <a:avLst/>
          </a:prstGeom>
          <a:noFill/>
          <a:ln/>
        </p:spPr>
        <p:txBody>
          <a:bodyPr wrap="square" lIns="0" tIns="0" rIns="0" bIns="0" rtlCol="0" anchor="ctr"/>
          <a:lstStyle/>
          <a:p>
            <a:pPr marL="0" indent="0">
              <a:buNone/>
            </a:pPr>
            <a:r>
              <a:rPr lang="en-US" sz="1000" i="1" dirty="0">
                <a:solidFill>
                  <a:srgbClr val="454545"/>
                </a:solidFill>
                <a:latin typeface="Calibri" pitchFamily="34" charset="0"/>
                <a:ea typeface="Calibri" pitchFamily="34" charset="-122"/>
                <a:cs typeface="Calibri" pitchFamily="34" charset="-120"/>
              </a:rPr>
              <a:t>Per-class P, R, F1; rank by gap</a:t>
            </a:r>
            <a:endParaRPr lang="en-US" sz="1000" dirty="0"/>
          </a:p>
        </p:txBody>
      </p:sp>
      <p:sp>
        <p:nvSpPr>
          <p:cNvPr id="17" name="Shape 15"/>
          <p:cNvSpPr/>
          <p:nvPr/>
        </p:nvSpPr>
        <p:spPr>
          <a:xfrm>
            <a:off x="457200" y="3429000"/>
            <a:ext cx="4023360" cy="1325880"/>
          </a:xfrm>
          <a:prstGeom prst="rect">
            <a:avLst/>
          </a:prstGeom>
          <a:solidFill>
            <a:srgbClr val="FBF8F2"/>
          </a:solidFill>
          <a:ln w="6350">
            <a:solidFill>
              <a:srgbClr val="D8CFC0"/>
            </a:solidFill>
            <a:prstDash val="solid"/>
          </a:ln>
        </p:spPr>
        <p:txBody>
          <a:bodyPr/>
          <a:lstStyle/>
          <a:p>
            <a:endParaRPr lang="en-US"/>
          </a:p>
        </p:txBody>
      </p:sp>
      <p:sp>
        <p:nvSpPr>
          <p:cNvPr id="18" name="Shape 16"/>
          <p:cNvSpPr/>
          <p:nvPr/>
        </p:nvSpPr>
        <p:spPr>
          <a:xfrm>
            <a:off x="457200" y="3429000"/>
            <a:ext cx="54864" cy="1325880"/>
          </a:xfrm>
          <a:prstGeom prst="rect">
            <a:avLst/>
          </a:prstGeom>
          <a:solidFill>
            <a:srgbClr val="B85042"/>
          </a:solidFill>
          <a:ln w="12700">
            <a:solidFill>
              <a:srgbClr val="B85042"/>
            </a:solidFill>
            <a:prstDash val="solid"/>
          </a:ln>
        </p:spPr>
        <p:txBody>
          <a:bodyPr/>
          <a:lstStyle/>
          <a:p>
            <a:endParaRPr lang="en-US"/>
          </a:p>
        </p:txBody>
      </p:sp>
      <p:sp>
        <p:nvSpPr>
          <p:cNvPr id="19" name="Text 17"/>
          <p:cNvSpPr/>
          <p:nvPr/>
        </p:nvSpPr>
        <p:spPr>
          <a:xfrm>
            <a:off x="640080" y="3566160"/>
            <a:ext cx="374904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3  EMBEDDING SPACE GEOMETRY</a:t>
            </a:r>
            <a:endParaRPr lang="en-US" sz="1000" dirty="0"/>
          </a:p>
        </p:txBody>
      </p:sp>
      <p:sp>
        <p:nvSpPr>
          <p:cNvPr id="20" name="Text 18"/>
          <p:cNvSpPr/>
          <p:nvPr/>
        </p:nvSpPr>
        <p:spPr>
          <a:xfrm>
            <a:off x="640080" y="3840480"/>
            <a:ext cx="374904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Cluster quality and class separability</a:t>
            </a:r>
            <a:endParaRPr lang="en-US" sz="1400" dirty="0"/>
          </a:p>
        </p:txBody>
      </p:sp>
      <p:sp>
        <p:nvSpPr>
          <p:cNvPr id="21" name="Text 19"/>
          <p:cNvSpPr/>
          <p:nvPr/>
        </p:nvSpPr>
        <p:spPr>
          <a:xfrm>
            <a:off x="640080" y="4251960"/>
            <a:ext cx="3749040" cy="457200"/>
          </a:xfrm>
          <a:prstGeom prst="rect">
            <a:avLst/>
          </a:prstGeom>
          <a:noFill/>
          <a:ln/>
        </p:spPr>
        <p:txBody>
          <a:bodyPr wrap="square" lIns="0" tIns="0" rIns="0" bIns="0" rtlCol="0" anchor="ctr"/>
          <a:lstStyle/>
          <a:p>
            <a:pPr marL="0" indent="0">
              <a:buNone/>
            </a:pPr>
            <a:r>
              <a:rPr lang="en-US" sz="1000" i="1" dirty="0">
                <a:solidFill>
                  <a:srgbClr val="454545"/>
                </a:solidFill>
                <a:latin typeface="Calibri" pitchFamily="34" charset="0"/>
                <a:ea typeface="Calibri" pitchFamily="34" charset="-122"/>
                <a:cs typeface="Calibri" pitchFamily="34" charset="-120"/>
              </a:rPr>
              <a:t>Silhouette (cosine + Euclidean + PCA-256) · t-SNE × 5 seeds · centroid distances</a:t>
            </a:r>
            <a:endParaRPr lang="en-US" sz="1000" dirty="0"/>
          </a:p>
        </p:txBody>
      </p:sp>
      <p:sp>
        <p:nvSpPr>
          <p:cNvPr id="22" name="Shape 20"/>
          <p:cNvSpPr/>
          <p:nvPr/>
        </p:nvSpPr>
        <p:spPr>
          <a:xfrm>
            <a:off x="4617720" y="3429000"/>
            <a:ext cx="4023360" cy="1325880"/>
          </a:xfrm>
          <a:prstGeom prst="rect">
            <a:avLst/>
          </a:prstGeom>
          <a:solidFill>
            <a:srgbClr val="FBF8F2"/>
          </a:solidFill>
          <a:ln w="6350">
            <a:solidFill>
              <a:srgbClr val="D8CFC0"/>
            </a:solidFill>
            <a:prstDash val="solid"/>
          </a:ln>
        </p:spPr>
        <p:txBody>
          <a:bodyPr/>
          <a:lstStyle/>
          <a:p>
            <a:endParaRPr lang="en-US"/>
          </a:p>
        </p:txBody>
      </p:sp>
      <p:sp>
        <p:nvSpPr>
          <p:cNvPr id="23" name="Shape 21"/>
          <p:cNvSpPr/>
          <p:nvPr/>
        </p:nvSpPr>
        <p:spPr>
          <a:xfrm>
            <a:off x="4617720" y="3429000"/>
            <a:ext cx="54864" cy="1325880"/>
          </a:xfrm>
          <a:prstGeom prst="rect">
            <a:avLst/>
          </a:prstGeom>
          <a:solidFill>
            <a:srgbClr val="B85042"/>
          </a:solidFill>
          <a:ln w="12700">
            <a:solidFill>
              <a:srgbClr val="B85042"/>
            </a:solidFill>
            <a:prstDash val="solid"/>
          </a:ln>
        </p:spPr>
        <p:txBody>
          <a:bodyPr/>
          <a:lstStyle/>
          <a:p>
            <a:endParaRPr lang="en-US"/>
          </a:p>
        </p:txBody>
      </p:sp>
      <p:sp>
        <p:nvSpPr>
          <p:cNvPr id="24" name="Text 22"/>
          <p:cNvSpPr/>
          <p:nvPr/>
        </p:nvSpPr>
        <p:spPr>
          <a:xfrm>
            <a:off x="4800600" y="3566160"/>
            <a:ext cx="374904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4  GRAD-CAM ATTENTION</a:t>
            </a:r>
            <a:endParaRPr lang="en-US" sz="1000" dirty="0"/>
          </a:p>
        </p:txBody>
      </p:sp>
      <p:sp>
        <p:nvSpPr>
          <p:cNvPr id="25" name="Text 23"/>
          <p:cNvSpPr/>
          <p:nvPr/>
        </p:nvSpPr>
        <p:spPr>
          <a:xfrm>
            <a:off x="4800600" y="3840480"/>
            <a:ext cx="374904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Where does each model look?</a:t>
            </a:r>
            <a:endParaRPr lang="en-US" sz="1400" dirty="0"/>
          </a:p>
        </p:txBody>
      </p:sp>
      <p:sp>
        <p:nvSpPr>
          <p:cNvPr id="26" name="Text 24"/>
          <p:cNvSpPr/>
          <p:nvPr/>
        </p:nvSpPr>
        <p:spPr>
          <a:xfrm>
            <a:off x="4800600" y="4251960"/>
            <a:ext cx="3749040" cy="457200"/>
          </a:xfrm>
          <a:prstGeom prst="rect">
            <a:avLst/>
          </a:prstGeom>
          <a:noFill/>
          <a:ln/>
        </p:spPr>
        <p:txBody>
          <a:bodyPr wrap="square" lIns="0" tIns="0" rIns="0" bIns="0" rtlCol="0" anchor="ctr"/>
          <a:lstStyle/>
          <a:p>
            <a:pPr marL="0" indent="0">
              <a:buNone/>
            </a:pPr>
            <a:r>
              <a:rPr lang="en-US" sz="1000" i="1" dirty="0">
                <a:solidFill>
                  <a:srgbClr val="454545"/>
                </a:solidFill>
                <a:latin typeface="Calibri" pitchFamily="34" charset="0"/>
                <a:ea typeface="Calibri" pitchFamily="34" charset="-122"/>
                <a:cs typeface="Calibri" pitchFamily="34" charset="-120"/>
              </a:rPr>
              <a:t>Grad-CAM on the final feature layer</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19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Learning rate HP robustness study</a:t>
            </a:r>
            <a:endParaRPr lang="en-US" sz="2600" dirty="0"/>
          </a:p>
        </p:txBody>
      </p:sp>
      <p:sp>
        <p:nvSpPr>
          <p:cNvPr id="6" name="Shape 4"/>
          <p:cNvSpPr/>
          <p:nvPr/>
        </p:nvSpPr>
        <p:spPr>
          <a:xfrm>
            <a:off x="457200" y="1554480"/>
            <a:ext cx="8229600" cy="502920"/>
          </a:xfrm>
          <a:prstGeom prst="rect">
            <a:avLst/>
          </a:prstGeom>
          <a:solidFill>
            <a:srgbClr val="F5F0E6"/>
          </a:solidFill>
          <a:ln w="12700">
            <a:solidFill>
              <a:srgbClr val="F5F0E6"/>
            </a:solidFill>
            <a:prstDash val="solid"/>
          </a:ln>
        </p:spPr>
        <p:txBody>
          <a:bodyPr/>
          <a:lstStyle/>
          <a:p>
            <a:endParaRPr lang="en-US"/>
          </a:p>
        </p:txBody>
      </p:sp>
      <p:sp>
        <p:nvSpPr>
          <p:cNvPr id="7" name="Text 5"/>
          <p:cNvSpPr/>
          <p:nvPr/>
        </p:nvSpPr>
        <p:spPr>
          <a:xfrm>
            <a:off x="640080" y="1554480"/>
            <a:ext cx="7863840" cy="502920"/>
          </a:xfrm>
          <a:prstGeom prst="rect">
            <a:avLst/>
          </a:prstGeom>
          <a:noFill/>
          <a:ln/>
        </p:spPr>
        <p:txBody>
          <a:bodyPr wrap="square" lIns="0" tIns="0" rIns="0" bIns="0" rtlCol="0" anchor="ctr"/>
          <a:lstStyle/>
          <a:p>
            <a:pPr marL="0" indent="0">
              <a:buNone/>
            </a:pPr>
            <a:r>
              <a:rPr lang="en-US" sz="1200" b="1" kern="0" spc="300" dirty="0">
                <a:solidFill>
                  <a:srgbClr val="B85042"/>
                </a:solidFill>
                <a:latin typeface="Calibri" pitchFamily="34" charset="0"/>
                <a:ea typeface="Calibri" pitchFamily="34" charset="-122"/>
                <a:cs typeface="Calibri" pitchFamily="34" charset="-120"/>
              </a:rPr>
              <a:t>Question   </a:t>
            </a:r>
            <a:r>
              <a:rPr lang="en-US" sz="1200" dirty="0">
                <a:solidFill>
                  <a:srgbClr val="2B2B2B"/>
                </a:solidFill>
                <a:latin typeface="Calibri" pitchFamily="34" charset="0"/>
                <a:ea typeface="Calibri" pitchFamily="34" charset="-122"/>
                <a:cs typeface="Calibri" pitchFamily="34" charset="-120"/>
              </a:rPr>
              <a:t>Does the baseline ranking ConvNeXt &gt; ViT &gt; ResNet50 hold when each model trains at </a:t>
            </a:r>
            <a:r>
              <a:rPr lang="en-US" sz="1200" i="1" dirty="0">
                <a:solidFill>
                  <a:srgbClr val="2B2B2B"/>
                </a:solidFill>
                <a:latin typeface="Calibri" pitchFamily="34" charset="0"/>
                <a:ea typeface="Calibri" pitchFamily="34" charset="-122"/>
                <a:cs typeface="Calibri" pitchFamily="34" charset="-120"/>
              </a:rPr>
              <a:t>its own </a:t>
            </a:r>
            <a:r>
              <a:rPr lang="en-US" sz="1200" dirty="0">
                <a:solidFill>
                  <a:srgbClr val="2B2B2B"/>
                </a:solidFill>
                <a:latin typeface="Calibri" pitchFamily="34" charset="0"/>
                <a:ea typeface="Calibri" pitchFamily="34" charset="-122"/>
                <a:cs typeface="Calibri" pitchFamily="34" charset="-120"/>
              </a:rPr>
              <a:t>best learning rate?</a:t>
            </a:r>
            <a:endParaRPr lang="en-US" sz="1200" dirty="0"/>
          </a:p>
        </p:txBody>
      </p:sp>
      <p:sp>
        <p:nvSpPr>
          <p:cNvPr id="8" name="Shape 6"/>
          <p:cNvSpPr/>
          <p:nvPr/>
        </p:nvSpPr>
        <p:spPr>
          <a:xfrm>
            <a:off x="457200" y="2331720"/>
            <a:ext cx="4023360" cy="1325880"/>
          </a:xfrm>
          <a:prstGeom prst="rect">
            <a:avLst/>
          </a:prstGeom>
          <a:solidFill>
            <a:srgbClr val="FBF8F2"/>
          </a:solidFill>
          <a:ln w="6350">
            <a:solidFill>
              <a:srgbClr val="D8CFC0"/>
            </a:solidFill>
            <a:prstDash val="solid"/>
          </a:ln>
        </p:spPr>
        <p:txBody>
          <a:bodyPr/>
          <a:lstStyle/>
          <a:p>
            <a:endParaRPr lang="en-US"/>
          </a:p>
        </p:txBody>
      </p:sp>
      <p:sp>
        <p:nvSpPr>
          <p:cNvPr id="9" name="Text 7"/>
          <p:cNvSpPr/>
          <p:nvPr/>
        </p:nvSpPr>
        <p:spPr>
          <a:xfrm>
            <a:off x="640080" y="2468880"/>
            <a:ext cx="365760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STAGE 1   ·   SENSITIVITY SWEEP</a:t>
            </a:r>
            <a:endParaRPr lang="en-US" sz="1000" dirty="0"/>
          </a:p>
        </p:txBody>
      </p:sp>
      <p:sp>
        <p:nvSpPr>
          <p:cNvPr id="10" name="Text 8"/>
          <p:cNvSpPr/>
          <p:nvPr/>
        </p:nvSpPr>
        <p:spPr>
          <a:xfrm>
            <a:off x="640080" y="2788920"/>
            <a:ext cx="3657600" cy="27432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5 epochs at each of 5 learning rates</a:t>
            </a:r>
            <a:endParaRPr lang="en-US" sz="1400" dirty="0"/>
          </a:p>
        </p:txBody>
      </p:sp>
      <p:sp>
        <p:nvSpPr>
          <p:cNvPr id="11" name="Text 9"/>
          <p:cNvSpPr/>
          <p:nvPr/>
        </p:nvSpPr>
        <p:spPr>
          <a:xfrm>
            <a:off x="640080" y="3108960"/>
            <a:ext cx="3657600" cy="2743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{1×10⁻⁵,  5×10⁻⁵,  1×10⁻⁴,  3×10⁻⁴,  1×10⁻³}</a:t>
            </a:r>
            <a:endParaRPr lang="en-US" sz="1100" dirty="0"/>
          </a:p>
        </p:txBody>
      </p:sp>
      <p:sp>
        <p:nvSpPr>
          <p:cNvPr id="12" name="Text 10"/>
          <p:cNvSpPr/>
          <p:nvPr/>
        </p:nvSpPr>
        <p:spPr>
          <a:xfrm>
            <a:off x="640080" y="3383280"/>
            <a:ext cx="3657600" cy="228600"/>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Identifies each architecture's optimal LR</a:t>
            </a:r>
            <a:endParaRPr lang="en-US" sz="1000" dirty="0"/>
          </a:p>
        </p:txBody>
      </p:sp>
      <p:sp>
        <p:nvSpPr>
          <p:cNvPr id="13" name="Text 11"/>
          <p:cNvSpPr/>
          <p:nvPr/>
        </p:nvSpPr>
        <p:spPr>
          <a:xfrm>
            <a:off x="4434840" y="2331720"/>
            <a:ext cx="274320" cy="1325880"/>
          </a:xfrm>
          <a:prstGeom prst="rect">
            <a:avLst/>
          </a:prstGeom>
          <a:noFill/>
          <a:ln/>
        </p:spPr>
        <p:txBody>
          <a:bodyPr wrap="square" lIns="0" tIns="0" rIns="0" bIns="0" rtlCol="0" anchor="ctr"/>
          <a:lstStyle/>
          <a:p>
            <a:pPr marL="0" indent="0" algn="ctr">
              <a:buNone/>
            </a:pPr>
            <a:r>
              <a:rPr lang="en-US" sz="2800" b="1" dirty="0">
                <a:solidFill>
                  <a:srgbClr val="B85042"/>
                </a:solidFill>
                <a:latin typeface="Georgia" pitchFamily="34" charset="0"/>
                <a:ea typeface="Georgia" pitchFamily="34" charset="-122"/>
                <a:cs typeface="Georgia" pitchFamily="34" charset="-120"/>
              </a:rPr>
              <a:t>→</a:t>
            </a:r>
            <a:endParaRPr lang="en-US" sz="2800" dirty="0"/>
          </a:p>
        </p:txBody>
      </p:sp>
      <p:sp>
        <p:nvSpPr>
          <p:cNvPr id="14" name="Shape 12"/>
          <p:cNvSpPr/>
          <p:nvPr/>
        </p:nvSpPr>
        <p:spPr>
          <a:xfrm>
            <a:off x="4663440" y="2331720"/>
            <a:ext cx="4023360" cy="1325880"/>
          </a:xfrm>
          <a:prstGeom prst="rect">
            <a:avLst/>
          </a:prstGeom>
          <a:solidFill>
            <a:srgbClr val="FBF8F2"/>
          </a:solidFill>
          <a:ln w="6350">
            <a:solidFill>
              <a:srgbClr val="D8CFC0"/>
            </a:solidFill>
            <a:prstDash val="solid"/>
          </a:ln>
        </p:spPr>
        <p:txBody>
          <a:bodyPr/>
          <a:lstStyle/>
          <a:p>
            <a:endParaRPr lang="en-US"/>
          </a:p>
        </p:txBody>
      </p:sp>
      <p:sp>
        <p:nvSpPr>
          <p:cNvPr id="15" name="Text 13"/>
          <p:cNvSpPr/>
          <p:nvPr/>
        </p:nvSpPr>
        <p:spPr>
          <a:xfrm>
            <a:off x="4846320" y="2468880"/>
            <a:ext cx="3657600" cy="274320"/>
          </a:xfrm>
          <a:prstGeom prst="rect">
            <a:avLst/>
          </a:prstGeom>
          <a:noFill/>
          <a:ln/>
        </p:spPr>
        <p:txBody>
          <a:bodyPr wrap="square" lIns="0" tIns="0" rIns="0" bIns="0" rtlCol="0" anchor="ctr"/>
          <a:lstStyle/>
          <a:p>
            <a:pPr marL="0" indent="0">
              <a:buNone/>
            </a:pPr>
            <a:r>
              <a:rPr lang="en-US" sz="1000" b="1" kern="0" spc="300" dirty="0">
                <a:solidFill>
                  <a:srgbClr val="5C7A55"/>
                </a:solidFill>
                <a:latin typeface="Calibri" pitchFamily="34" charset="0"/>
                <a:ea typeface="Calibri" pitchFamily="34" charset="-122"/>
                <a:cs typeface="Calibri" pitchFamily="34" charset="-120"/>
              </a:rPr>
              <a:t>STAGE 2   ·   FINAL EVALUATION</a:t>
            </a:r>
            <a:endParaRPr lang="en-US" sz="1000" dirty="0"/>
          </a:p>
        </p:txBody>
      </p:sp>
      <p:sp>
        <p:nvSpPr>
          <p:cNvPr id="16" name="Text 14"/>
          <p:cNvSpPr/>
          <p:nvPr/>
        </p:nvSpPr>
        <p:spPr>
          <a:xfrm>
            <a:off x="4846320" y="2788920"/>
            <a:ext cx="3657600" cy="27432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10 epochs at each model's best LR</a:t>
            </a:r>
            <a:endParaRPr lang="en-US" sz="1400" dirty="0"/>
          </a:p>
        </p:txBody>
      </p:sp>
      <p:sp>
        <p:nvSpPr>
          <p:cNvPr id="17" name="Text 15"/>
          <p:cNvSpPr/>
          <p:nvPr/>
        </p:nvSpPr>
        <p:spPr>
          <a:xfrm>
            <a:off x="4846320" y="3108960"/>
            <a:ext cx="3657600" cy="2743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Final test-set evaluation</a:t>
            </a:r>
            <a:endParaRPr lang="en-US" sz="1100" dirty="0"/>
          </a:p>
        </p:txBody>
      </p:sp>
      <p:sp>
        <p:nvSpPr>
          <p:cNvPr id="18" name="Text 16"/>
          <p:cNvSpPr/>
          <p:nvPr/>
        </p:nvSpPr>
        <p:spPr>
          <a:xfrm>
            <a:off x="4846320" y="3383280"/>
            <a:ext cx="3657600" cy="228600"/>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Top-1  ·  Top-5  ·  Macro-F1  ·  Weighted-F1</a:t>
            </a:r>
            <a:endParaRPr lang="en-US" sz="1000" dirty="0"/>
          </a:p>
        </p:txBody>
      </p:sp>
      <p:sp>
        <p:nvSpPr>
          <p:cNvPr id="19" name="Text 17"/>
          <p:cNvSpPr/>
          <p:nvPr/>
        </p:nvSpPr>
        <p:spPr>
          <a:xfrm>
            <a:off x="457200" y="3886200"/>
            <a:ext cx="8229600" cy="365760"/>
          </a:xfrm>
          <a:prstGeom prst="rect">
            <a:avLst/>
          </a:prstGeom>
          <a:noFill/>
          <a:ln/>
        </p:spPr>
        <p:txBody>
          <a:bodyPr wrap="square" lIns="0" tIns="0" rIns="0" bIns="0" rtlCol="0" anchor="ctr"/>
          <a:lstStyle/>
          <a:p>
            <a:pPr marL="0" indent="0" algn="ctr">
              <a:buNone/>
            </a:pPr>
            <a:r>
              <a:rPr lang="en-US" sz="1100" i="1" dirty="0">
                <a:solidFill>
                  <a:srgbClr val="888888"/>
                </a:solidFill>
                <a:latin typeface="Calibri" pitchFamily="34" charset="0"/>
                <a:ea typeface="Calibri" pitchFamily="34" charset="-122"/>
                <a:cs typeface="Calibri" pitchFamily="34" charset="-120"/>
              </a:rPr>
              <a:t>All other hyperparameters held constant — isolates the effect of learning rate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0878FC8-AE6A-42D8-39A9-0B0CC4B85B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9A99C53-3DFC-593F-E2F4-8429CF6C4D8B}"/>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E18ADDF4-0065-8420-4AAB-3C862A933D98}"/>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D63FBC73-2AE4-73FB-C9C3-AB76B6C49616}"/>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20/ 32</a:t>
            </a:r>
            <a:endParaRPr lang="en-US" sz="900" dirty="0"/>
          </a:p>
        </p:txBody>
      </p:sp>
      <p:sp>
        <p:nvSpPr>
          <p:cNvPr id="5" name="Text 3">
            <a:extLst>
              <a:ext uri="{FF2B5EF4-FFF2-40B4-BE49-F238E27FC236}">
                <a16:creationId xmlns:a16="http://schemas.microsoft.com/office/drawing/2014/main" id="{A432D361-5739-AF4D-019E-02A25D2753C7}"/>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 consistent performance hierarchy</a:t>
            </a:r>
            <a:endParaRPr lang="en-US" sz="2600" dirty="0"/>
          </a:p>
        </p:txBody>
      </p:sp>
      <p:sp>
        <p:nvSpPr>
          <p:cNvPr id="6" name="Text 4">
            <a:extLst>
              <a:ext uri="{FF2B5EF4-FFF2-40B4-BE49-F238E27FC236}">
                <a16:creationId xmlns:a16="http://schemas.microsoft.com/office/drawing/2014/main" id="{22C43686-F1C9-2A42-86B5-89A5E94DF987}"/>
              </a:ext>
            </a:extLst>
          </p:cNvPr>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SGFood-233 test set  —  each model trained at its optimal LR for 10 epochs</a:t>
            </a:r>
            <a:endParaRPr lang="en-US" sz="1100" dirty="0"/>
          </a:p>
        </p:txBody>
      </p:sp>
      <p:graphicFrame>
        <p:nvGraphicFramePr>
          <p:cNvPr id="16" name="Table 0">
            <a:extLst>
              <a:ext uri="{FF2B5EF4-FFF2-40B4-BE49-F238E27FC236}">
                <a16:creationId xmlns:a16="http://schemas.microsoft.com/office/drawing/2014/main" id="{45172E6B-A12C-36F8-983B-D1319D7D9AA5}"/>
              </a:ext>
            </a:extLst>
          </p:cNvPr>
          <p:cNvGraphicFramePr>
            <a:graphicFrameLocks noGrp="1"/>
          </p:cNvGraphicFramePr>
          <p:nvPr/>
        </p:nvGraphicFramePr>
        <p:xfrm>
          <a:off x="457200" y="1874520"/>
          <a:ext cx="8229600" cy="1536192"/>
        </p:xfrm>
        <a:graphic>
          <a:graphicData uri="http://schemas.openxmlformats.org/drawingml/2006/table">
            <a:tbl>
              <a:tblPr/>
              <a:tblGrid>
                <a:gridCol w="2194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TOP-1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TOP-5</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WEIGHTED-F1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97B3F"/>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78.68%</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93.48%</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0.7755</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0.7855</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5C7A55"/>
                          </a:solidFill>
                          <a:latin typeface="Calibri" pitchFamily="34" charset="0"/>
                          <a:ea typeface="Calibri" pitchFamily="34" charset="-122"/>
                          <a:cs typeface="Calibri" pitchFamily="34" charset="-120"/>
                        </a:rPr>
                        <a:t>ViT-Base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81.91%</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94.43%</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0.8072</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0.8175</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8B3A3A"/>
                          </a:solidFill>
                          <a:latin typeface="Calibri" pitchFamily="34" charset="0"/>
                          <a:ea typeface="Calibri" pitchFamily="34" charset="-122"/>
                          <a:cs typeface="Calibri" pitchFamily="34" charset="-120"/>
                        </a:rPr>
                        <a:t>ConvNeXt-Base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84.06%</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95.66%</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0.8304</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0.8396</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extLst>
                  <a:ext uri="{0D108BD9-81ED-4DB2-BD59-A6C34878D82A}">
                    <a16:rowId xmlns:a16="http://schemas.microsoft.com/office/drawing/2014/main" val="10003"/>
                  </a:ext>
                </a:extLst>
              </a:tr>
            </a:tbl>
          </a:graphicData>
        </a:graphic>
      </p:graphicFrame>
      <p:sp>
        <p:nvSpPr>
          <p:cNvPr id="8" name="Shape 5">
            <a:extLst>
              <a:ext uri="{FF2B5EF4-FFF2-40B4-BE49-F238E27FC236}">
                <a16:creationId xmlns:a16="http://schemas.microsoft.com/office/drawing/2014/main" id="{F157C4B5-1729-C64D-9984-A08F2F44B4E8}"/>
              </a:ext>
            </a:extLst>
          </p:cNvPr>
          <p:cNvSpPr/>
          <p:nvPr/>
        </p:nvSpPr>
        <p:spPr>
          <a:xfrm>
            <a:off x="457200" y="3794760"/>
            <a:ext cx="8229600" cy="914400"/>
          </a:xfrm>
          <a:prstGeom prst="rect">
            <a:avLst/>
          </a:prstGeom>
          <a:solidFill>
            <a:srgbClr val="2B2B2B"/>
          </a:solidFill>
          <a:ln w="12700">
            <a:solidFill>
              <a:srgbClr val="2B2B2B"/>
            </a:solidFill>
            <a:prstDash val="solid"/>
          </a:ln>
        </p:spPr>
        <p:txBody>
          <a:bodyPr/>
          <a:lstStyle/>
          <a:p>
            <a:endParaRPr lang="en-US"/>
          </a:p>
        </p:txBody>
      </p:sp>
      <p:sp>
        <p:nvSpPr>
          <p:cNvPr id="9" name="Text 6">
            <a:extLst>
              <a:ext uri="{FF2B5EF4-FFF2-40B4-BE49-F238E27FC236}">
                <a16:creationId xmlns:a16="http://schemas.microsoft.com/office/drawing/2014/main" id="{04BDEF01-54CF-D2AC-6846-46A7076A590C}"/>
              </a:ext>
            </a:extLst>
          </p:cNvPr>
          <p:cNvSpPr/>
          <p:nvPr/>
        </p:nvSpPr>
        <p:spPr>
          <a:xfrm>
            <a:off x="640080" y="3886200"/>
            <a:ext cx="7863840" cy="777240"/>
          </a:xfrm>
          <a:prstGeom prst="rect">
            <a:avLst/>
          </a:prstGeom>
          <a:noFill/>
          <a:ln/>
        </p:spPr>
        <p:txBody>
          <a:bodyPr wrap="square" lIns="0" tIns="0" rIns="0" bIns="0" rtlCol="0" anchor="t"/>
          <a:lstStyle/>
          <a:p>
            <a:pPr marL="0" indent="0">
              <a:spcAft>
                <a:spcPts val="400"/>
              </a:spcAft>
              <a:buNone/>
            </a:pPr>
            <a:r>
              <a:rPr lang="en-US" sz="1800" b="1" dirty="0">
                <a:solidFill>
                  <a:srgbClr val="B85042"/>
                </a:solidFill>
                <a:latin typeface="Georgia" pitchFamily="34" charset="0"/>
                <a:ea typeface="Georgia" pitchFamily="34" charset="-122"/>
                <a:cs typeface="Georgia" pitchFamily="34" charset="-120"/>
              </a:rPr>
              <a:t>ConvNeXt &gt; ViT &gt; ResNet50</a:t>
            </a:r>
            <a:endParaRPr lang="en-US" sz="1800" dirty="0"/>
          </a:p>
          <a:p>
            <a:pPr marL="0" indent="0">
              <a:spcAft>
                <a:spcPts val="400"/>
              </a:spcAft>
              <a:buNone/>
            </a:pPr>
            <a:r>
              <a:rPr lang="en-US" sz="1200" dirty="0">
                <a:solidFill>
                  <a:srgbClr val="FFFFFF"/>
                </a:solidFill>
                <a:latin typeface="Calibri" pitchFamily="34" charset="0"/>
                <a:ea typeface="Calibri" pitchFamily="34" charset="-122"/>
                <a:cs typeface="Calibri" pitchFamily="34" charset="-120"/>
              </a:rPr>
              <a:t>Consistent across all four metrics  ·  same ranking holds on Food-101 (secondary benchmark)</a:t>
            </a:r>
            <a:endParaRPr lang="en-US" sz="1800" dirty="0"/>
          </a:p>
        </p:txBody>
      </p:sp>
    </p:spTree>
    <p:extLst>
      <p:ext uri="{BB962C8B-B14F-4D97-AF65-F5344CB8AC3E}">
        <p14:creationId xmlns:p14="http://schemas.microsoft.com/office/powerpoint/2010/main" val="2653500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21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Shared confusions</a:t>
            </a:r>
            <a:endParaRPr lang="en-US" sz="2600" dirty="0"/>
          </a:p>
        </p:txBody>
      </p:sp>
      <p:pic>
        <p:nvPicPr>
          <p:cNvPr id="34" name="Picture 33">
            <a:extLst>
              <a:ext uri="{FF2B5EF4-FFF2-40B4-BE49-F238E27FC236}">
                <a16:creationId xmlns:a16="http://schemas.microsoft.com/office/drawing/2014/main" id="{2C150CB8-4515-F962-BBEC-0B7F9D8AB08C}"/>
              </a:ext>
            </a:extLst>
          </p:cNvPr>
          <p:cNvPicPr>
            <a:picLocks noChangeAspect="1"/>
          </p:cNvPicPr>
          <p:nvPr/>
        </p:nvPicPr>
        <p:blipFill>
          <a:blip r:embed="rId3"/>
          <a:stretch>
            <a:fillRect/>
          </a:stretch>
        </p:blipFill>
        <p:spPr>
          <a:xfrm>
            <a:off x="3813048" y="1081700"/>
            <a:ext cx="5010913" cy="3718900"/>
          </a:xfrm>
          <a:prstGeom prst="rect">
            <a:avLst/>
          </a:prstGeom>
        </p:spPr>
      </p:pic>
      <p:sp>
        <p:nvSpPr>
          <p:cNvPr id="37" name="Shape 5">
            <a:extLst>
              <a:ext uri="{FF2B5EF4-FFF2-40B4-BE49-F238E27FC236}">
                <a16:creationId xmlns:a16="http://schemas.microsoft.com/office/drawing/2014/main" id="{27CE3419-A76F-8A82-33A8-4148B5E678EB}"/>
              </a:ext>
            </a:extLst>
          </p:cNvPr>
          <p:cNvSpPr/>
          <p:nvPr/>
        </p:nvSpPr>
        <p:spPr>
          <a:xfrm>
            <a:off x="173736" y="1691640"/>
            <a:ext cx="3355848" cy="1325880"/>
          </a:xfrm>
          <a:prstGeom prst="rect">
            <a:avLst/>
          </a:prstGeom>
          <a:solidFill>
            <a:srgbClr val="FBF8F2"/>
          </a:solidFill>
          <a:ln w="6350">
            <a:solidFill>
              <a:srgbClr val="D8CFC0"/>
            </a:solidFill>
            <a:prstDash val="solid"/>
          </a:ln>
        </p:spPr>
        <p:txBody>
          <a:bodyPr/>
          <a:lstStyle/>
          <a:p>
            <a:endParaRPr lang="en-US"/>
          </a:p>
        </p:txBody>
      </p:sp>
      <p:sp>
        <p:nvSpPr>
          <p:cNvPr id="38" name="Shape 6">
            <a:extLst>
              <a:ext uri="{FF2B5EF4-FFF2-40B4-BE49-F238E27FC236}">
                <a16:creationId xmlns:a16="http://schemas.microsoft.com/office/drawing/2014/main" id="{6D1236E8-46ED-05E8-541F-1F5B528BDC3E}"/>
              </a:ext>
            </a:extLst>
          </p:cNvPr>
          <p:cNvSpPr/>
          <p:nvPr/>
        </p:nvSpPr>
        <p:spPr>
          <a:xfrm>
            <a:off x="173736" y="1691640"/>
            <a:ext cx="54864" cy="1325880"/>
          </a:xfrm>
          <a:prstGeom prst="rect">
            <a:avLst/>
          </a:prstGeom>
          <a:solidFill>
            <a:srgbClr val="B85042"/>
          </a:solidFill>
          <a:ln w="12700">
            <a:solidFill>
              <a:srgbClr val="B85042"/>
            </a:solidFill>
            <a:prstDash val="solid"/>
          </a:ln>
        </p:spPr>
        <p:txBody>
          <a:bodyPr/>
          <a:lstStyle/>
          <a:p>
            <a:endParaRPr lang="en-US"/>
          </a:p>
        </p:txBody>
      </p:sp>
      <p:sp>
        <p:nvSpPr>
          <p:cNvPr id="40" name="Text 8">
            <a:extLst>
              <a:ext uri="{FF2B5EF4-FFF2-40B4-BE49-F238E27FC236}">
                <a16:creationId xmlns:a16="http://schemas.microsoft.com/office/drawing/2014/main" id="{CA521753-28F3-1DAD-AB66-A7BE6EF974D6}"/>
              </a:ext>
            </a:extLst>
          </p:cNvPr>
          <p:cNvSpPr/>
          <p:nvPr/>
        </p:nvSpPr>
        <p:spPr>
          <a:xfrm>
            <a:off x="356616" y="1798320"/>
            <a:ext cx="374904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Architecture-sensitive confusions</a:t>
            </a:r>
            <a:endParaRPr lang="en-US" sz="1400" dirty="0"/>
          </a:p>
        </p:txBody>
      </p:sp>
      <p:sp>
        <p:nvSpPr>
          <p:cNvPr id="41" name="Text 9">
            <a:extLst>
              <a:ext uri="{FF2B5EF4-FFF2-40B4-BE49-F238E27FC236}">
                <a16:creationId xmlns:a16="http://schemas.microsoft.com/office/drawing/2014/main" id="{96434F8D-FADD-DA0A-D433-ECFD6097D5E0}"/>
              </a:ext>
            </a:extLst>
          </p:cNvPr>
          <p:cNvSpPr/>
          <p:nvPr/>
        </p:nvSpPr>
        <p:spPr>
          <a:xfrm>
            <a:off x="356616" y="2514600"/>
            <a:ext cx="3749040" cy="457200"/>
          </a:xfrm>
          <a:prstGeom prst="rect">
            <a:avLst/>
          </a:prstGeom>
          <a:noFill/>
          <a:ln/>
        </p:spPr>
        <p:txBody>
          <a:bodyPr wrap="square" lIns="0" tIns="0" rIns="0" bIns="0" rtlCol="0" anchor="ctr"/>
          <a:lstStyle/>
          <a:p>
            <a:pPr marL="0" indent="0">
              <a:buNone/>
            </a:pPr>
            <a:r>
              <a:rPr lang="en-US" sz="1000" i="1" dirty="0">
                <a:solidFill>
                  <a:srgbClr val="454545"/>
                </a:solidFill>
                <a:latin typeface="Calibri" pitchFamily="34" charset="0"/>
                <a:ea typeface="Calibri" pitchFamily="34" charset="-122"/>
                <a:cs typeface="Calibri" pitchFamily="34" charset="-120"/>
              </a:rPr>
              <a:t>233×233 confusion matrix; shared &amp; unique pairs</a:t>
            </a:r>
            <a:endParaRPr lang="en-US" sz="1000" dirty="0"/>
          </a:p>
        </p:txBody>
      </p:sp>
      <p:sp>
        <p:nvSpPr>
          <p:cNvPr id="43" name="Shape 15">
            <a:extLst>
              <a:ext uri="{FF2B5EF4-FFF2-40B4-BE49-F238E27FC236}">
                <a16:creationId xmlns:a16="http://schemas.microsoft.com/office/drawing/2014/main" id="{A340DFC7-185B-99B7-DA99-C42F8A52E960}"/>
              </a:ext>
            </a:extLst>
          </p:cNvPr>
          <p:cNvSpPr/>
          <p:nvPr/>
        </p:nvSpPr>
        <p:spPr>
          <a:xfrm>
            <a:off x="173736" y="3154680"/>
            <a:ext cx="3355848" cy="1325880"/>
          </a:xfrm>
          <a:prstGeom prst="rect">
            <a:avLst/>
          </a:prstGeom>
          <a:solidFill>
            <a:srgbClr val="FBF8F2"/>
          </a:solidFill>
          <a:ln w="6350">
            <a:solidFill>
              <a:srgbClr val="D8CFC0"/>
            </a:solidFill>
            <a:prstDash val="solid"/>
          </a:ln>
        </p:spPr>
        <p:txBody>
          <a:bodyPr/>
          <a:lstStyle/>
          <a:p>
            <a:endParaRPr lang="en-US"/>
          </a:p>
        </p:txBody>
      </p:sp>
      <p:sp>
        <p:nvSpPr>
          <p:cNvPr id="44" name="Shape 16">
            <a:extLst>
              <a:ext uri="{FF2B5EF4-FFF2-40B4-BE49-F238E27FC236}">
                <a16:creationId xmlns:a16="http://schemas.microsoft.com/office/drawing/2014/main" id="{412A3B39-B02F-A143-8978-2F7BF0B33A8B}"/>
              </a:ext>
            </a:extLst>
          </p:cNvPr>
          <p:cNvSpPr/>
          <p:nvPr/>
        </p:nvSpPr>
        <p:spPr>
          <a:xfrm>
            <a:off x="173736" y="3154680"/>
            <a:ext cx="54864" cy="1325880"/>
          </a:xfrm>
          <a:prstGeom prst="rect">
            <a:avLst/>
          </a:prstGeom>
          <a:solidFill>
            <a:srgbClr val="B85042"/>
          </a:solidFill>
          <a:ln w="12700">
            <a:solidFill>
              <a:srgbClr val="B85042"/>
            </a:solidFill>
            <a:prstDash val="solid"/>
          </a:ln>
        </p:spPr>
        <p:txBody>
          <a:bodyPr/>
          <a:lstStyle/>
          <a:p>
            <a:endParaRPr lang="en-US"/>
          </a:p>
        </p:txBody>
      </p:sp>
      <p:sp>
        <p:nvSpPr>
          <p:cNvPr id="46" name="Text 18">
            <a:extLst>
              <a:ext uri="{FF2B5EF4-FFF2-40B4-BE49-F238E27FC236}">
                <a16:creationId xmlns:a16="http://schemas.microsoft.com/office/drawing/2014/main" id="{C3977EE3-91F3-6C0F-A8B3-A169FB54E234}"/>
              </a:ext>
            </a:extLst>
          </p:cNvPr>
          <p:cNvSpPr/>
          <p:nvPr/>
        </p:nvSpPr>
        <p:spPr>
          <a:xfrm>
            <a:off x="356616" y="3291840"/>
            <a:ext cx="3749040" cy="365760"/>
          </a:xfrm>
          <a:prstGeom prst="rect">
            <a:avLst/>
          </a:prstGeom>
          <a:noFill/>
          <a:ln/>
        </p:spPr>
        <p:txBody>
          <a:bodyPr wrap="square" lIns="0" tIns="0" rIns="0" bIns="0" rtlCol="0" anchor="ctr"/>
          <a:lstStyle/>
          <a:p>
            <a:r>
              <a:rPr lang="en-US" sz="1400" b="1" dirty="0">
                <a:solidFill>
                  <a:srgbClr val="2B2B2B"/>
                </a:solidFill>
                <a:latin typeface="Georgia" pitchFamily="34" charset="0"/>
                <a:ea typeface="Georgia" pitchFamily="34" charset="-122"/>
                <a:cs typeface="Georgia" pitchFamily="34" charset="-120"/>
              </a:rPr>
              <a:t>Architecture-invariant confusions</a:t>
            </a:r>
            <a:endParaRPr lang="en-US" sz="1400" dirty="0"/>
          </a:p>
        </p:txBody>
      </p:sp>
      <p:sp>
        <p:nvSpPr>
          <p:cNvPr id="47" name="Text 19">
            <a:extLst>
              <a:ext uri="{FF2B5EF4-FFF2-40B4-BE49-F238E27FC236}">
                <a16:creationId xmlns:a16="http://schemas.microsoft.com/office/drawing/2014/main" id="{030CF37B-AC55-DB29-328D-283C4712655F}"/>
              </a:ext>
            </a:extLst>
          </p:cNvPr>
          <p:cNvSpPr/>
          <p:nvPr/>
        </p:nvSpPr>
        <p:spPr>
          <a:xfrm>
            <a:off x="356616" y="3977640"/>
            <a:ext cx="3035807" cy="457200"/>
          </a:xfrm>
          <a:prstGeom prst="rect">
            <a:avLst/>
          </a:prstGeom>
          <a:noFill/>
          <a:ln/>
        </p:spPr>
        <p:txBody>
          <a:bodyPr wrap="square" lIns="0" tIns="0" rIns="0" bIns="0" rtlCol="0" anchor="ctr"/>
          <a:lstStyle/>
          <a:p>
            <a:pPr marL="0" indent="0">
              <a:buNone/>
            </a:pPr>
            <a:r>
              <a:rPr lang="en-US" sz="1000" i="1" dirty="0">
                <a:solidFill>
                  <a:srgbClr val="454545"/>
                </a:solidFill>
                <a:latin typeface="Calibri" pitchFamily="34" charset="0"/>
                <a:ea typeface="Calibri" pitchFamily="34" charset="-122"/>
                <a:cs typeface="Calibri" pitchFamily="34" charset="-120"/>
              </a:rPr>
              <a:t>Silhouette (cosine + Euclidean + PCA-256) · t-SNE × 5 seeds · centroid distances</a:t>
            </a:r>
            <a:endParaRPr lang="en-US" sz="1000" dirty="0"/>
          </a:p>
        </p:txBody>
      </p:sp>
      <p:sp>
        <p:nvSpPr>
          <p:cNvPr id="49" name="Left Brace 48">
            <a:extLst>
              <a:ext uri="{FF2B5EF4-FFF2-40B4-BE49-F238E27FC236}">
                <a16:creationId xmlns:a16="http://schemas.microsoft.com/office/drawing/2014/main" id="{42CF389D-F292-ED35-EE7E-FB2BFFC5B6B0}"/>
              </a:ext>
            </a:extLst>
          </p:cNvPr>
          <p:cNvSpPr/>
          <p:nvPr/>
        </p:nvSpPr>
        <p:spPr>
          <a:xfrm>
            <a:off x="3555111" y="1450657"/>
            <a:ext cx="283464" cy="2127885"/>
          </a:xfrm>
          <a:prstGeom prst="leftBrace">
            <a:avLst>
              <a:gd name="adj1" fmla="val 8333"/>
              <a:gd name="adj2" fmla="val 45236"/>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Left Brace 49">
            <a:extLst>
              <a:ext uri="{FF2B5EF4-FFF2-40B4-BE49-F238E27FC236}">
                <a16:creationId xmlns:a16="http://schemas.microsoft.com/office/drawing/2014/main" id="{B78E4FF4-053E-1CCF-8972-BB80963EE7E9}"/>
              </a:ext>
            </a:extLst>
          </p:cNvPr>
          <p:cNvSpPr/>
          <p:nvPr/>
        </p:nvSpPr>
        <p:spPr>
          <a:xfrm>
            <a:off x="3555111" y="3578542"/>
            <a:ext cx="294132" cy="893423"/>
          </a:xfrm>
          <a:prstGeom prst="leftBrace">
            <a:avLst>
              <a:gd name="adj1" fmla="val 8333"/>
              <a:gd name="adj2" fmla="val 273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3EE0B6-2D62-7294-A2EA-B37A87617F7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304D77-E511-B501-9D65-09D3DA02C39F}"/>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1441EE04-9462-B8CA-FA3C-E25DD700D630}"/>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1FE4C2D6-3684-6E2F-578C-25594A8CDC30}"/>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22/ 32</a:t>
            </a:r>
            <a:endParaRPr lang="en-US" sz="900" dirty="0"/>
          </a:p>
        </p:txBody>
      </p:sp>
      <p:sp>
        <p:nvSpPr>
          <p:cNvPr id="5" name="Text 3">
            <a:extLst>
              <a:ext uri="{FF2B5EF4-FFF2-40B4-BE49-F238E27FC236}">
                <a16:creationId xmlns:a16="http://schemas.microsoft.com/office/drawing/2014/main" id="{A45BF4AE-A76F-B1FE-E357-6A6B7CA593FB}"/>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Architecture Invariant Confusions</a:t>
            </a:r>
            <a:endParaRPr lang="en-US" sz="2600" dirty="0"/>
          </a:p>
        </p:txBody>
      </p:sp>
      <p:pic>
        <p:nvPicPr>
          <p:cNvPr id="7" name="Picture 6">
            <a:extLst>
              <a:ext uri="{FF2B5EF4-FFF2-40B4-BE49-F238E27FC236}">
                <a16:creationId xmlns:a16="http://schemas.microsoft.com/office/drawing/2014/main" id="{27459BEB-0B7C-9E2B-4FC1-B26AC16427A2}"/>
              </a:ext>
            </a:extLst>
          </p:cNvPr>
          <p:cNvPicPr>
            <a:picLocks noChangeAspect="1"/>
          </p:cNvPicPr>
          <p:nvPr/>
        </p:nvPicPr>
        <p:blipFill>
          <a:blip r:embed="rId3"/>
          <a:stretch>
            <a:fillRect/>
          </a:stretch>
        </p:blipFill>
        <p:spPr>
          <a:xfrm>
            <a:off x="867408" y="2720341"/>
            <a:ext cx="7409180" cy="1796006"/>
          </a:xfrm>
          <a:prstGeom prst="rect">
            <a:avLst/>
          </a:prstGeom>
        </p:spPr>
      </p:pic>
      <p:pic>
        <p:nvPicPr>
          <p:cNvPr id="9" name="Picture 8">
            <a:extLst>
              <a:ext uri="{FF2B5EF4-FFF2-40B4-BE49-F238E27FC236}">
                <a16:creationId xmlns:a16="http://schemas.microsoft.com/office/drawing/2014/main" id="{88512FFA-9DBA-376F-370D-364DC55E894B}"/>
              </a:ext>
            </a:extLst>
          </p:cNvPr>
          <p:cNvPicPr>
            <a:picLocks noChangeAspect="1"/>
          </p:cNvPicPr>
          <p:nvPr/>
        </p:nvPicPr>
        <p:blipFill>
          <a:blip r:embed="rId4"/>
          <a:stretch>
            <a:fillRect/>
          </a:stretch>
        </p:blipFill>
        <p:spPr>
          <a:xfrm>
            <a:off x="2260620" y="1593248"/>
            <a:ext cx="4622755" cy="829912"/>
          </a:xfrm>
          <a:prstGeom prst="rect">
            <a:avLst/>
          </a:prstGeom>
        </p:spPr>
      </p:pic>
    </p:spTree>
    <p:extLst>
      <p:ext uri="{BB962C8B-B14F-4D97-AF65-F5344CB8AC3E}">
        <p14:creationId xmlns:p14="http://schemas.microsoft.com/office/powerpoint/2010/main" val="775118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6BEAB9-73C2-B7BF-8FB0-A8FCC4EC904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2094D2-81D7-6822-3C28-1E2029C86EAD}"/>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23B570EC-3869-E2B0-318E-59ABE0A819D2}"/>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D1D5CFC8-570A-B9AF-55C7-0754FFE1C89B}"/>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23 / 32</a:t>
            </a:r>
            <a:endParaRPr lang="en-US" sz="900" dirty="0"/>
          </a:p>
        </p:txBody>
      </p:sp>
      <p:sp>
        <p:nvSpPr>
          <p:cNvPr id="5" name="Text 3">
            <a:extLst>
              <a:ext uri="{FF2B5EF4-FFF2-40B4-BE49-F238E27FC236}">
                <a16:creationId xmlns:a16="http://schemas.microsoft.com/office/drawing/2014/main" id="{4CFA5C70-2564-162F-76AF-8C871B00F59F}"/>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Architectural unique failure signatures</a:t>
            </a:r>
            <a:endParaRPr lang="en-US" sz="2600" dirty="0"/>
          </a:p>
        </p:txBody>
      </p:sp>
      <p:sp>
        <p:nvSpPr>
          <p:cNvPr id="7" name="Shape 5">
            <a:extLst>
              <a:ext uri="{FF2B5EF4-FFF2-40B4-BE49-F238E27FC236}">
                <a16:creationId xmlns:a16="http://schemas.microsoft.com/office/drawing/2014/main" id="{63C62174-3F32-650E-0DFF-6430604FF85A}"/>
              </a:ext>
            </a:extLst>
          </p:cNvPr>
          <p:cNvSpPr/>
          <p:nvPr/>
        </p:nvSpPr>
        <p:spPr>
          <a:xfrm>
            <a:off x="457200"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8" name="Shape 6">
            <a:extLst>
              <a:ext uri="{FF2B5EF4-FFF2-40B4-BE49-F238E27FC236}">
                <a16:creationId xmlns:a16="http://schemas.microsoft.com/office/drawing/2014/main" id="{E47F8CB9-4861-1991-9B2D-9B0784E61DD3}"/>
              </a:ext>
            </a:extLst>
          </p:cNvPr>
          <p:cNvSpPr/>
          <p:nvPr/>
        </p:nvSpPr>
        <p:spPr>
          <a:xfrm>
            <a:off x="457200" y="1920240"/>
            <a:ext cx="2697480" cy="91440"/>
          </a:xfrm>
          <a:prstGeom prst="rect">
            <a:avLst/>
          </a:prstGeom>
          <a:solidFill>
            <a:srgbClr val="C97B3F"/>
          </a:solidFill>
          <a:ln w="12700">
            <a:solidFill>
              <a:srgbClr val="C97B3F"/>
            </a:solidFill>
            <a:prstDash val="solid"/>
          </a:ln>
        </p:spPr>
        <p:txBody>
          <a:bodyPr/>
          <a:lstStyle/>
          <a:p>
            <a:endParaRPr lang="en-US"/>
          </a:p>
        </p:txBody>
      </p:sp>
      <p:sp>
        <p:nvSpPr>
          <p:cNvPr id="9" name="Text 7">
            <a:extLst>
              <a:ext uri="{FF2B5EF4-FFF2-40B4-BE49-F238E27FC236}">
                <a16:creationId xmlns:a16="http://schemas.microsoft.com/office/drawing/2014/main" id="{93B01E36-8EA3-A455-2107-C8C7DB68CC2B}"/>
              </a:ext>
            </a:extLst>
          </p:cNvPr>
          <p:cNvSpPr/>
          <p:nvPr/>
        </p:nvSpPr>
        <p:spPr>
          <a:xfrm>
            <a:off x="640080" y="2103120"/>
            <a:ext cx="2331720" cy="274320"/>
          </a:xfrm>
          <a:prstGeom prst="rect">
            <a:avLst/>
          </a:prstGeom>
          <a:noFill/>
          <a:ln/>
        </p:spPr>
        <p:txBody>
          <a:bodyPr wrap="square" lIns="0" tIns="0" rIns="0" bIns="0" rtlCol="0" anchor="ctr"/>
          <a:lstStyle/>
          <a:p>
            <a:pPr marL="0" indent="0">
              <a:buNone/>
            </a:pPr>
            <a:r>
              <a:rPr lang="en-US" sz="1000" b="1" kern="0" spc="400" dirty="0">
                <a:solidFill>
                  <a:srgbClr val="C97B3F"/>
                </a:solidFill>
                <a:latin typeface="Calibri" pitchFamily="34" charset="0"/>
                <a:ea typeface="Calibri" pitchFamily="34" charset="-122"/>
                <a:cs typeface="Calibri" pitchFamily="34" charset="-120"/>
              </a:rPr>
              <a:t>RESNET50</a:t>
            </a:r>
            <a:endParaRPr lang="en-US" sz="1000" dirty="0"/>
          </a:p>
        </p:txBody>
      </p:sp>
      <p:sp>
        <p:nvSpPr>
          <p:cNvPr id="10" name="Text 8">
            <a:extLst>
              <a:ext uri="{FF2B5EF4-FFF2-40B4-BE49-F238E27FC236}">
                <a16:creationId xmlns:a16="http://schemas.microsoft.com/office/drawing/2014/main" id="{BEEA5EC0-0F10-0284-7AE1-C450FAD191B1}"/>
              </a:ext>
            </a:extLst>
          </p:cNvPr>
          <p:cNvSpPr/>
          <p:nvPr/>
        </p:nvSpPr>
        <p:spPr>
          <a:xfrm>
            <a:off x="640080"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Local Texture Trap</a:t>
            </a:r>
            <a:endParaRPr lang="en-US" sz="1600" dirty="0"/>
          </a:p>
        </p:txBody>
      </p:sp>
      <p:sp>
        <p:nvSpPr>
          <p:cNvPr id="11" name="Text 9">
            <a:extLst>
              <a:ext uri="{FF2B5EF4-FFF2-40B4-BE49-F238E27FC236}">
                <a16:creationId xmlns:a16="http://schemas.microsoft.com/office/drawing/2014/main" id="{6132DED8-226A-5E2C-CD9E-CD4B1410E197}"/>
              </a:ext>
            </a:extLst>
          </p:cNvPr>
          <p:cNvSpPr/>
          <p:nvPr/>
        </p:nvSpPr>
        <p:spPr>
          <a:xfrm>
            <a:off x="640080"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12" name="Text 10">
            <a:extLst>
              <a:ext uri="{FF2B5EF4-FFF2-40B4-BE49-F238E27FC236}">
                <a16:creationId xmlns:a16="http://schemas.microsoft.com/office/drawing/2014/main" id="{D4E56F98-E7C3-2358-5954-6B229D9D8AD4}"/>
              </a:ext>
            </a:extLst>
          </p:cNvPr>
          <p:cNvSpPr/>
          <p:nvPr/>
        </p:nvSpPr>
        <p:spPr>
          <a:xfrm>
            <a:off x="640080"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Har Cheong Gai → Fried Chicken</a:t>
            </a:r>
            <a:endParaRPr lang="en-US" sz="1100" dirty="0"/>
          </a:p>
        </p:txBody>
      </p:sp>
      <p:sp>
        <p:nvSpPr>
          <p:cNvPr id="13" name="Text 11">
            <a:extLst>
              <a:ext uri="{FF2B5EF4-FFF2-40B4-BE49-F238E27FC236}">
                <a16:creationId xmlns:a16="http://schemas.microsoft.com/office/drawing/2014/main" id="{35D33253-44C5-43CB-A086-CC9041374D89}"/>
              </a:ext>
            </a:extLst>
          </p:cNvPr>
          <p:cNvSpPr/>
          <p:nvPr/>
        </p:nvSpPr>
        <p:spPr>
          <a:xfrm>
            <a:off x="640080"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14" name="Text 12">
            <a:extLst>
              <a:ext uri="{FF2B5EF4-FFF2-40B4-BE49-F238E27FC236}">
                <a16:creationId xmlns:a16="http://schemas.microsoft.com/office/drawing/2014/main" id="{6559C040-5AA9-6E5C-C51D-E011E496FE68}"/>
              </a:ext>
            </a:extLst>
          </p:cNvPr>
          <p:cNvSpPr/>
          <p:nvPr/>
        </p:nvSpPr>
        <p:spPr>
          <a:xfrm>
            <a:off x="640080"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3×3 kernels + decaying effective receptive field → predictions dominated by local texture patches</a:t>
            </a:r>
            <a:endParaRPr lang="en-US" sz="900" dirty="0"/>
          </a:p>
        </p:txBody>
      </p:sp>
      <p:pic>
        <p:nvPicPr>
          <p:cNvPr id="34" name="Picture 33">
            <a:extLst>
              <a:ext uri="{FF2B5EF4-FFF2-40B4-BE49-F238E27FC236}">
                <a16:creationId xmlns:a16="http://schemas.microsoft.com/office/drawing/2014/main" id="{04429D21-0603-FC42-5736-FE4D337A5F43}"/>
              </a:ext>
            </a:extLst>
          </p:cNvPr>
          <p:cNvPicPr>
            <a:picLocks noChangeAspect="1"/>
          </p:cNvPicPr>
          <p:nvPr/>
        </p:nvPicPr>
        <p:blipFill>
          <a:blip r:embed="rId3"/>
          <a:stretch>
            <a:fillRect/>
          </a:stretch>
        </p:blipFill>
        <p:spPr>
          <a:xfrm>
            <a:off x="3966039" y="1436564"/>
            <a:ext cx="4046566" cy="1809556"/>
          </a:xfrm>
          <a:prstGeom prst="rect">
            <a:avLst/>
          </a:prstGeom>
        </p:spPr>
      </p:pic>
      <p:pic>
        <p:nvPicPr>
          <p:cNvPr id="16" name="Picture 15">
            <a:extLst>
              <a:ext uri="{FF2B5EF4-FFF2-40B4-BE49-F238E27FC236}">
                <a16:creationId xmlns:a16="http://schemas.microsoft.com/office/drawing/2014/main" id="{79AE3CA1-2D2C-8F4E-EC44-F0A021614F48}"/>
              </a:ext>
            </a:extLst>
          </p:cNvPr>
          <p:cNvPicPr>
            <a:picLocks noChangeAspect="1"/>
          </p:cNvPicPr>
          <p:nvPr/>
        </p:nvPicPr>
        <p:blipFill>
          <a:blip r:embed="rId4"/>
          <a:stretch>
            <a:fillRect/>
          </a:stretch>
        </p:blipFill>
        <p:spPr>
          <a:xfrm>
            <a:off x="4067125" y="3383145"/>
            <a:ext cx="4115157" cy="1554615"/>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8547E7C1-3221-0AB7-0E44-D5BADF87ED85}"/>
                  </a:ext>
                </a:extLst>
              </p14:cNvPr>
              <p14:cNvContentPartPr/>
              <p14:nvPr/>
            </p14:nvContentPartPr>
            <p14:xfrm>
              <a:off x="6295890" y="4042395"/>
              <a:ext cx="307800" cy="34560"/>
            </p14:xfrm>
          </p:contentPart>
        </mc:Choice>
        <mc:Fallback>
          <p:pic>
            <p:nvPicPr>
              <p:cNvPr id="6" name="Ink 5">
                <a:extLst>
                  <a:ext uri="{FF2B5EF4-FFF2-40B4-BE49-F238E27FC236}">
                    <a16:creationId xmlns:a16="http://schemas.microsoft.com/office/drawing/2014/main" id="{8547E7C1-3221-0AB7-0E44-D5BADF87ED85}"/>
                  </a:ext>
                </a:extLst>
              </p:cNvPr>
              <p:cNvPicPr/>
              <p:nvPr/>
            </p:nvPicPr>
            <p:blipFill>
              <a:blip r:embed="rId6"/>
              <a:stretch>
                <a:fillRect/>
              </a:stretch>
            </p:blipFill>
            <p:spPr>
              <a:xfrm>
                <a:off x="6242250" y="3934395"/>
                <a:ext cx="415440" cy="250200"/>
              </a:xfrm>
              <a:prstGeom prst="rect">
                <a:avLst/>
              </a:prstGeom>
            </p:spPr>
          </p:pic>
        </mc:Fallback>
      </mc:AlternateContent>
    </p:spTree>
    <p:extLst>
      <p:ext uri="{BB962C8B-B14F-4D97-AF65-F5344CB8AC3E}">
        <p14:creationId xmlns:p14="http://schemas.microsoft.com/office/powerpoint/2010/main" val="282967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24/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Grad-CAM evidence</a:t>
            </a:r>
            <a:endParaRPr lang="en-US" sz="2600" dirty="0"/>
          </a:p>
        </p:txBody>
      </p:sp>
      <p:sp>
        <p:nvSpPr>
          <p:cNvPr id="9" name="Text 7"/>
          <p:cNvSpPr/>
          <p:nvPr/>
        </p:nvSpPr>
        <p:spPr>
          <a:xfrm>
            <a:off x="640080" y="1409700"/>
            <a:ext cx="2331720" cy="274320"/>
          </a:xfrm>
          <a:prstGeom prst="rect">
            <a:avLst/>
          </a:prstGeom>
          <a:noFill/>
          <a:ln/>
        </p:spPr>
        <p:txBody>
          <a:bodyPr wrap="square" lIns="0" tIns="0" rIns="0" bIns="0" rtlCol="0" anchor="ctr"/>
          <a:lstStyle/>
          <a:p>
            <a:pPr marL="0" indent="0">
              <a:buNone/>
            </a:pPr>
            <a:r>
              <a:rPr lang="en-US" sz="1000" b="1" kern="0" spc="400" dirty="0">
                <a:solidFill>
                  <a:srgbClr val="C97B3F"/>
                </a:solidFill>
                <a:latin typeface="Calibri" pitchFamily="34" charset="0"/>
                <a:ea typeface="Calibri" pitchFamily="34" charset="-122"/>
                <a:cs typeface="Calibri" pitchFamily="34" charset="-120"/>
              </a:rPr>
              <a:t>RESNET50</a:t>
            </a:r>
            <a:endParaRPr lang="en-US" sz="1000" dirty="0"/>
          </a:p>
        </p:txBody>
      </p:sp>
      <p:sp>
        <p:nvSpPr>
          <p:cNvPr id="10" name="Text 8"/>
          <p:cNvSpPr/>
          <p:nvPr/>
        </p:nvSpPr>
        <p:spPr>
          <a:xfrm>
            <a:off x="640080" y="1748028"/>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ATTENTION</a:t>
            </a:r>
            <a:endParaRPr lang="en-US" sz="800" dirty="0"/>
          </a:p>
        </p:txBody>
      </p:sp>
      <p:sp>
        <p:nvSpPr>
          <p:cNvPr id="11" name="Text 9"/>
          <p:cNvSpPr/>
          <p:nvPr/>
        </p:nvSpPr>
        <p:spPr>
          <a:xfrm>
            <a:off x="640080" y="1958340"/>
            <a:ext cx="2331720" cy="59436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Fragmented hotspots</a:t>
            </a:r>
            <a:endParaRPr lang="en-US" sz="1200" dirty="0"/>
          </a:p>
          <a:p>
            <a:pPr marL="0" indent="0">
              <a:buNone/>
            </a:pPr>
            <a:r>
              <a:rPr lang="en-US" sz="1200" i="1" dirty="0">
                <a:solidFill>
                  <a:srgbClr val="2B2B2B"/>
                </a:solidFill>
                <a:latin typeface="Calibri" pitchFamily="34" charset="0"/>
                <a:ea typeface="Calibri" pitchFamily="34" charset="-122"/>
                <a:cs typeface="Calibri" pitchFamily="34" charset="-120"/>
              </a:rPr>
              <a:t>on shared fried-texture regions</a:t>
            </a:r>
            <a:endParaRPr lang="en-US" sz="1200" dirty="0"/>
          </a:p>
        </p:txBody>
      </p:sp>
      <p:sp>
        <p:nvSpPr>
          <p:cNvPr id="12" name="Text 10"/>
          <p:cNvSpPr/>
          <p:nvPr/>
        </p:nvSpPr>
        <p:spPr>
          <a:xfrm>
            <a:off x="2971800" y="1665732"/>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OUTCOME</a:t>
            </a:r>
            <a:endParaRPr lang="en-US" sz="800" dirty="0"/>
          </a:p>
        </p:txBody>
      </p:sp>
      <p:sp>
        <p:nvSpPr>
          <p:cNvPr id="13" name="Text 11"/>
          <p:cNvSpPr/>
          <p:nvPr/>
        </p:nvSpPr>
        <p:spPr>
          <a:xfrm>
            <a:off x="2971800" y="1866900"/>
            <a:ext cx="2331720" cy="411480"/>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Misclassified as Ngoh Hiang</a:t>
            </a:r>
            <a:endParaRPr lang="en-US" sz="1100" dirty="0"/>
          </a:p>
        </p:txBody>
      </p:sp>
      <p:sp>
        <p:nvSpPr>
          <p:cNvPr id="14" name="Shape 12"/>
          <p:cNvSpPr/>
          <p:nvPr/>
        </p:nvSpPr>
        <p:spPr>
          <a:xfrm>
            <a:off x="2971800" y="2260092"/>
            <a:ext cx="1097280" cy="201168"/>
          </a:xfrm>
          <a:prstGeom prst="rect">
            <a:avLst/>
          </a:prstGeom>
          <a:solidFill>
            <a:srgbClr val="B85042"/>
          </a:solidFill>
          <a:ln w="12700">
            <a:solidFill>
              <a:srgbClr val="B85042"/>
            </a:solidFill>
            <a:prstDash val="solid"/>
          </a:ln>
        </p:spPr>
        <p:txBody>
          <a:bodyPr/>
          <a:lstStyle/>
          <a:p>
            <a:endParaRPr lang="en-US"/>
          </a:p>
        </p:txBody>
      </p:sp>
      <p:sp>
        <p:nvSpPr>
          <p:cNvPr id="15" name="Text 13"/>
          <p:cNvSpPr/>
          <p:nvPr/>
        </p:nvSpPr>
        <p:spPr>
          <a:xfrm>
            <a:off x="2971800" y="2260092"/>
            <a:ext cx="1097280" cy="20116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44.6%</a:t>
            </a:r>
            <a:endParaRPr lang="en-US" sz="900" dirty="0"/>
          </a:p>
        </p:txBody>
      </p:sp>
      <p:pic>
        <p:nvPicPr>
          <p:cNvPr id="36" name="Picture 35">
            <a:extLst>
              <a:ext uri="{FF2B5EF4-FFF2-40B4-BE49-F238E27FC236}">
                <a16:creationId xmlns:a16="http://schemas.microsoft.com/office/drawing/2014/main" id="{94C9835A-27C7-8588-AA36-5B0359DB6A8E}"/>
              </a:ext>
            </a:extLst>
          </p:cNvPr>
          <p:cNvPicPr>
            <a:picLocks noChangeAspect="1"/>
          </p:cNvPicPr>
          <p:nvPr/>
        </p:nvPicPr>
        <p:blipFill>
          <a:blip r:embed="rId3"/>
          <a:stretch>
            <a:fillRect/>
          </a:stretch>
        </p:blipFill>
        <p:spPr>
          <a:xfrm>
            <a:off x="163092" y="2488692"/>
            <a:ext cx="8817815" cy="2319528"/>
          </a:xfrm>
          <a:prstGeom prst="rect">
            <a:avLst/>
          </a:prstGeom>
        </p:spPr>
      </p:pic>
      <p:pic>
        <p:nvPicPr>
          <p:cNvPr id="38" name="Picture 37">
            <a:extLst>
              <a:ext uri="{FF2B5EF4-FFF2-40B4-BE49-F238E27FC236}">
                <a16:creationId xmlns:a16="http://schemas.microsoft.com/office/drawing/2014/main" id="{D433F89A-BBD8-9F58-3D8B-2BC94059B7E3}"/>
              </a:ext>
            </a:extLst>
          </p:cNvPr>
          <p:cNvPicPr>
            <a:picLocks noChangeAspect="1"/>
          </p:cNvPicPr>
          <p:nvPr/>
        </p:nvPicPr>
        <p:blipFill>
          <a:blip r:embed="rId4"/>
          <a:stretch>
            <a:fillRect/>
          </a:stretch>
        </p:blipFill>
        <p:spPr>
          <a:xfrm>
            <a:off x="5114544" y="257097"/>
            <a:ext cx="3572256" cy="188091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941DB7-A0C5-FAFD-E32B-E038DE2665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BA99DF-1817-52B0-0E8C-1535380E9BFC}"/>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2A1ED497-8AC8-5908-C430-5C6870428439}"/>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7AD5E319-9AE8-F73B-8FC6-DC908AB6A5E2}"/>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25/ 32</a:t>
            </a:r>
            <a:endParaRPr lang="en-US" sz="900" dirty="0"/>
          </a:p>
        </p:txBody>
      </p:sp>
      <p:sp>
        <p:nvSpPr>
          <p:cNvPr id="5" name="Text 3">
            <a:extLst>
              <a:ext uri="{FF2B5EF4-FFF2-40B4-BE49-F238E27FC236}">
                <a16:creationId xmlns:a16="http://schemas.microsoft.com/office/drawing/2014/main" id="{5B51237E-737B-BD95-28FE-7EC8CEF230EA}"/>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Architectural unique failure signatures</a:t>
            </a:r>
            <a:endParaRPr lang="en-US" sz="2600" dirty="0"/>
          </a:p>
        </p:txBody>
      </p:sp>
      <p:sp>
        <p:nvSpPr>
          <p:cNvPr id="15" name="Shape 13">
            <a:extLst>
              <a:ext uri="{FF2B5EF4-FFF2-40B4-BE49-F238E27FC236}">
                <a16:creationId xmlns:a16="http://schemas.microsoft.com/office/drawing/2014/main" id="{570806E4-745D-0033-CA37-67097847D404}"/>
              </a:ext>
            </a:extLst>
          </p:cNvPr>
          <p:cNvSpPr/>
          <p:nvPr/>
        </p:nvSpPr>
        <p:spPr>
          <a:xfrm>
            <a:off x="457200"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16" name="Shape 14">
            <a:extLst>
              <a:ext uri="{FF2B5EF4-FFF2-40B4-BE49-F238E27FC236}">
                <a16:creationId xmlns:a16="http://schemas.microsoft.com/office/drawing/2014/main" id="{E4FDDBAC-14F9-7381-5421-10A27AFCCF20}"/>
              </a:ext>
            </a:extLst>
          </p:cNvPr>
          <p:cNvSpPr/>
          <p:nvPr/>
        </p:nvSpPr>
        <p:spPr>
          <a:xfrm>
            <a:off x="457200" y="1920240"/>
            <a:ext cx="2697480" cy="91440"/>
          </a:xfrm>
          <a:prstGeom prst="rect">
            <a:avLst/>
          </a:prstGeom>
          <a:solidFill>
            <a:srgbClr val="5C7A55"/>
          </a:solidFill>
          <a:ln w="12700">
            <a:solidFill>
              <a:srgbClr val="5C7A55"/>
            </a:solidFill>
            <a:prstDash val="solid"/>
          </a:ln>
        </p:spPr>
        <p:txBody>
          <a:bodyPr/>
          <a:lstStyle/>
          <a:p>
            <a:endParaRPr lang="en-US"/>
          </a:p>
        </p:txBody>
      </p:sp>
      <p:sp>
        <p:nvSpPr>
          <p:cNvPr id="17" name="Text 15">
            <a:extLst>
              <a:ext uri="{FF2B5EF4-FFF2-40B4-BE49-F238E27FC236}">
                <a16:creationId xmlns:a16="http://schemas.microsoft.com/office/drawing/2014/main" id="{EB5F87E5-7D6E-00DC-B0EF-CBA00436C431}"/>
              </a:ext>
            </a:extLst>
          </p:cNvPr>
          <p:cNvSpPr/>
          <p:nvPr/>
        </p:nvSpPr>
        <p:spPr>
          <a:xfrm>
            <a:off x="640080" y="2103120"/>
            <a:ext cx="233172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VIT</a:t>
            </a:r>
            <a:endParaRPr lang="en-US" sz="1000" dirty="0"/>
          </a:p>
        </p:txBody>
      </p:sp>
      <p:sp>
        <p:nvSpPr>
          <p:cNvPr id="18" name="Text 16">
            <a:extLst>
              <a:ext uri="{FF2B5EF4-FFF2-40B4-BE49-F238E27FC236}">
                <a16:creationId xmlns:a16="http://schemas.microsoft.com/office/drawing/2014/main" id="{35E0B5D6-19B9-945A-F4E7-0BF4ED92C324}"/>
              </a:ext>
            </a:extLst>
          </p:cNvPr>
          <p:cNvSpPr/>
          <p:nvPr/>
        </p:nvSpPr>
        <p:spPr>
          <a:xfrm>
            <a:off x="640080"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Semantic Attractor Collapse</a:t>
            </a:r>
            <a:endParaRPr lang="en-US" sz="1600" dirty="0"/>
          </a:p>
        </p:txBody>
      </p:sp>
      <p:sp>
        <p:nvSpPr>
          <p:cNvPr id="19" name="Text 17">
            <a:extLst>
              <a:ext uri="{FF2B5EF4-FFF2-40B4-BE49-F238E27FC236}">
                <a16:creationId xmlns:a16="http://schemas.microsoft.com/office/drawing/2014/main" id="{FD0B6CFA-2319-1DD3-88BF-6B404E9783F2}"/>
              </a:ext>
            </a:extLst>
          </p:cNvPr>
          <p:cNvSpPr/>
          <p:nvPr/>
        </p:nvSpPr>
        <p:spPr>
          <a:xfrm>
            <a:off x="640080"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20" name="Text 18">
            <a:extLst>
              <a:ext uri="{FF2B5EF4-FFF2-40B4-BE49-F238E27FC236}">
                <a16:creationId xmlns:a16="http://schemas.microsoft.com/office/drawing/2014/main" id="{DB3AC467-6343-6DFA-8BEF-6A2D40CD06AC}"/>
              </a:ext>
            </a:extLst>
          </p:cNvPr>
          <p:cNvSpPr/>
          <p:nvPr/>
        </p:nvSpPr>
        <p:spPr>
          <a:xfrm>
            <a:off x="640080"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Cake / Nuts / Snacks → Chocolate</a:t>
            </a:r>
            <a:endParaRPr lang="en-US" sz="1100" dirty="0"/>
          </a:p>
        </p:txBody>
      </p:sp>
      <p:sp>
        <p:nvSpPr>
          <p:cNvPr id="21" name="Text 19">
            <a:extLst>
              <a:ext uri="{FF2B5EF4-FFF2-40B4-BE49-F238E27FC236}">
                <a16:creationId xmlns:a16="http://schemas.microsoft.com/office/drawing/2014/main" id="{3D0CCC2C-26C3-8831-76D2-0E798B065297}"/>
              </a:ext>
            </a:extLst>
          </p:cNvPr>
          <p:cNvSpPr/>
          <p:nvPr/>
        </p:nvSpPr>
        <p:spPr>
          <a:xfrm>
            <a:off x="640080"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22" name="Text 20">
            <a:extLst>
              <a:ext uri="{FF2B5EF4-FFF2-40B4-BE49-F238E27FC236}">
                <a16:creationId xmlns:a16="http://schemas.microsoft.com/office/drawing/2014/main" id="{1B80BBA2-EDC2-7808-EAF6-8E0993EB1C9F}"/>
              </a:ext>
            </a:extLst>
          </p:cNvPr>
          <p:cNvSpPr/>
          <p:nvPr/>
        </p:nvSpPr>
        <p:spPr>
          <a:xfrm>
            <a:off x="640080"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Global self-attention abstracts to scene-level understanding → over abstracts, visually distinct classes collapse to a shared semantic</a:t>
            </a:r>
            <a:endParaRPr lang="en-US" sz="900" dirty="0"/>
          </a:p>
        </p:txBody>
      </p:sp>
      <p:pic>
        <p:nvPicPr>
          <p:cNvPr id="34" name="Picture 33">
            <a:extLst>
              <a:ext uri="{FF2B5EF4-FFF2-40B4-BE49-F238E27FC236}">
                <a16:creationId xmlns:a16="http://schemas.microsoft.com/office/drawing/2014/main" id="{241B1C83-0E20-DD40-3339-76B97749814B}"/>
              </a:ext>
            </a:extLst>
          </p:cNvPr>
          <p:cNvPicPr>
            <a:picLocks noChangeAspect="1"/>
          </p:cNvPicPr>
          <p:nvPr/>
        </p:nvPicPr>
        <p:blipFill>
          <a:blip r:embed="rId3"/>
          <a:stretch>
            <a:fillRect/>
          </a:stretch>
        </p:blipFill>
        <p:spPr>
          <a:xfrm>
            <a:off x="3337560" y="1326048"/>
            <a:ext cx="4739640" cy="1920072"/>
          </a:xfrm>
          <a:prstGeom prst="rect">
            <a:avLst/>
          </a:prstGeom>
        </p:spPr>
      </p:pic>
      <p:pic>
        <p:nvPicPr>
          <p:cNvPr id="36" name="Picture 35">
            <a:extLst>
              <a:ext uri="{FF2B5EF4-FFF2-40B4-BE49-F238E27FC236}">
                <a16:creationId xmlns:a16="http://schemas.microsoft.com/office/drawing/2014/main" id="{A7E4A99F-91E5-DB38-24FA-C867F83E01C8}"/>
              </a:ext>
            </a:extLst>
          </p:cNvPr>
          <p:cNvPicPr>
            <a:picLocks noChangeAspect="1"/>
          </p:cNvPicPr>
          <p:nvPr/>
        </p:nvPicPr>
        <p:blipFill>
          <a:blip r:embed="rId4"/>
          <a:stretch>
            <a:fillRect/>
          </a:stretch>
        </p:blipFill>
        <p:spPr>
          <a:xfrm>
            <a:off x="3337560" y="3377583"/>
            <a:ext cx="4922520" cy="1706354"/>
          </a:xfrm>
          <a:prstGeom prst="rect">
            <a:avLst/>
          </a:prstGeom>
        </p:spPr>
      </p:pic>
    </p:spTree>
    <p:extLst>
      <p:ext uri="{BB962C8B-B14F-4D97-AF65-F5344CB8AC3E}">
        <p14:creationId xmlns:p14="http://schemas.microsoft.com/office/powerpoint/2010/main" val="3169380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455B6D8-4CF7-69AE-7409-8A2CA41FE4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F082A7-5533-7FF0-1083-B0D29FCB9E96}"/>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63513723-0EE7-B631-F1D0-69B8409354A3}"/>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F1AE4A3E-385C-FDBF-0F11-DBE34CC3E6AD}"/>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26 / 32</a:t>
            </a:r>
            <a:endParaRPr lang="en-US" sz="900" dirty="0"/>
          </a:p>
        </p:txBody>
      </p:sp>
      <p:sp>
        <p:nvSpPr>
          <p:cNvPr id="5" name="Text 3">
            <a:extLst>
              <a:ext uri="{FF2B5EF4-FFF2-40B4-BE49-F238E27FC236}">
                <a16:creationId xmlns:a16="http://schemas.microsoft.com/office/drawing/2014/main" id="{4A776DB3-6EC6-AEAC-0A18-ECE0F19F114F}"/>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Grad-CAM evidence</a:t>
            </a:r>
            <a:endParaRPr lang="en-US" sz="2600" dirty="0"/>
          </a:p>
        </p:txBody>
      </p:sp>
      <p:sp>
        <p:nvSpPr>
          <p:cNvPr id="16" name="Shape 14">
            <a:extLst>
              <a:ext uri="{FF2B5EF4-FFF2-40B4-BE49-F238E27FC236}">
                <a16:creationId xmlns:a16="http://schemas.microsoft.com/office/drawing/2014/main" id="{ADA48BD2-62AF-4483-2538-9CD1107C2DFA}"/>
              </a:ext>
            </a:extLst>
          </p:cNvPr>
          <p:cNvSpPr/>
          <p:nvPr/>
        </p:nvSpPr>
        <p:spPr>
          <a:xfrm>
            <a:off x="525780" y="1905000"/>
            <a:ext cx="2697480" cy="2240280"/>
          </a:xfrm>
          <a:prstGeom prst="rect">
            <a:avLst/>
          </a:prstGeom>
          <a:solidFill>
            <a:srgbClr val="FBF8F2"/>
          </a:solidFill>
          <a:ln w="6350">
            <a:solidFill>
              <a:srgbClr val="D8CFC0"/>
            </a:solidFill>
            <a:prstDash val="solid"/>
          </a:ln>
        </p:spPr>
        <p:txBody>
          <a:bodyPr/>
          <a:lstStyle/>
          <a:p>
            <a:endParaRPr lang="en-US"/>
          </a:p>
        </p:txBody>
      </p:sp>
      <p:sp>
        <p:nvSpPr>
          <p:cNvPr id="17" name="Shape 15">
            <a:extLst>
              <a:ext uri="{FF2B5EF4-FFF2-40B4-BE49-F238E27FC236}">
                <a16:creationId xmlns:a16="http://schemas.microsoft.com/office/drawing/2014/main" id="{D7AC6EAA-C36D-B067-D71B-D9633FB75DAD}"/>
              </a:ext>
            </a:extLst>
          </p:cNvPr>
          <p:cNvSpPr/>
          <p:nvPr/>
        </p:nvSpPr>
        <p:spPr>
          <a:xfrm>
            <a:off x="525780" y="1905000"/>
            <a:ext cx="2697480" cy="73152"/>
          </a:xfrm>
          <a:prstGeom prst="rect">
            <a:avLst/>
          </a:prstGeom>
          <a:solidFill>
            <a:srgbClr val="5C7A55"/>
          </a:solidFill>
          <a:ln w="12700">
            <a:solidFill>
              <a:srgbClr val="5C7A55"/>
            </a:solidFill>
            <a:prstDash val="solid"/>
          </a:ln>
        </p:spPr>
        <p:txBody>
          <a:bodyPr/>
          <a:lstStyle/>
          <a:p>
            <a:endParaRPr lang="en-US"/>
          </a:p>
        </p:txBody>
      </p:sp>
      <p:sp>
        <p:nvSpPr>
          <p:cNvPr id="18" name="Text 16">
            <a:extLst>
              <a:ext uri="{FF2B5EF4-FFF2-40B4-BE49-F238E27FC236}">
                <a16:creationId xmlns:a16="http://schemas.microsoft.com/office/drawing/2014/main" id="{65EF4228-0DA3-6FC0-723B-279934B25770}"/>
              </a:ext>
            </a:extLst>
          </p:cNvPr>
          <p:cNvSpPr/>
          <p:nvPr/>
        </p:nvSpPr>
        <p:spPr>
          <a:xfrm>
            <a:off x="708660" y="2069592"/>
            <a:ext cx="233172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VIT</a:t>
            </a:r>
            <a:endParaRPr lang="en-US" sz="1000" dirty="0"/>
          </a:p>
        </p:txBody>
      </p:sp>
      <p:sp>
        <p:nvSpPr>
          <p:cNvPr id="19" name="Text 17">
            <a:extLst>
              <a:ext uri="{FF2B5EF4-FFF2-40B4-BE49-F238E27FC236}">
                <a16:creationId xmlns:a16="http://schemas.microsoft.com/office/drawing/2014/main" id="{94319D60-BD65-1382-DA3A-8DFB99D70A25}"/>
              </a:ext>
            </a:extLst>
          </p:cNvPr>
          <p:cNvSpPr/>
          <p:nvPr/>
        </p:nvSpPr>
        <p:spPr>
          <a:xfrm>
            <a:off x="708660" y="240792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ATTENTION</a:t>
            </a:r>
            <a:endParaRPr lang="en-US" sz="800" dirty="0"/>
          </a:p>
        </p:txBody>
      </p:sp>
      <p:sp>
        <p:nvSpPr>
          <p:cNvPr id="20" name="Text 18">
            <a:extLst>
              <a:ext uri="{FF2B5EF4-FFF2-40B4-BE49-F238E27FC236}">
                <a16:creationId xmlns:a16="http://schemas.microsoft.com/office/drawing/2014/main" id="{9619DEBB-8E02-72BC-4ADD-DF6A544B2A90}"/>
              </a:ext>
            </a:extLst>
          </p:cNvPr>
          <p:cNvSpPr/>
          <p:nvPr/>
        </p:nvSpPr>
        <p:spPr>
          <a:xfrm>
            <a:off x="708660" y="2618232"/>
            <a:ext cx="2331720" cy="59436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Diffuse activation</a:t>
            </a:r>
            <a:endParaRPr lang="en-US" sz="1200" dirty="0"/>
          </a:p>
          <a:p>
            <a:pPr marL="0" indent="0">
              <a:buNone/>
            </a:pPr>
            <a:r>
              <a:rPr lang="en-US" sz="1200" i="1" dirty="0">
                <a:solidFill>
                  <a:srgbClr val="2B2B2B"/>
                </a:solidFill>
                <a:latin typeface="Calibri" pitchFamily="34" charset="0"/>
                <a:ea typeface="Calibri" pitchFamily="34" charset="-122"/>
                <a:cs typeface="Calibri" pitchFamily="34" charset="-120"/>
              </a:rPr>
              <a:t>across the entire plate, miss discriminative texture</a:t>
            </a:r>
            <a:endParaRPr lang="en-US" sz="1200" dirty="0"/>
          </a:p>
        </p:txBody>
      </p:sp>
      <p:sp>
        <p:nvSpPr>
          <p:cNvPr id="24" name="Text 22">
            <a:extLst>
              <a:ext uri="{FF2B5EF4-FFF2-40B4-BE49-F238E27FC236}">
                <a16:creationId xmlns:a16="http://schemas.microsoft.com/office/drawing/2014/main" id="{3E29A487-4DAB-D455-3C18-4564F69333A9}"/>
              </a:ext>
            </a:extLst>
          </p:cNvPr>
          <p:cNvSpPr/>
          <p:nvPr/>
        </p:nvSpPr>
        <p:spPr>
          <a:xfrm>
            <a:off x="708660" y="3870960"/>
            <a:ext cx="1097280" cy="20116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98.0%</a:t>
            </a:r>
            <a:endParaRPr lang="en-US" sz="900" dirty="0"/>
          </a:p>
        </p:txBody>
      </p:sp>
      <p:pic>
        <p:nvPicPr>
          <p:cNvPr id="36" name="Picture 35">
            <a:extLst>
              <a:ext uri="{FF2B5EF4-FFF2-40B4-BE49-F238E27FC236}">
                <a16:creationId xmlns:a16="http://schemas.microsoft.com/office/drawing/2014/main" id="{631EA7D3-2BD4-4C6E-690D-ED058D055B86}"/>
              </a:ext>
            </a:extLst>
          </p:cNvPr>
          <p:cNvPicPr>
            <a:picLocks noChangeAspect="1"/>
          </p:cNvPicPr>
          <p:nvPr/>
        </p:nvPicPr>
        <p:blipFill>
          <a:blip r:embed="rId3"/>
          <a:stretch>
            <a:fillRect/>
          </a:stretch>
        </p:blipFill>
        <p:spPr>
          <a:xfrm>
            <a:off x="3406140" y="1258882"/>
            <a:ext cx="5496692" cy="1895740"/>
          </a:xfrm>
          <a:prstGeom prst="rect">
            <a:avLst/>
          </a:prstGeom>
        </p:spPr>
      </p:pic>
      <p:pic>
        <p:nvPicPr>
          <p:cNvPr id="38" name="Picture 37">
            <a:extLst>
              <a:ext uri="{FF2B5EF4-FFF2-40B4-BE49-F238E27FC236}">
                <a16:creationId xmlns:a16="http://schemas.microsoft.com/office/drawing/2014/main" id="{0DDC3BA2-F549-CFCC-CC3E-DB6CDB0BDCFC}"/>
              </a:ext>
            </a:extLst>
          </p:cNvPr>
          <p:cNvPicPr>
            <a:picLocks noChangeAspect="1"/>
          </p:cNvPicPr>
          <p:nvPr/>
        </p:nvPicPr>
        <p:blipFill>
          <a:blip r:embed="rId4"/>
          <a:stretch>
            <a:fillRect/>
          </a:stretch>
        </p:blipFill>
        <p:spPr>
          <a:xfrm>
            <a:off x="3406140" y="3085595"/>
            <a:ext cx="5382376" cy="1771897"/>
          </a:xfrm>
          <a:prstGeom prst="rect">
            <a:avLst/>
          </a:prstGeom>
        </p:spPr>
      </p:pic>
    </p:spTree>
    <p:extLst>
      <p:ext uri="{BB962C8B-B14F-4D97-AF65-F5344CB8AC3E}">
        <p14:creationId xmlns:p14="http://schemas.microsoft.com/office/powerpoint/2010/main" val="3787692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08D40F-02C8-B790-9668-8AECB00393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3229D3-2849-EA91-B888-4239BEB8EEA6}"/>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65554270-31E7-BF2F-AB6D-1CF46921016B}"/>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7CA3EABA-6EC3-79C1-0B11-6D12A2AE6CFA}"/>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27 / 32</a:t>
            </a:r>
            <a:endParaRPr lang="en-US" sz="900" dirty="0"/>
          </a:p>
        </p:txBody>
      </p:sp>
      <p:sp>
        <p:nvSpPr>
          <p:cNvPr id="5" name="Text 3">
            <a:extLst>
              <a:ext uri="{FF2B5EF4-FFF2-40B4-BE49-F238E27FC236}">
                <a16:creationId xmlns:a16="http://schemas.microsoft.com/office/drawing/2014/main" id="{5774A868-D172-8707-0166-914E427972FA}"/>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Architectural unique failure signatures</a:t>
            </a:r>
            <a:endParaRPr lang="en-US" sz="2600" dirty="0"/>
          </a:p>
        </p:txBody>
      </p:sp>
      <p:sp>
        <p:nvSpPr>
          <p:cNvPr id="23" name="Shape 21">
            <a:extLst>
              <a:ext uri="{FF2B5EF4-FFF2-40B4-BE49-F238E27FC236}">
                <a16:creationId xmlns:a16="http://schemas.microsoft.com/office/drawing/2014/main" id="{7DB08067-7319-8471-EF90-0CC8970A5A95}"/>
              </a:ext>
            </a:extLst>
          </p:cNvPr>
          <p:cNvSpPr/>
          <p:nvPr/>
        </p:nvSpPr>
        <p:spPr>
          <a:xfrm>
            <a:off x="493776"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24" name="Shape 22">
            <a:extLst>
              <a:ext uri="{FF2B5EF4-FFF2-40B4-BE49-F238E27FC236}">
                <a16:creationId xmlns:a16="http://schemas.microsoft.com/office/drawing/2014/main" id="{5E963579-2B27-6BA7-212A-CCF3B4326E59}"/>
              </a:ext>
            </a:extLst>
          </p:cNvPr>
          <p:cNvSpPr/>
          <p:nvPr/>
        </p:nvSpPr>
        <p:spPr>
          <a:xfrm>
            <a:off x="493776" y="1920240"/>
            <a:ext cx="2697480" cy="91440"/>
          </a:xfrm>
          <a:prstGeom prst="rect">
            <a:avLst/>
          </a:prstGeom>
          <a:solidFill>
            <a:srgbClr val="8B3A3A"/>
          </a:solidFill>
          <a:ln w="12700">
            <a:solidFill>
              <a:srgbClr val="8B3A3A"/>
            </a:solidFill>
            <a:prstDash val="solid"/>
          </a:ln>
        </p:spPr>
        <p:txBody>
          <a:bodyPr/>
          <a:lstStyle/>
          <a:p>
            <a:endParaRPr lang="en-US"/>
          </a:p>
        </p:txBody>
      </p:sp>
      <p:sp>
        <p:nvSpPr>
          <p:cNvPr id="25" name="Text 23">
            <a:extLst>
              <a:ext uri="{FF2B5EF4-FFF2-40B4-BE49-F238E27FC236}">
                <a16:creationId xmlns:a16="http://schemas.microsoft.com/office/drawing/2014/main" id="{A3F0A50C-6A96-BDE7-401D-ED8773F9A664}"/>
              </a:ext>
            </a:extLst>
          </p:cNvPr>
          <p:cNvSpPr/>
          <p:nvPr/>
        </p:nvSpPr>
        <p:spPr>
          <a:xfrm>
            <a:off x="676656" y="2103120"/>
            <a:ext cx="2331720" cy="274320"/>
          </a:xfrm>
          <a:prstGeom prst="rect">
            <a:avLst/>
          </a:prstGeom>
          <a:noFill/>
          <a:ln/>
        </p:spPr>
        <p:txBody>
          <a:bodyPr wrap="square" lIns="0" tIns="0" rIns="0" bIns="0" rtlCol="0" anchor="ctr"/>
          <a:lstStyle/>
          <a:p>
            <a:pPr marL="0" indent="0">
              <a:buNone/>
            </a:pPr>
            <a:r>
              <a:rPr lang="en-US" sz="1000" b="1" kern="0" spc="400" dirty="0">
                <a:solidFill>
                  <a:srgbClr val="8B3A3A"/>
                </a:solidFill>
                <a:latin typeface="Calibri" pitchFamily="34" charset="0"/>
                <a:ea typeface="Calibri" pitchFamily="34" charset="-122"/>
                <a:cs typeface="Calibri" pitchFamily="34" charset="-120"/>
              </a:rPr>
              <a:t>CONVNEXT</a:t>
            </a:r>
            <a:endParaRPr lang="en-US" sz="1000" dirty="0"/>
          </a:p>
        </p:txBody>
      </p:sp>
      <p:sp>
        <p:nvSpPr>
          <p:cNvPr id="26" name="Text 24">
            <a:extLst>
              <a:ext uri="{FF2B5EF4-FFF2-40B4-BE49-F238E27FC236}">
                <a16:creationId xmlns:a16="http://schemas.microsoft.com/office/drawing/2014/main" id="{97B4F008-B411-3B81-5361-9E174F5A10F0}"/>
              </a:ext>
            </a:extLst>
          </p:cNvPr>
          <p:cNvSpPr/>
          <p:nvPr/>
        </p:nvSpPr>
        <p:spPr>
          <a:xfrm>
            <a:off x="676656"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Intermediate-Scale Ambiguity</a:t>
            </a:r>
            <a:endParaRPr lang="en-US" sz="1600" dirty="0"/>
          </a:p>
        </p:txBody>
      </p:sp>
      <p:sp>
        <p:nvSpPr>
          <p:cNvPr id="27" name="Text 25">
            <a:extLst>
              <a:ext uri="{FF2B5EF4-FFF2-40B4-BE49-F238E27FC236}">
                <a16:creationId xmlns:a16="http://schemas.microsoft.com/office/drawing/2014/main" id="{2946D52F-696D-F9D8-B7A7-52F8286CD1B4}"/>
              </a:ext>
            </a:extLst>
          </p:cNvPr>
          <p:cNvSpPr/>
          <p:nvPr/>
        </p:nvSpPr>
        <p:spPr>
          <a:xfrm>
            <a:off x="676656"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28" name="Text 26">
            <a:extLst>
              <a:ext uri="{FF2B5EF4-FFF2-40B4-BE49-F238E27FC236}">
                <a16:creationId xmlns:a16="http://schemas.microsoft.com/office/drawing/2014/main" id="{8781D6CF-C6E2-AA27-E0CE-1F339C5B0A52}"/>
              </a:ext>
            </a:extLst>
          </p:cNvPr>
          <p:cNvSpPr/>
          <p:nvPr/>
        </p:nvSpPr>
        <p:spPr>
          <a:xfrm>
            <a:off x="676656"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Drunken Prawn → Fried Prawn</a:t>
            </a:r>
            <a:endParaRPr lang="en-US" sz="1100" dirty="0"/>
          </a:p>
        </p:txBody>
      </p:sp>
      <p:sp>
        <p:nvSpPr>
          <p:cNvPr id="29" name="Text 27">
            <a:extLst>
              <a:ext uri="{FF2B5EF4-FFF2-40B4-BE49-F238E27FC236}">
                <a16:creationId xmlns:a16="http://schemas.microsoft.com/office/drawing/2014/main" id="{893C4ED2-8A10-D984-A8A1-978CC3AD981C}"/>
              </a:ext>
            </a:extLst>
          </p:cNvPr>
          <p:cNvSpPr/>
          <p:nvPr/>
        </p:nvSpPr>
        <p:spPr>
          <a:xfrm>
            <a:off x="676656"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30" name="Text 28">
            <a:extLst>
              <a:ext uri="{FF2B5EF4-FFF2-40B4-BE49-F238E27FC236}">
                <a16:creationId xmlns:a16="http://schemas.microsoft.com/office/drawing/2014/main" id="{93DF5CD6-29AA-54F8-4CDD-E8C9F0DB037A}"/>
              </a:ext>
            </a:extLst>
          </p:cNvPr>
          <p:cNvSpPr/>
          <p:nvPr/>
        </p:nvSpPr>
        <p:spPr>
          <a:xfrm>
            <a:off x="676656"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7×7 kernels resolve the texture trap, but remain local → fail on subtle, spatially-distributed cues</a:t>
            </a:r>
            <a:endParaRPr lang="en-US" sz="900" dirty="0"/>
          </a:p>
        </p:txBody>
      </p:sp>
      <p:pic>
        <p:nvPicPr>
          <p:cNvPr id="7" name="Picture 6">
            <a:extLst>
              <a:ext uri="{FF2B5EF4-FFF2-40B4-BE49-F238E27FC236}">
                <a16:creationId xmlns:a16="http://schemas.microsoft.com/office/drawing/2014/main" id="{405C69BD-34C8-765F-66F1-74A9527E9166}"/>
              </a:ext>
            </a:extLst>
          </p:cNvPr>
          <p:cNvPicPr>
            <a:picLocks noChangeAspect="1"/>
          </p:cNvPicPr>
          <p:nvPr/>
        </p:nvPicPr>
        <p:blipFill>
          <a:blip r:embed="rId3"/>
          <a:stretch>
            <a:fillRect/>
          </a:stretch>
        </p:blipFill>
        <p:spPr>
          <a:xfrm>
            <a:off x="3506357" y="2074413"/>
            <a:ext cx="5363323" cy="1886213"/>
          </a:xfrm>
          <a:prstGeom prst="rect">
            <a:avLst/>
          </a:prstGeom>
        </p:spPr>
      </p:pic>
    </p:spTree>
    <p:extLst>
      <p:ext uri="{BB962C8B-B14F-4D97-AF65-F5344CB8AC3E}">
        <p14:creationId xmlns:p14="http://schemas.microsoft.com/office/powerpoint/2010/main" val="807350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28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Intra-class Variation</a:t>
            </a:r>
            <a:endParaRPr lang="en-US" sz="2600" dirty="0"/>
          </a:p>
        </p:txBody>
      </p:sp>
      <p:sp>
        <p:nvSpPr>
          <p:cNvPr id="18" name="Shape 16"/>
          <p:cNvSpPr/>
          <p:nvPr/>
        </p:nvSpPr>
        <p:spPr>
          <a:xfrm>
            <a:off x="457200" y="3749040"/>
            <a:ext cx="8229600" cy="960120"/>
          </a:xfrm>
          <a:prstGeom prst="rect">
            <a:avLst/>
          </a:prstGeom>
          <a:solidFill>
            <a:srgbClr val="2B2B2B"/>
          </a:solidFill>
          <a:ln w="12700">
            <a:solidFill>
              <a:srgbClr val="2B2B2B"/>
            </a:solidFill>
            <a:prstDash val="solid"/>
          </a:ln>
        </p:spPr>
        <p:txBody>
          <a:bodyPr/>
          <a:lstStyle/>
          <a:p>
            <a:endParaRPr lang="en-US"/>
          </a:p>
        </p:txBody>
      </p:sp>
      <p:sp>
        <p:nvSpPr>
          <p:cNvPr id="19" name="Text 17"/>
          <p:cNvSpPr/>
          <p:nvPr/>
        </p:nvSpPr>
        <p:spPr>
          <a:xfrm>
            <a:off x="640080" y="3840480"/>
            <a:ext cx="7863840" cy="22860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WHY?</a:t>
            </a:r>
            <a:endParaRPr lang="en-US" sz="900" dirty="0"/>
          </a:p>
        </p:txBody>
      </p:sp>
      <p:sp>
        <p:nvSpPr>
          <p:cNvPr id="20" name="Text 18"/>
          <p:cNvSpPr/>
          <p:nvPr/>
        </p:nvSpPr>
        <p:spPr>
          <a:xfrm>
            <a:off x="640080" y="4114800"/>
            <a:ext cx="7863840" cy="5943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Intra-class variation requires </a:t>
            </a:r>
            <a:r>
              <a:rPr lang="en-US" sz="1200" b="1" i="1" dirty="0">
                <a:solidFill>
                  <a:srgbClr val="B85042"/>
                </a:solidFill>
                <a:latin typeface="Calibri" pitchFamily="34" charset="0"/>
                <a:ea typeface="Calibri" pitchFamily="34" charset="-122"/>
                <a:cs typeface="Calibri" pitchFamily="34" charset="-120"/>
              </a:rPr>
              <a:t>compositional invariance – recognize ingredients and structure, not just appearance</a:t>
            </a:r>
            <a:r>
              <a:rPr lang="en-US" sz="1200" dirty="0">
                <a:solidFill>
                  <a:srgbClr val="FFFFFF"/>
                </a:solidFill>
                <a:latin typeface="Calibri" pitchFamily="34" charset="0"/>
                <a:ea typeface="Calibri" pitchFamily="34" charset="-122"/>
                <a:cs typeface="Calibri" pitchFamily="34" charset="-120"/>
              </a:rPr>
              <a:t>. The same global-attention mechanism that causes </a:t>
            </a:r>
            <a:r>
              <a:rPr lang="en-US" sz="1200" i="1" dirty="0">
                <a:solidFill>
                  <a:srgbClr val="DDDDDD"/>
                </a:solidFill>
                <a:latin typeface="Calibri" pitchFamily="34" charset="0"/>
                <a:ea typeface="Calibri" pitchFamily="34" charset="-122"/>
                <a:cs typeface="Calibri" pitchFamily="34" charset="-120"/>
              </a:rPr>
              <a:t>semantic-attractor</a:t>
            </a:r>
            <a:r>
              <a:rPr lang="en-US" sz="1200" dirty="0">
                <a:solidFill>
                  <a:srgbClr val="FFFFFF"/>
                </a:solidFill>
                <a:latin typeface="Calibri" pitchFamily="34" charset="0"/>
                <a:ea typeface="Calibri" pitchFamily="34" charset="-122"/>
                <a:cs typeface="Calibri" pitchFamily="34" charset="-120"/>
              </a:rPr>
              <a:t> errors elsewhere becomes an asset here — it unifies distinct presentations of the same class.</a:t>
            </a:r>
            <a:endParaRPr lang="en-US" sz="1200" dirty="0"/>
          </a:p>
        </p:txBody>
      </p:sp>
      <p:pic>
        <p:nvPicPr>
          <p:cNvPr id="22" name="Picture 21">
            <a:extLst>
              <a:ext uri="{FF2B5EF4-FFF2-40B4-BE49-F238E27FC236}">
                <a16:creationId xmlns:a16="http://schemas.microsoft.com/office/drawing/2014/main" id="{68137630-2901-FB2E-960C-DC911F409A06}"/>
              </a:ext>
            </a:extLst>
          </p:cNvPr>
          <p:cNvPicPr>
            <a:picLocks noChangeAspect="1"/>
          </p:cNvPicPr>
          <p:nvPr/>
        </p:nvPicPr>
        <p:blipFill>
          <a:blip r:embed="rId3"/>
          <a:stretch>
            <a:fillRect/>
          </a:stretch>
        </p:blipFill>
        <p:spPr>
          <a:xfrm>
            <a:off x="4458989" y="265439"/>
            <a:ext cx="4410691" cy="1476581"/>
          </a:xfrm>
          <a:prstGeom prst="rect">
            <a:avLst/>
          </a:prstGeom>
        </p:spPr>
      </p:pic>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310B986F-DC25-90EB-1192-27DFEEA7F336}"/>
                  </a:ext>
                </a:extLst>
              </p14:cNvPr>
              <p14:cNvContentPartPr/>
              <p14:nvPr/>
            </p14:nvContentPartPr>
            <p14:xfrm>
              <a:off x="4638495" y="1561815"/>
              <a:ext cx="399240" cy="360"/>
            </p14:xfrm>
          </p:contentPart>
        </mc:Choice>
        <mc:Fallback xmlns="">
          <p:pic>
            <p:nvPicPr>
              <p:cNvPr id="25" name="Ink 24">
                <a:extLst>
                  <a:ext uri="{FF2B5EF4-FFF2-40B4-BE49-F238E27FC236}">
                    <a16:creationId xmlns:a16="http://schemas.microsoft.com/office/drawing/2014/main" id="{310B986F-DC25-90EB-1192-27DFEEA7F336}"/>
                  </a:ext>
                </a:extLst>
              </p:cNvPr>
              <p:cNvPicPr/>
              <p:nvPr/>
            </p:nvPicPr>
            <p:blipFill>
              <a:blip r:embed="rId5"/>
              <a:stretch>
                <a:fillRect/>
              </a:stretch>
            </p:blipFill>
            <p:spPr>
              <a:xfrm>
                <a:off x="4584855" y="1454175"/>
                <a:ext cx="5068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BC20AF58-A820-CE37-B4AF-9B8E887BD90C}"/>
                  </a:ext>
                </a:extLst>
              </p14:cNvPr>
              <p14:cNvContentPartPr/>
              <p14:nvPr/>
            </p14:nvContentPartPr>
            <p14:xfrm>
              <a:off x="8372130" y="1542015"/>
              <a:ext cx="447480" cy="10800"/>
            </p14:xfrm>
          </p:contentPart>
        </mc:Choice>
        <mc:Fallback xmlns="">
          <p:pic>
            <p:nvPicPr>
              <p:cNvPr id="26" name="Ink 25">
                <a:extLst>
                  <a:ext uri="{FF2B5EF4-FFF2-40B4-BE49-F238E27FC236}">
                    <a16:creationId xmlns:a16="http://schemas.microsoft.com/office/drawing/2014/main" id="{BC20AF58-A820-CE37-B4AF-9B8E887BD90C}"/>
                  </a:ext>
                </a:extLst>
              </p:cNvPr>
              <p:cNvPicPr/>
              <p:nvPr/>
            </p:nvPicPr>
            <p:blipFill>
              <a:blip r:embed="rId7"/>
              <a:stretch>
                <a:fillRect/>
              </a:stretch>
            </p:blipFill>
            <p:spPr>
              <a:xfrm>
                <a:off x="8318490" y="1434015"/>
                <a:ext cx="555120" cy="226440"/>
              </a:xfrm>
              <a:prstGeom prst="rect">
                <a:avLst/>
              </a:prstGeom>
            </p:spPr>
          </p:pic>
        </mc:Fallback>
      </mc:AlternateContent>
      <p:pic>
        <p:nvPicPr>
          <p:cNvPr id="28" name="Picture 27">
            <a:extLst>
              <a:ext uri="{FF2B5EF4-FFF2-40B4-BE49-F238E27FC236}">
                <a16:creationId xmlns:a16="http://schemas.microsoft.com/office/drawing/2014/main" id="{D42EA7E1-906F-ED63-EDCA-D4E69827A2BE}"/>
              </a:ext>
            </a:extLst>
          </p:cNvPr>
          <p:cNvPicPr>
            <a:picLocks noChangeAspect="1"/>
          </p:cNvPicPr>
          <p:nvPr/>
        </p:nvPicPr>
        <p:blipFill>
          <a:blip r:embed="rId8"/>
          <a:stretch>
            <a:fillRect/>
          </a:stretch>
        </p:blipFill>
        <p:spPr>
          <a:xfrm>
            <a:off x="0" y="1880845"/>
            <a:ext cx="4515480" cy="1724266"/>
          </a:xfrm>
          <a:prstGeom prst="rect">
            <a:avLst/>
          </a:prstGeom>
        </p:spPr>
      </p:pic>
      <p:pic>
        <p:nvPicPr>
          <p:cNvPr id="30" name="Picture 29">
            <a:extLst>
              <a:ext uri="{FF2B5EF4-FFF2-40B4-BE49-F238E27FC236}">
                <a16:creationId xmlns:a16="http://schemas.microsoft.com/office/drawing/2014/main" id="{085E583D-0263-9B0B-DE28-427DB6315BB4}"/>
              </a:ext>
            </a:extLst>
          </p:cNvPr>
          <p:cNvPicPr>
            <a:picLocks noChangeAspect="1"/>
          </p:cNvPicPr>
          <p:nvPr/>
        </p:nvPicPr>
        <p:blipFill>
          <a:blip r:embed="rId9"/>
          <a:stretch>
            <a:fillRect/>
          </a:stretch>
        </p:blipFill>
        <p:spPr>
          <a:xfrm>
            <a:off x="4638495" y="1890372"/>
            <a:ext cx="4505954" cy="1714739"/>
          </a:xfrm>
          <a:prstGeom prst="rect">
            <a:avLst/>
          </a:prstGeom>
        </p:spPr>
      </p:pic>
      <mc:AlternateContent xmlns:mc="http://schemas.openxmlformats.org/markup-compatibility/2006" xmlns:p14="http://schemas.microsoft.com/office/powerpoint/2010/main">
        <mc:Choice Requires="p14">
          <p:contentPart p14:bwMode="auto" r:id="rId10">
            <p14:nvContentPartPr>
              <p14:cNvPr id="31" name="Ink 30">
                <a:extLst>
                  <a:ext uri="{FF2B5EF4-FFF2-40B4-BE49-F238E27FC236}">
                    <a16:creationId xmlns:a16="http://schemas.microsoft.com/office/drawing/2014/main" id="{BC42AC6A-C7A7-2CC9-E9DC-A56675409D6E}"/>
                  </a:ext>
                </a:extLst>
              </p14:cNvPr>
              <p14:cNvContentPartPr/>
              <p14:nvPr/>
            </p14:nvContentPartPr>
            <p14:xfrm>
              <a:off x="7753992" y="1534368"/>
              <a:ext cx="255240" cy="14040"/>
            </p14:xfrm>
          </p:contentPart>
        </mc:Choice>
        <mc:Fallback xmlns="">
          <p:pic>
            <p:nvPicPr>
              <p:cNvPr id="31" name="Ink 30">
                <a:extLst>
                  <a:ext uri="{FF2B5EF4-FFF2-40B4-BE49-F238E27FC236}">
                    <a16:creationId xmlns:a16="http://schemas.microsoft.com/office/drawing/2014/main" id="{BC42AC6A-C7A7-2CC9-E9DC-A56675409D6E}"/>
                  </a:ext>
                </a:extLst>
              </p:cNvPr>
              <p:cNvPicPr/>
              <p:nvPr/>
            </p:nvPicPr>
            <p:blipFill>
              <a:blip r:embed="rId11"/>
              <a:stretch>
                <a:fillRect/>
              </a:stretch>
            </p:blipFill>
            <p:spPr>
              <a:xfrm>
                <a:off x="7699992" y="1426368"/>
                <a:ext cx="362880" cy="22968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2B2B2B"/>
        </a:solidFill>
        <a:effectLst/>
      </p:bgPr>
    </p:bg>
    <p:spTree>
      <p:nvGrpSpPr>
        <p:cNvPr id="1" name=""/>
        <p:cNvGrpSpPr/>
        <p:nvPr/>
      </p:nvGrpSpPr>
      <p:grpSpPr>
        <a:xfrm>
          <a:off x="0" y="0"/>
          <a:ext cx="0" cy="0"/>
          <a:chOff x="0" y="0"/>
          <a:chExt cx="0" cy="0"/>
        </a:xfrm>
      </p:grpSpPr>
      <p:sp>
        <p:nvSpPr>
          <p:cNvPr id="2" name="Text 0"/>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29 / 32</a:t>
            </a:r>
            <a:endParaRPr lang="en-US" sz="900" dirty="0"/>
          </a:p>
        </p:txBody>
      </p:sp>
      <p:sp>
        <p:nvSpPr>
          <p:cNvPr id="3" name="Shape 1"/>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4" name="Text 2"/>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05  /  CONCLUSION</a:t>
            </a:r>
            <a:endParaRPr lang="en-US" sz="1000" dirty="0"/>
          </a:p>
        </p:txBody>
      </p:sp>
      <p:sp>
        <p:nvSpPr>
          <p:cNvPr id="5" name="Text 3"/>
          <p:cNvSpPr/>
          <p:nvPr/>
        </p:nvSpPr>
        <p:spPr>
          <a:xfrm>
            <a:off x="457200" y="1097280"/>
            <a:ext cx="8229600" cy="1097280"/>
          </a:xfrm>
          <a:prstGeom prst="rect">
            <a:avLst/>
          </a:prstGeom>
          <a:noFill/>
          <a:ln/>
        </p:spPr>
        <p:txBody>
          <a:bodyPr wrap="square" lIns="0" tIns="0" rIns="0" bIns="0" rtlCol="0" anchor="t"/>
          <a:lstStyle/>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Architectural paradigm doesn't just affect </a:t>
            </a:r>
            <a:r>
              <a:rPr lang="en-US" sz="2400" b="1" i="1" dirty="0">
                <a:solidFill>
                  <a:srgbClr val="FFFFFF"/>
                </a:solidFill>
                <a:latin typeface="Georgia" pitchFamily="34" charset="0"/>
                <a:ea typeface="Georgia" pitchFamily="34" charset="-122"/>
                <a:cs typeface="Georgia" pitchFamily="34" charset="-120"/>
              </a:rPr>
              <a:t>how much</a:t>
            </a:r>
            <a:r>
              <a:rPr lang="en-US" sz="2400" b="1" dirty="0">
                <a:solidFill>
                  <a:srgbClr val="FFFFFF"/>
                </a:solidFill>
                <a:latin typeface="Georgia" pitchFamily="34" charset="0"/>
                <a:ea typeface="Georgia" pitchFamily="34" charset="-122"/>
                <a:cs typeface="Georgia" pitchFamily="34" charset="-120"/>
              </a:rPr>
              <a:t> error a model produces —</a:t>
            </a:r>
            <a:endParaRPr lang="en-US" sz="2400" dirty="0"/>
          </a:p>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it determines </a:t>
            </a:r>
            <a:r>
              <a:rPr lang="en-US" sz="2400" b="1" i="1" dirty="0">
                <a:solidFill>
                  <a:srgbClr val="B85042"/>
                </a:solidFill>
                <a:latin typeface="Georgia" pitchFamily="34" charset="0"/>
                <a:ea typeface="Georgia" pitchFamily="34" charset="-122"/>
                <a:cs typeface="Georgia" pitchFamily="34" charset="-120"/>
              </a:rPr>
              <a:t>what kind</a:t>
            </a:r>
            <a:r>
              <a:rPr lang="en-US" sz="2400" b="1" dirty="0">
                <a:solidFill>
                  <a:srgbClr val="FFFFFF"/>
                </a:solidFill>
                <a:latin typeface="Georgia" pitchFamily="34" charset="0"/>
                <a:ea typeface="Georgia" pitchFamily="34" charset="-122"/>
                <a:cs typeface="Georgia" pitchFamily="34" charset="-120"/>
              </a:rPr>
              <a:t> of error.</a:t>
            </a:r>
            <a:endParaRPr lang="en-US" sz="2400" dirty="0"/>
          </a:p>
        </p:txBody>
      </p:sp>
      <p:sp>
        <p:nvSpPr>
          <p:cNvPr id="6" name="Text 4"/>
          <p:cNvSpPr/>
          <p:nvPr/>
        </p:nvSpPr>
        <p:spPr>
          <a:xfrm>
            <a:off x="457200" y="2468880"/>
            <a:ext cx="82296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DEMONSTRATED THROUGH</a:t>
            </a:r>
            <a:endParaRPr lang="en-US" sz="900" dirty="0"/>
          </a:p>
        </p:txBody>
      </p:sp>
      <p:sp>
        <p:nvSpPr>
          <p:cNvPr id="7" name="Shape 5"/>
          <p:cNvSpPr/>
          <p:nvPr/>
        </p:nvSpPr>
        <p:spPr>
          <a:xfrm>
            <a:off x="457200" y="2926080"/>
            <a:ext cx="54864" cy="274320"/>
          </a:xfrm>
          <a:prstGeom prst="rect">
            <a:avLst/>
          </a:prstGeom>
          <a:solidFill>
            <a:srgbClr val="B85042"/>
          </a:solidFill>
          <a:ln w="12700">
            <a:solidFill>
              <a:srgbClr val="B85042"/>
            </a:solidFill>
            <a:prstDash val="solid"/>
          </a:ln>
        </p:spPr>
        <p:txBody>
          <a:bodyPr/>
          <a:lstStyle/>
          <a:p>
            <a:endParaRPr lang="en-US"/>
          </a:p>
        </p:txBody>
      </p:sp>
      <p:sp>
        <p:nvSpPr>
          <p:cNvPr id="8" name="Text 6"/>
          <p:cNvSpPr/>
          <p:nvPr/>
        </p:nvSpPr>
        <p:spPr>
          <a:xfrm>
            <a:off x="640080" y="3422333"/>
            <a:ext cx="8046720" cy="5029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Aggregate performance  </a:t>
            </a:r>
            <a:r>
              <a:rPr lang="en-US" sz="1100" dirty="0">
                <a:solidFill>
                  <a:srgbClr val="CCCCCC"/>
                </a:solidFill>
                <a:latin typeface="Calibri" pitchFamily="34" charset="0"/>
                <a:ea typeface="Calibri" pitchFamily="34" charset="-122"/>
                <a:cs typeface="Calibri" pitchFamily="34" charset="-120"/>
              </a:rPr>
              <a:t>ConvNeXt &gt; ViT &gt; ResNet50, consistent across all four metrics, on both SGFood-233 and Food-101.</a:t>
            </a:r>
            <a:endParaRPr lang="en-US" sz="1200" dirty="0"/>
          </a:p>
        </p:txBody>
      </p:sp>
      <p:sp>
        <p:nvSpPr>
          <p:cNvPr id="9" name="Shape 7"/>
          <p:cNvSpPr/>
          <p:nvPr/>
        </p:nvSpPr>
        <p:spPr>
          <a:xfrm>
            <a:off x="457200" y="3429000"/>
            <a:ext cx="54864" cy="274320"/>
          </a:xfrm>
          <a:prstGeom prst="rect">
            <a:avLst/>
          </a:prstGeom>
          <a:solidFill>
            <a:srgbClr val="B85042"/>
          </a:solidFill>
          <a:ln w="12700">
            <a:solidFill>
              <a:srgbClr val="B85042"/>
            </a:solidFill>
            <a:prstDash val="solid"/>
          </a:ln>
        </p:spPr>
        <p:txBody>
          <a:bodyPr/>
          <a:lstStyle/>
          <a:p>
            <a:endParaRPr lang="en-US"/>
          </a:p>
        </p:txBody>
      </p:sp>
      <p:sp>
        <p:nvSpPr>
          <p:cNvPr id="10" name="Text 8"/>
          <p:cNvSpPr/>
          <p:nvPr/>
        </p:nvSpPr>
        <p:spPr>
          <a:xfrm>
            <a:off x="640080" y="2919413"/>
            <a:ext cx="8046720" cy="5029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Mechanistic error analysis  </a:t>
            </a:r>
            <a:r>
              <a:rPr lang="en-US" sz="1100" dirty="0">
                <a:solidFill>
                  <a:srgbClr val="CCCCCC"/>
                </a:solidFill>
                <a:latin typeface="Calibri" pitchFamily="34" charset="0"/>
                <a:ea typeface="Calibri" pitchFamily="34" charset="-122"/>
                <a:cs typeface="Calibri" pitchFamily="34" charset="-120"/>
              </a:rPr>
              <a:t>Three distinct, architecturally-grounded failure modes — texture trap, semantic attractor, intermediate-scale ambiguity.</a:t>
            </a:r>
            <a:endParaRPr lang="en-US" sz="1200" dirty="0"/>
          </a:p>
        </p:txBody>
      </p:sp>
      <p:sp>
        <p:nvSpPr>
          <p:cNvPr id="11" name="Shape 9"/>
          <p:cNvSpPr/>
          <p:nvPr/>
        </p:nvSpPr>
        <p:spPr>
          <a:xfrm>
            <a:off x="457200" y="3931920"/>
            <a:ext cx="54864" cy="274320"/>
          </a:xfrm>
          <a:prstGeom prst="rect">
            <a:avLst/>
          </a:prstGeom>
          <a:solidFill>
            <a:srgbClr val="B85042"/>
          </a:solidFill>
          <a:ln w="12700">
            <a:solidFill>
              <a:srgbClr val="B85042"/>
            </a:solidFill>
            <a:prstDash val="solid"/>
          </a:ln>
        </p:spPr>
        <p:txBody>
          <a:bodyPr/>
          <a:lstStyle/>
          <a:p>
            <a:endParaRPr lang="en-US"/>
          </a:p>
        </p:txBody>
      </p:sp>
      <p:sp>
        <p:nvSpPr>
          <p:cNvPr id="12" name="Text 10"/>
          <p:cNvSpPr/>
          <p:nvPr/>
        </p:nvSpPr>
        <p:spPr>
          <a:xfrm>
            <a:off x="640080" y="3909060"/>
            <a:ext cx="8046720" cy="5029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Robustness verification  </a:t>
            </a:r>
            <a:r>
              <a:rPr lang="en-US" sz="1100" dirty="0">
                <a:solidFill>
                  <a:srgbClr val="CCCCCC"/>
                </a:solidFill>
                <a:latin typeface="Calibri" pitchFamily="34" charset="0"/>
                <a:ea typeface="Calibri" pitchFamily="34" charset="-122"/>
                <a:cs typeface="Calibri" pitchFamily="34" charset="-120"/>
              </a:rPr>
              <a:t>Ranking holds at each model's optimal LR; ConvNeXt is 4–6× more LR-tolerant than alternatives.</a:t>
            </a:r>
            <a:endParaRPr lang="en-US" sz="1200" dirty="0"/>
          </a:p>
        </p:txBody>
      </p:sp>
      <p:sp>
        <p:nvSpPr>
          <p:cNvPr id="13" name="Shape 11"/>
          <p:cNvSpPr/>
          <p:nvPr/>
        </p:nvSpPr>
        <p:spPr>
          <a:xfrm>
            <a:off x="457200" y="4434840"/>
            <a:ext cx="8229600" cy="365760"/>
          </a:xfrm>
          <a:prstGeom prst="rect">
            <a:avLst/>
          </a:prstGeom>
          <a:solidFill>
            <a:srgbClr val="B85042"/>
          </a:solidFill>
          <a:ln w="12700">
            <a:solidFill>
              <a:srgbClr val="B85042"/>
            </a:solidFill>
            <a:prstDash val="solid"/>
          </a:ln>
        </p:spPr>
        <p:txBody>
          <a:bodyPr/>
          <a:lstStyle/>
          <a:p>
            <a:endParaRPr lang="en-US"/>
          </a:p>
        </p:txBody>
      </p:sp>
      <p:sp>
        <p:nvSpPr>
          <p:cNvPr id="14" name="Text 12"/>
          <p:cNvSpPr/>
          <p:nvPr/>
        </p:nvSpPr>
        <p:spPr>
          <a:xfrm>
            <a:off x="640080" y="4434840"/>
            <a:ext cx="7863840" cy="36576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IMPLICATION   </a:t>
            </a:r>
            <a:r>
              <a:rPr lang="en-US" sz="1200" dirty="0">
                <a:solidFill>
                  <a:srgbClr val="FFFFFF"/>
                </a:solidFill>
                <a:latin typeface="Calibri" pitchFamily="34" charset="0"/>
                <a:ea typeface="Calibri" pitchFamily="34" charset="-122"/>
                <a:cs typeface="Calibri" pitchFamily="34" charset="-120"/>
              </a:rPr>
              <a:t>Transformer-inspired </a:t>
            </a:r>
            <a:r>
              <a:rPr lang="en-US" sz="1200" b="1" i="1" dirty="0">
                <a:solidFill>
                  <a:srgbClr val="FFFFFF"/>
                </a:solidFill>
                <a:latin typeface="Calibri" pitchFamily="34" charset="0"/>
                <a:ea typeface="Calibri" pitchFamily="34" charset="-122"/>
                <a:cs typeface="Calibri" pitchFamily="34" charset="-120"/>
              </a:rPr>
              <a:t>design principles</a:t>
            </a:r>
            <a:r>
              <a:rPr lang="en-US" sz="1200" dirty="0">
                <a:solidFill>
                  <a:srgbClr val="FFFFFF"/>
                </a:solidFill>
                <a:latin typeface="Calibri" pitchFamily="34" charset="0"/>
                <a:ea typeface="Calibri" pitchFamily="34" charset="-122"/>
                <a:cs typeface="Calibri" pitchFamily="34" charset="-120"/>
              </a:rPr>
              <a:t> proved more valuable than the self-attention mechanism itself for fine-grained food classification.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05  /  CONCLUSION &amp; FUTURE WORK</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30 / 32</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Limitations &amp; future work</a:t>
            </a:r>
            <a:endParaRPr lang="en-US" sz="2600" dirty="0"/>
          </a:p>
        </p:txBody>
      </p:sp>
      <p:sp>
        <p:nvSpPr>
          <p:cNvPr id="6" name="Text 4"/>
          <p:cNvSpPr/>
          <p:nvPr/>
        </p:nvSpPr>
        <p:spPr>
          <a:xfrm>
            <a:off x="457200" y="1691640"/>
            <a:ext cx="4023360" cy="27432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LIMITATIONS</a:t>
            </a:r>
            <a:endParaRPr lang="en-US" sz="1000" dirty="0"/>
          </a:p>
        </p:txBody>
      </p:sp>
      <p:sp>
        <p:nvSpPr>
          <p:cNvPr id="7" name="Text 5"/>
          <p:cNvSpPr/>
          <p:nvPr/>
        </p:nvSpPr>
        <p:spPr>
          <a:xfrm>
            <a:off x="4663440" y="1691640"/>
            <a:ext cx="402336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FUTURE WORK</a:t>
            </a:r>
            <a:endParaRPr lang="en-US" sz="1000" dirty="0"/>
          </a:p>
        </p:txBody>
      </p:sp>
      <p:sp>
        <p:nvSpPr>
          <p:cNvPr id="8" name="Shape 6"/>
          <p:cNvSpPr/>
          <p:nvPr/>
        </p:nvSpPr>
        <p:spPr>
          <a:xfrm>
            <a:off x="457200" y="2057400"/>
            <a:ext cx="4023360" cy="868680"/>
          </a:xfrm>
          <a:prstGeom prst="rect">
            <a:avLst/>
          </a:prstGeom>
          <a:solidFill>
            <a:srgbClr val="FBF8F2"/>
          </a:solidFill>
          <a:ln w="6350">
            <a:solidFill>
              <a:srgbClr val="D8CFC0"/>
            </a:solidFill>
            <a:prstDash val="solid"/>
          </a:ln>
        </p:spPr>
        <p:txBody>
          <a:bodyPr/>
          <a:lstStyle/>
          <a:p>
            <a:endParaRPr lang="en-US"/>
          </a:p>
        </p:txBody>
      </p:sp>
      <p:sp>
        <p:nvSpPr>
          <p:cNvPr id="9" name="Shape 7"/>
          <p:cNvSpPr/>
          <p:nvPr/>
        </p:nvSpPr>
        <p:spPr>
          <a:xfrm>
            <a:off x="457200" y="2057400"/>
            <a:ext cx="54864" cy="868680"/>
          </a:xfrm>
          <a:prstGeom prst="rect">
            <a:avLst/>
          </a:prstGeom>
          <a:solidFill>
            <a:srgbClr val="B85042"/>
          </a:solidFill>
          <a:ln w="12700">
            <a:solidFill>
              <a:srgbClr val="B85042"/>
            </a:solidFill>
            <a:prstDash val="solid"/>
          </a:ln>
        </p:spPr>
        <p:txBody>
          <a:bodyPr/>
          <a:lstStyle/>
          <a:p>
            <a:endParaRPr lang="en-US"/>
          </a:p>
        </p:txBody>
      </p:sp>
      <p:sp>
        <p:nvSpPr>
          <p:cNvPr id="10" name="Text 8"/>
          <p:cNvSpPr/>
          <p:nvPr/>
        </p:nvSpPr>
        <p:spPr>
          <a:xfrm>
            <a:off x="640080" y="2148840"/>
            <a:ext cx="3749040" cy="73152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Computational constraints</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Single RTX 5060 Ti  ·  ~2 hr/epoch  ·  capped at 10 epochs</a:t>
            </a:r>
            <a:endParaRPr lang="en-US" sz="1200" dirty="0"/>
          </a:p>
        </p:txBody>
      </p:sp>
      <p:sp>
        <p:nvSpPr>
          <p:cNvPr id="11" name="Text 9"/>
          <p:cNvSpPr/>
          <p:nvPr/>
        </p:nvSpPr>
        <p:spPr>
          <a:xfrm>
            <a:off x="4480560" y="2057400"/>
            <a:ext cx="182880" cy="868680"/>
          </a:xfrm>
          <a:prstGeom prst="rect">
            <a:avLst/>
          </a:prstGeom>
          <a:noFill/>
          <a:ln/>
        </p:spPr>
        <p:txBody>
          <a:bodyPr wrap="square" lIns="0" tIns="0" rIns="0" bIns="0" rtlCol="0" anchor="ctr"/>
          <a:lstStyle/>
          <a:p>
            <a:pPr marL="0" indent="0" algn="ctr">
              <a:buNone/>
            </a:pPr>
            <a:r>
              <a:rPr lang="en-US" sz="1800" b="1" dirty="0">
                <a:solidFill>
                  <a:srgbClr val="888888"/>
                </a:solidFill>
                <a:latin typeface="Georgia" pitchFamily="34" charset="0"/>
                <a:ea typeface="Georgia" pitchFamily="34" charset="-122"/>
                <a:cs typeface="Georgia" pitchFamily="34" charset="-120"/>
              </a:rPr>
              <a:t>→</a:t>
            </a:r>
            <a:endParaRPr lang="en-US" sz="1800" dirty="0"/>
          </a:p>
        </p:txBody>
      </p:sp>
      <p:sp>
        <p:nvSpPr>
          <p:cNvPr id="12" name="Shape 10"/>
          <p:cNvSpPr/>
          <p:nvPr/>
        </p:nvSpPr>
        <p:spPr>
          <a:xfrm>
            <a:off x="4663440" y="2057400"/>
            <a:ext cx="4023360" cy="868680"/>
          </a:xfrm>
          <a:prstGeom prst="rect">
            <a:avLst/>
          </a:prstGeom>
          <a:solidFill>
            <a:srgbClr val="FBF8F2"/>
          </a:solidFill>
          <a:ln w="6350">
            <a:solidFill>
              <a:srgbClr val="D8CFC0"/>
            </a:solidFill>
            <a:prstDash val="solid"/>
          </a:ln>
        </p:spPr>
        <p:txBody>
          <a:bodyPr/>
          <a:lstStyle/>
          <a:p>
            <a:endParaRPr lang="en-US"/>
          </a:p>
        </p:txBody>
      </p:sp>
      <p:sp>
        <p:nvSpPr>
          <p:cNvPr id="13" name="Shape 11"/>
          <p:cNvSpPr/>
          <p:nvPr/>
        </p:nvSpPr>
        <p:spPr>
          <a:xfrm>
            <a:off x="4663440" y="2057400"/>
            <a:ext cx="54864" cy="868680"/>
          </a:xfrm>
          <a:prstGeom prst="rect">
            <a:avLst/>
          </a:prstGeom>
          <a:solidFill>
            <a:srgbClr val="5C7A55"/>
          </a:solidFill>
          <a:ln w="12700">
            <a:solidFill>
              <a:srgbClr val="5C7A55"/>
            </a:solidFill>
            <a:prstDash val="solid"/>
          </a:ln>
        </p:spPr>
        <p:txBody>
          <a:bodyPr/>
          <a:lstStyle/>
          <a:p>
            <a:endParaRPr lang="en-US"/>
          </a:p>
        </p:txBody>
      </p:sp>
      <p:sp>
        <p:nvSpPr>
          <p:cNvPr id="14" name="Text 12"/>
          <p:cNvSpPr/>
          <p:nvPr/>
        </p:nvSpPr>
        <p:spPr>
          <a:xfrm>
            <a:off x="4846320" y="2148840"/>
            <a:ext cx="3749040" cy="73152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Efficiency–accuracy trade-off study</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Inference latency, FLOPs, parameter counts, memory footprint vs. accuracy</a:t>
            </a:r>
            <a:endParaRPr lang="en-US" sz="1200" dirty="0"/>
          </a:p>
        </p:txBody>
      </p:sp>
      <p:sp>
        <p:nvSpPr>
          <p:cNvPr id="15" name="Shape 13"/>
          <p:cNvSpPr/>
          <p:nvPr/>
        </p:nvSpPr>
        <p:spPr>
          <a:xfrm>
            <a:off x="457200" y="2971800"/>
            <a:ext cx="4023360" cy="868680"/>
          </a:xfrm>
          <a:prstGeom prst="rect">
            <a:avLst/>
          </a:prstGeom>
          <a:solidFill>
            <a:srgbClr val="FBF8F2"/>
          </a:solidFill>
          <a:ln w="6350">
            <a:solidFill>
              <a:srgbClr val="D8CFC0"/>
            </a:solidFill>
            <a:prstDash val="solid"/>
          </a:ln>
        </p:spPr>
        <p:txBody>
          <a:bodyPr/>
          <a:lstStyle/>
          <a:p>
            <a:endParaRPr lang="en-US"/>
          </a:p>
        </p:txBody>
      </p:sp>
      <p:sp>
        <p:nvSpPr>
          <p:cNvPr id="16" name="Shape 14"/>
          <p:cNvSpPr/>
          <p:nvPr/>
        </p:nvSpPr>
        <p:spPr>
          <a:xfrm>
            <a:off x="457200" y="2971800"/>
            <a:ext cx="54864" cy="868680"/>
          </a:xfrm>
          <a:prstGeom prst="rect">
            <a:avLst/>
          </a:prstGeom>
          <a:solidFill>
            <a:srgbClr val="B85042"/>
          </a:solidFill>
          <a:ln w="12700">
            <a:solidFill>
              <a:srgbClr val="B85042"/>
            </a:solidFill>
            <a:prstDash val="solid"/>
          </a:ln>
        </p:spPr>
        <p:txBody>
          <a:bodyPr/>
          <a:lstStyle/>
          <a:p>
            <a:endParaRPr lang="en-US"/>
          </a:p>
        </p:txBody>
      </p:sp>
      <p:sp>
        <p:nvSpPr>
          <p:cNvPr id="17" name="Text 15"/>
          <p:cNvSpPr/>
          <p:nvPr/>
        </p:nvSpPr>
        <p:spPr>
          <a:xfrm>
            <a:off x="640080" y="3063240"/>
            <a:ext cx="3749040" cy="73152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Narrow HP study</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Learning-rate-only sweep; no full multi-dimensional tuning</a:t>
            </a:r>
            <a:endParaRPr lang="en-US" sz="1200" dirty="0"/>
          </a:p>
        </p:txBody>
      </p:sp>
      <p:sp>
        <p:nvSpPr>
          <p:cNvPr id="18" name="Text 16"/>
          <p:cNvSpPr/>
          <p:nvPr/>
        </p:nvSpPr>
        <p:spPr>
          <a:xfrm>
            <a:off x="4480560" y="2971800"/>
            <a:ext cx="182880" cy="868680"/>
          </a:xfrm>
          <a:prstGeom prst="rect">
            <a:avLst/>
          </a:prstGeom>
          <a:noFill/>
          <a:ln/>
        </p:spPr>
        <p:txBody>
          <a:bodyPr wrap="square" lIns="0" tIns="0" rIns="0" bIns="0" rtlCol="0" anchor="ctr"/>
          <a:lstStyle/>
          <a:p>
            <a:pPr marL="0" indent="0" algn="ctr">
              <a:buNone/>
            </a:pPr>
            <a:r>
              <a:rPr lang="en-US" sz="1800" b="1" dirty="0">
                <a:solidFill>
                  <a:srgbClr val="888888"/>
                </a:solidFill>
                <a:latin typeface="Georgia" pitchFamily="34" charset="0"/>
                <a:ea typeface="Georgia" pitchFamily="34" charset="-122"/>
                <a:cs typeface="Georgia" pitchFamily="34" charset="-120"/>
              </a:rPr>
              <a:t>→</a:t>
            </a:r>
            <a:endParaRPr lang="en-US" sz="1800" dirty="0"/>
          </a:p>
        </p:txBody>
      </p:sp>
      <p:sp>
        <p:nvSpPr>
          <p:cNvPr id="19" name="Shape 17"/>
          <p:cNvSpPr/>
          <p:nvPr/>
        </p:nvSpPr>
        <p:spPr>
          <a:xfrm>
            <a:off x="4663440" y="2971800"/>
            <a:ext cx="4023360" cy="868680"/>
          </a:xfrm>
          <a:prstGeom prst="rect">
            <a:avLst/>
          </a:prstGeom>
          <a:solidFill>
            <a:srgbClr val="FBF8F2"/>
          </a:solidFill>
          <a:ln w="6350">
            <a:solidFill>
              <a:srgbClr val="D8CFC0"/>
            </a:solidFill>
            <a:prstDash val="solid"/>
          </a:ln>
        </p:spPr>
        <p:txBody>
          <a:bodyPr/>
          <a:lstStyle/>
          <a:p>
            <a:endParaRPr lang="en-US"/>
          </a:p>
        </p:txBody>
      </p:sp>
      <p:sp>
        <p:nvSpPr>
          <p:cNvPr id="20" name="Shape 18"/>
          <p:cNvSpPr/>
          <p:nvPr/>
        </p:nvSpPr>
        <p:spPr>
          <a:xfrm>
            <a:off x="4663440" y="2971800"/>
            <a:ext cx="54864" cy="868680"/>
          </a:xfrm>
          <a:prstGeom prst="rect">
            <a:avLst/>
          </a:prstGeom>
          <a:solidFill>
            <a:srgbClr val="5C7A55"/>
          </a:solidFill>
          <a:ln w="12700">
            <a:solidFill>
              <a:srgbClr val="5C7A55"/>
            </a:solidFill>
            <a:prstDash val="solid"/>
          </a:ln>
        </p:spPr>
        <p:txBody>
          <a:bodyPr/>
          <a:lstStyle/>
          <a:p>
            <a:endParaRPr lang="en-US"/>
          </a:p>
        </p:txBody>
      </p:sp>
      <p:sp>
        <p:nvSpPr>
          <p:cNvPr id="21" name="Text 19"/>
          <p:cNvSpPr/>
          <p:nvPr/>
        </p:nvSpPr>
        <p:spPr>
          <a:xfrm>
            <a:off x="4846320" y="3063240"/>
            <a:ext cx="3749040" cy="73152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Expanded architectural coverage</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Additional backbones per paradigm (e.g. EfficientNet for CNN) to test if hierarchy and failure modes generalise</a:t>
            </a:r>
            <a:endParaRPr lang="en-US" sz="1200" dirty="0"/>
          </a:p>
        </p:txBody>
      </p:sp>
      <p:sp>
        <p:nvSpPr>
          <p:cNvPr id="22" name="Shape 20"/>
          <p:cNvSpPr/>
          <p:nvPr/>
        </p:nvSpPr>
        <p:spPr>
          <a:xfrm>
            <a:off x="457200" y="3886200"/>
            <a:ext cx="4023360" cy="868680"/>
          </a:xfrm>
          <a:prstGeom prst="rect">
            <a:avLst/>
          </a:prstGeom>
          <a:solidFill>
            <a:srgbClr val="FBF8F2"/>
          </a:solidFill>
          <a:ln w="6350">
            <a:solidFill>
              <a:srgbClr val="D8CFC0"/>
            </a:solidFill>
            <a:prstDash val="solid"/>
          </a:ln>
        </p:spPr>
        <p:txBody>
          <a:bodyPr/>
          <a:lstStyle/>
          <a:p>
            <a:endParaRPr lang="en-US"/>
          </a:p>
        </p:txBody>
      </p:sp>
      <p:sp>
        <p:nvSpPr>
          <p:cNvPr id="23" name="Shape 21"/>
          <p:cNvSpPr/>
          <p:nvPr/>
        </p:nvSpPr>
        <p:spPr>
          <a:xfrm>
            <a:off x="457200" y="3886200"/>
            <a:ext cx="54864" cy="868680"/>
          </a:xfrm>
          <a:prstGeom prst="rect">
            <a:avLst/>
          </a:prstGeom>
          <a:solidFill>
            <a:srgbClr val="B85042"/>
          </a:solidFill>
          <a:ln w="12700">
            <a:solidFill>
              <a:srgbClr val="B85042"/>
            </a:solidFill>
            <a:prstDash val="solid"/>
          </a:ln>
        </p:spPr>
        <p:txBody>
          <a:bodyPr/>
          <a:lstStyle/>
          <a:p>
            <a:endParaRPr lang="en-US"/>
          </a:p>
        </p:txBody>
      </p:sp>
      <p:sp>
        <p:nvSpPr>
          <p:cNvPr id="24" name="Text 22"/>
          <p:cNvSpPr/>
          <p:nvPr/>
        </p:nvSpPr>
        <p:spPr>
          <a:xfrm>
            <a:off x="640080" y="3977640"/>
            <a:ext cx="3749040" cy="73152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Human judgement in cleaning</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Final keep / remove / relabel decisions still subjective</a:t>
            </a:r>
            <a:endParaRPr lang="en-US" sz="1200" dirty="0"/>
          </a:p>
        </p:txBody>
      </p:sp>
      <p:sp>
        <p:nvSpPr>
          <p:cNvPr id="25" name="Text 23"/>
          <p:cNvSpPr/>
          <p:nvPr/>
        </p:nvSpPr>
        <p:spPr>
          <a:xfrm>
            <a:off x="4480560" y="3886200"/>
            <a:ext cx="182880" cy="868680"/>
          </a:xfrm>
          <a:prstGeom prst="rect">
            <a:avLst/>
          </a:prstGeom>
          <a:noFill/>
          <a:ln/>
        </p:spPr>
        <p:txBody>
          <a:bodyPr wrap="square" lIns="0" tIns="0" rIns="0" bIns="0" rtlCol="0" anchor="ctr"/>
          <a:lstStyle/>
          <a:p>
            <a:pPr marL="0" indent="0" algn="ctr">
              <a:buNone/>
            </a:pPr>
            <a:r>
              <a:rPr lang="en-US" sz="1800" b="1" dirty="0">
                <a:solidFill>
                  <a:srgbClr val="888888"/>
                </a:solidFill>
                <a:latin typeface="Georgia" pitchFamily="34" charset="0"/>
                <a:ea typeface="Georgia" pitchFamily="34" charset="-122"/>
                <a:cs typeface="Georgia" pitchFamily="34" charset="-120"/>
              </a:rPr>
              <a:t>→</a:t>
            </a:r>
            <a:endParaRPr lang="en-US" sz="1800" dirty="0"/>
          </a:p>
        </p:txBody>
      </p:sp>
      <p:sp>
        <p:nvSpPr>
          <p:cNvPr id="26" name="Shape 24"/>
          <p:cNvSpPr/>
          <p:nvPr/>
        </p:nvSpPr>
        <p:spPr>
          <a:xfrm>
            <a:off x="4663440" y="3886200"/>
            <a:ext cx="4023360" cy="868680"/>
          </a:xfrm>
          <a:prstGeom prst="rect">
            <a:avLst/>
          </a:prstGeom>
          <a:solidFill>
            <a:srgbClr val="FBF8F2"/>
          </a:solidFill>
          <a:ln w="6350">
            <a:solidFill>
              <a:srgbClr val="D8CFC0"/>
            </a:solidFill>
            <a:prstDash val="solid"/>
          </a:ln>
        </p:spPr>
        <p:txBody>
          <a:bodyPr/>
          <a:lstStyle/>
          <a:p>
            <a:endParaRPr lang="en-US"/>
          </a:p>
        </p:txBody>
      </p:sp>
      <p:sp>
        <p:nvSpPr>
          <p:cNvPr id="27" name="Shape 25"/>
          <p:cNvSpPr/>
          <p:nvPr/>
        </p:nvSpPr>
        <p:spPr>
          <a:xfrm>
            <a:off x="4663440" y="3886200"/>
            <a:ext cx="54864" cy="868680"/>
          </a:xfrm>
          <a:prstGeom prst="rect">
            <a:avLst/>
          </a:prstGeom>
          <a:solidFill>
            <a:srgbClr val="5C7A55"/>
          </a:solidFill>
          <a:ln w="12700">
            <a:solidFill>
              <a:srgbClr val="5C7A55"/>
            </a:solidFill>
            <a:prstDash val="solid"/>
          </a:ln>
        </p:spPr>
        <p:txBody>
          <a:bodyPr/>
          <a:lstStyle/>
          <a:p>
            <a:endParaRPr lang="en-US"/>
          </a:p>
        </p:txBody>
      </p:sp>
      <p:sp>
        <p:nvSpPr>
          <p:cNvPr id="28" name="Text 26"/>
          <p:cNvSpPr/>
          <p:nvPr/>
        </p:nvSpPr>
        <p:spPr>
          <a:xfrm>
            <a:off x="4846320" y="3977640"/>
            <a:ext cx="3749040" cy="731520"/>
          </a:xfrm>
          <a:prstGeom prst="rect">
            <a:avLst/>
          </a:prstGeom>
          <a:noFill/>
          <a:ln/>
        </p:spPr>
        <p:txBody>
          <a:bodyPr wrap="square" lIns="0" tIns="0" rIns="0" bIns="0" rtlCol="0" anchor="t"/>
          <a:lstStyle/>
          <a:p>
            <a:pPr marL="0" indent="0">
              <a:spcAft>
                <a:spcPts val="200"/>
              </a:spcAft>
              <a:buNone/>
            </a:pPr>
            <a:r>
              <a:rPr lang="en-US" sz="1200" b="1" dirty="0">
                <a:solidFill>
                  <a:srgbClr val="2B2B2B"/>
                </a:solidFill>
                <a:latin typeface="Calibri" pitchFamily="34" charset="0"/>
                <a:ea typeface="Calibri" pitchFamily="34" charset="-122"/>
                <a:cs typeface="Calibri" pitchFamily="34" charset="-120"/>
              </a:rPr>
              <a:t>End-to-end dietary pipeline</a:t>
            </a:r>
            <a:endParaRPr lang="en-US" sz="1200" dirty="0"/>
          </a:p>
          <a:p>
            <a:pPr marL="0" indent="0">
              <a:spcAft>
                <a:spcPts val="200"/>
              </a:spcAft>
              <a:buNone/>
            </a:pPr>
            <a:r>
              <a:rPr lang="en-US" sz="1000" dirty="0">
                <a:solidFill>
                  <a:srgbClr val="454545"/>
                </a:solidFill>
                <a:latin typeface="Calibri" pitchFamily="34" charset="0"/>
                <a:ea typeface="Calibri" pitchFamily="34" charset="-122"/>
                <a:cs typeface="Calibri" pitchFamily="34" charset="-120"/>
              </a:rPr>
              <a:t>SAM3 segmentation + volume estimation for multi-food images and portion-aware calorie estimation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EB5945-4DB4-0F50-CAD9-3B783E8D14B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752DDD-2427-36B5-A20E-A5F4EA76C70C}"/>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ED44F830-A9B1-19EF-E476-1FA2DCC94AA3}"/>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05  / DEMO</a:t>
            </a:r>
            <a:endParaRPr lang="en-US" sz="1000" dirty="0"/>
          </a:p>
        </p:txBody>
      </p:sp>
      <p:sp>
        <p:nvSpPr>
          <p:cNvPr id="4" name="Text 2">
            <a:extLst>
              <a:ext uri="{FF2B5EF4-FFF2-40B4-BE49-F238E27FC236}">
                <a16:creationId xmlns:a16="http://schemas.microsoft.com/office/drawing/2014/main" id="{27007735-71C0-356E-44B0-3C0B7A5E09BB}"/>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31 / 32</a:t>
            </a:r>
            <a:endParaRPr lang="en-US" sz="900" dirty="0"/>
          </a:p>
        </p:txBody>
      </p:sp>
      <p:sp>
        <p:nvSpPr>
          <p:cNvPr id="5" name="Text 3">
            <a:extLst>
              <a:ext uri="{FF2B5EF4-FFF2-40B4-BE49-F238E27FC236}">
                <a16:creationId xmlns:a16="http://schemas.microsoft.com/office/drawing/2014/main" id="{EFA32B85-F984-FD1B-7DB9-0F0110C86492}"/>
              </a:ext>
            </a:extLst>
          </p:cNvPr>
          <p:cNvSpPr/>
          <p:nvPr/>
        </p:nvSpPr>
        <p:spPr>
          <a:xfrm>
            <a:off x="457200" y="914400"/>
            <a:ext cx="8229600" cy="413108"/>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From methodology to MVP</a:t>
            </a:r>
            <a:endParaRPr lang="en-US" sz="2600" dirty="0"/>
          </a:p>
        </p:txBody>
      </p:sp>
      <p:sp>
        <p:nvSpPr>
          <p:cNvPr id="22" name="Text 20">
            <a:extLst>
              <a:ext uri="{FF2B5EF4-FFF2-40B4-BE49-F238E27FC236}">
                <a16:creationId xmlns:a16="http://schemas.microsoft.com/office/drawing/2014/main" id="{8C032A69-0715-6304-71E2-D77BAEB1DC01}"/>
              </a:ext>
            </a:extLst>
          </p:cNvPr>
          <p:cNvSpPr/>
          <p:nvPr/>
        </p:nvSpPr>
        <p:spPr>
          <a:xfrm>
            <a:off x="597827" y="2159543"/>
            <a:ext cx="4236367" cy="342573"/>
          </a:xfrm>
          <a:prstGeom prst="rect">
            <a:avLst/>
          </a:prstGeom>
          <a:noFill/>
          <a:ln/>
        </p:spPr>
        <p:txBody>
          <a:bodyPr wrap="square" lIns="0" tIns="0" rIns="0" bIns="0" rtlCol="0" anchor="ctr"/>
          <a:lstStyle/>
          <a:p>
            <a:pPr marL="0" indent="0">
              <a:buNone/>
            </a:pPr>
            <a:r>
              <a:rPr lang="en-US" sz="900" b="1" kern="0" spc="400" dirty="0">
                <a:solidFill>
                  <a:srgbClr val="5C7A55"/>
                </a:solidFill>
                <a:latin typeface="Calibri" pitchFamily="34" charset="0"/>
                <a:ea typeface="Calibri" pitchFamily="34" charset="-122"/>
                <a:cs typeface="Calibri" pitchFamily="34" charset="-120"/>
              </a:rPr>
              <a:t>NUTRITIONAL DATABASE</a:t>
            </a:r>
            <a:endParaRPr lang="en-US" sz="900" dirty="0"/>
          </a:p>
        </p:txBody>
      </p:sp>
      <p:sp>
        <p:nvSpPr>
          <p:cNvPr id="23" name="Text 21">
            <a:extLst>
              <a:ext uri="{FF2B5EF4-FFF2-40B4-BE49-F238E27FC236}">
                <a16:creationId xmlns:a16="http://schemas.microsoft.com/office/drawing/2014/main" id="{C0CA17C6-90D3-BC92-59EB-3C6CC35B870D}"/>
              </a:ext>
            </a:extLst>
          </p:cNvPr>
          <p:cNvSpPr/>
          <p:nvPr/>
        </p:nvSpPr>
        <p:spPr>
          <a:xfrm>
            <a:off x="619242" y="2286217"/>
            <a:ext cx="4236367" cy="456765"/>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Singapore HPB</a:t>
            </a:r>
            <a:endParaRPr lang="en-US" sz="1600" dirty="0"/>
          </a:p>
        </p:txBody>
      </p:sp>
      <p:sp>
        <p:nvSpPr>
          <p:cNvPr id="26" name="Text 24">
            <a:extLst>
              <a:ext uri="{FF2B5EF4-FFF2-40B4-BE49-F238E27FC236}">
                <a16:creationId xmlns:a16="http://schemas.microsoft.com/office/drawing/2014/main" id="{0B9F3D91-382B-037E-C785-DB4BA956B0B4}"/>
              </a:ext>
            </a:extLst>
          </p:cNvPr>
          <p:cNvSpPr/>
          <p:nvPr/>
        </p:nvSpPr>
        <p:spPr>
          <a:xfrm>
            <a:off x="4754880" y="2187926"/>
            <a:ext cx="36576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MOBILE APP MVP</a:t>
            </a:r>
            <a:endParaRPr lang="en-US" sz="900" dirty="0"/>
          </a:p>
        </p:txBody>
      </p:sp>
      <p:sp>
        <p:nvSpPr>
          <p:cNvPr id="27" name="Text 25">
            <a:extLst>
              <a:ext uri="{FF2B5EF4-FFF2-40B4-BE49-F238E27FC236}">
                <a16:creationId xmlns:a16="http://schemas.microsoft.com/office/drawing/2014/main" id="{2F2DDD02-EAB3-F3E1-8F79-1E37512F7022}"/>
              </a:ext>
            </a:extLst>
          </p:cNvPr>
          <p:cNvSpPr/>
          <p:nvPr/>
        </p:nvSpPr>
        <p:spPr>
          <a:xfrm>
            <a:off x="4754880" y="2331719"/>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Three core screens</a:t>
            </a:r>
            <a:endParaRPr lang="en-US" sz="1600" dirty="0"/>
          </a:p>
        </p:txBody>
      </p:sp>
      <p:pic>
        <p:nvPicPr>
          <p:cNvPr id="32" name="Picture 31">
            <a:extLst>
              <a:ext uri="{FF2B5EF4-FFF2-40B4-BE49-F238E27FC236}">
                <a16:creationId xmlns:a16="http://schemas.microsoft.com/office/drawing/2014/main" id="{9B6B70FE-963B-57D4-7341-F3364C8B1F22}"/>
              </a:ext>
            </a:extLst>
          </p:cNvPr>
          <p:cNvPicPr>
            <a:picLocks noChangeAspect="1"/>
          </p:cNvPicPr>
          <p:nvPr/>
        </p:nvPicPr>
        <p:blipFill>
          <a:blip r:embed="rId3"/>
          <a:stretch>
            <a:fillRect/>
          </a:stretch>
        </p:blipFill>
        <p:spPr>
          <a:xfrm>
            <a:off x="530352" y="2753728"/>
            <a:ext cx="3902740" cy="1822708"/>
          </a:xfrm>
          <a:prstGeom prst="rect">
            <a:avLst/>
          </a:prstGeom>
        </p:spPr>
      </p:pic>
      <p:pic>
        <p:nvPicPr>
          <p:cNvPr id="34" name="Picture 33">
            <a:extLst>
              <a:ext uri="{FF2B5EF4-FFF2-40B4-BE49-F238E27FC236}">
                <a16:creationId xmlns:a16="http://schemas.microsoft.com/office/drawing/2014/main" id="{733A2B89-A5E6-6F35-BF54-045ECD9F2C3E}"/>
              </a:ext>
            </a:extLst>
          </p:cNvPr>
          <p:cNvPicPr>
            <a:picLocks noChangeAspect="1"/>
          </p:cNvPicPr>
          <p:nvPr/>
        </p:nvPicPr>
        <p:blipFill>
          <a:blip r:embed="rId4"/>
          <a:stretch>
            <a:fillRect/>
          </a:stretch>
        </p:blipFill>
        <p:spPr>
          <a:xfrm>
            <a:off x="4704387" y="2710351"/>
            <a:ext cx="3708093" cy="2227409"/>
          </a:xfrm>
          <a:prstGeom prst="rect">
            <a:avLst/>
          </a:prstGeom>
        </p:spPr>
      </p:pic>
      <p:pic>
        <p:nvPicPr>
          <p:cNvPr id="40" name="Picture 39">
            <a:extLst>
              <a:ext uri="{FF2B5EF4-FFF2-40B4-BE49-F238E27FC236}">
                <a16:creationId xmlns:a16="http://schemas.microsoft.com/office/drawing/2014/main" id="{C28A0791-0E09-2B03-1F75-8FC43CF42067}"/>
              </a:ext>
            </a:extLst>
          </p:cNvPr>
          <p:cNvPicPr>
            <a:picLocks noChangeAspect="1"/>
          </p:cNvPicPr>
          <p:nvPr/>
        </p:nvPicPr>
        <p:blipFill>
          <a:blip r:embed="rId5"/>
          <a:stretch>
            <a:fillRect/>
          </a:stretch>
        </p:blipFill>
        <p:spPr>
          <a:xfrm>
            <a:off x="892749" y="1327508"/>
            <a:ext cx="7267062" cy="780356"/>
          </a:xfrm>
          <a:prstGeom prst="rect">
            <a:avLst/>
          </a:prstGeom>
        </p:spPr>
      </p:pic>
    </p:spTree>
    <p:extLst>
      <p:ext uri="{BB962C8B-B14F-4D97-AF65-F5344CB8AC3E}">
        <p14:creationId xmlns:p14="http://schemas.microsoft.com/office/powerpoint/2010/main" val="480690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640080" y="1554480"/>
            <a:ext cx="109728" cy="210312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960120" y="1554480"/>
            <a:ext cx="7315200" cy="365760"/>
          </a:xfrm>
          <a:prstGeom prst="rect">
            <a:avLst/>
          </a:prstGeom>
          <a:noFill/>
          <a:ln/>
        </p:spPr>
        <p:txBody>
          <a:bodyPr wrap="square" lIns="0" tIns="0" rIns="0" bIns="0" rtlCol="0" anchor="t"/>
          <a:lstStyle/>
          <a:p>
            <a:pPr marL="0" indent="0">
              <a:buNone/>
            </a:pPr>
            <a:r>
              <a:rPr lang="en-US" sz="1100" b="1" kern="0" spc="600" dirty="0">
                <a:solidFill>
                  <a:srgbClr val="B85042"/>
                </a:solidFill>
                <a:latin typeface="Calibri" pitchFamily="34" charset="0"/>
                <a:ea typeface="Calibri" pitchFamily="34" charset="-122"/>
                <a:cs typeface="Calibri" pitchFamily="34" charset="-120"/>
              </a:rPr>
              <a:t>CCDS25-0476  /  Q&amp;A</a:t>
            </a:r>
            <a:endParaRPr lang="en-US" sz="1100" dirty="0"/>
          </a:p>
        </p:txBody>
      </p:sp>
      <p:sp>
        <p:nvSpPr>
          <p:cNvPr id="4" name="Text 2"/>
          <p:cNvSpPr/>
          <p:nvPr/>
        </p:nvSpPr>
        <p:spPr>
          <a:xfrm>
            <a:off x="960120" y="1965960"/>
            <a:ext cx="7315200" cy="914400"/>
          </a:xfrm>
          <a:prstGeom prst="rect">
            <a:avLst/>
          </a:prstGeom>
          <a:noFill/>
          <a:ln/>
        </p:spPr>
        <p:txBody>
          <a:bodyPr wrap="square" lIns="0" tIns="0" rIns="0" bIns="0" rtlCol="0" anchor="t"/>
          <a:lstStyle/>
          <a:p>
            <a:pPr marL="0" indent="0">
              <a:buNone/>
            </a:pPr>
            <a:r>
              <a:rPr lang="en-US" sz="6000" b="1" dirty="0">
                <a:solidFill>
                  <a:srgbClr val="FFFFFF"/>
                </a:solidFill>
                <a:latin typeface="Georgia" pitchFamily="34" charset="0"/>
                <a:ea typeface="Georgia" pitchFamily="34" charset="-122"/>
                <a:cs typeface="Georgia" pitchFamily="34" charset="-120"/>
              </a:rPr>
              <a:t>Thank you.</a:t>
            </a:r>
            <a:endParaRPr lang="en-US" sz="6000" dirty="0"/>
          </a:p>
        </p:txBody>
      </p:sp>
      <p:sp>
        <p:nvSpPr>
          <p:cNvPr id="5" name="Text 3"/>
          <p:cNvSpPr/>
          <p:nvPr/>
        </p:nvSpPr>
        <p:spPr>
          <a:xfrm>
            <a:off x="960120" y="3017520"/>
            <a:ext cx="7315200" cy="548640"/>
          </a:xfrm>
          <a:prstGeom prst="rect">
            <a:avLst/>
          </a:prstGeom>
          <a:noFill/>
          <a:ln/>
        </p:spPr>
        <p:txBody>
          <a:bodyPr wrap="square" lIns="0" tIns="0" rIns="0" bIns="0" rtlCol="0" anchor="t"/>
          <a:lstStyle/>
          <a:p>
            <a:pPr marL="0" indent="0">
              <a:buNone/>
            </a:pPr>
            <a:r>
              <a:rPr lang="en-US" sz="2400" i="1" dirty="0">
                <a:solidFill>
                  <a:srgbClr val="BBBBBB"/>
                </a:solidFill>
                <a:latin typeface="Georgia" pitchFamily="34" charset="0"/>
                <a:ea typeface="Georgia" pitchFamily="34" charset="-122"/>
                <a:cs typeface="Georgia" pitchFamily="34" charset="-120"/>
              </a:rPr>
              <a:t>Questions?</a:t>
            </a:r>
            <a:endParaRPr lang="en-US" sz="2400" dirty="0"/>
          </a:p>
        </p:txBody>
      </p:sp>
      <p:sp>
        <p:nvSpPr>
          <p:cNvPr id="6" name="Text 4"/>
          <p:cNvSpPr/>
          <p:nvPr/>
        </p:nvSpPr>
        <p:spPr>
          <a:xfrm>
            <a:off x="960120" y="4206240"/>
            <a:ext cx="7315200" cy="548640"/>
          </a:xfrm>
          <a:prstGeom prst="rect">
            <a:avLst/>
          </a:prstGeom>
          <a:noFill/>
          <a:ln/>
        </p:spPr>
        <p:txBody>
          <a:bodyPr wrap="square" lIns="0" tIns="0" rIns="0" bIns="0" rtlCol="0" anchor="t"/>
          <a:lstStyle/>
          <a:p>
            <a:pPr marL="0" indent="0">
              <a:spcAft>
                <a:spcPts val="400"/>
              </a:spcAft>
              <a:buNone/>
            </a:pPr>
            <a:r>
              <a:rPr lang="en-US" sz="1100" i="1" dirty="0">
                <a:solidFill>
                  <a:srgbClr val="AAAAAA"/>
                </a:solidFill>
                <a:latin typeface="Calibri" pitchFamily="34" charset="0"/>
                <a:ea typeface="Calibri" pitchFamily="34" charset="-122"/>
                <a:cs typeface="Calibri" pitchFamily="34" charset="-120"/>
              </a:rPr>
              <a:t>Building a Food Recognition and Classification Model to Count Calories</a:t>
            </a:r>
            <a:endParaRPr lang="en-US" sz="1100" dirty="0"/>
          </a:p>
          <a:p>
            <a:pPr marL="0" indent="0">
              <a:spcAft>
                <a:spcPts val="400"/>
              </a:spcAft>
              <a:buNone/>
            </a:pPr>
            <a:r>
              <a:rPr lang="en-US" sz="1000" dirty="0">
                <a:solidFill>
                  <a:srgbClr val="888888"/>
                </a:solidFill>
                <a:latin typeface="Calibri" pitchFamily="34" charset="0"/>
                <a:ea typeface="Calibri" pitchFamily="34" charset="-122"/>
                <a:cs typeface="Calibri" pitchFamily="34" charset="-120"/>
              </a:rPr>
              <a:t>Lim Xin Wei  ·  U2240093B  ·  College of Computing and Data Science, NTU</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7D60EA1D-4BE6-F043-7A43-EE718C50988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DA9773-9F98-BD77-6961-207BB33B530E}"/>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A647ABBF-13EC-069C-5CD8-7F854F2FD2B6}"/>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01  /  PROBLEM &amp; MOTIVATION</a:t>
            </a:r>
            <a:endParaRPr lang="en-US" sz="1000" dirty="0"/>
          </a:p>
        </p:txBody>
      </p:sp>
      <p:sp>
        <p:nvSpPr>
          <p:cNvPr id="4" name="Text 2">
            <a:extLst>
              <a:ext uri="{FF2B5EF4-FFF2-40B4-BE49-F238E27FC236}">
                <a16:creationId xmlns:a16="http://schemas.microsoft.com/office/drawing/2014/main" id="{B60B7793-5AF1-42E0-CB5B-937ACF4A59D1}"/>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5 / 24</a:t>
            </a:r>
            <a:endParaRPr lang="en-US" sz="900" dirty="0"/>
          </a:p>
        </p:txBody>
      </p:sp>
      <p:sp>
        <p:nvSpPr>
          <p:cNvPr id="5" name="Text 3">
            <a:extLst>
              <a:ext uri="{FF2B5EF4-FFF2-40B4-BE49-F238E27FC236}">
                <a16:creationId xmlns:a16="http://schemas.microsoft.com/office/drawing/2014/main" id="{2A75B995-B3FF-F2A2-A939-140CBBD79155}"/>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What makes food classification hard</a:t>
            </a:r>
            <a:endParaRPr lang="en-US" sz="2600" dirty="0"/>
          </a:p>
        </p:txBody>
      </p:sp>
      <p:sp>
        <p:nvSpPr>
          <p:cNvPr id="6" name="Shape 4">
            <a:extLst>
              <a:ext uri="{FF2B5EF4-FFF2-40B4-BE49-F238E27FC236}">
                <a16:creationId xmlns:a16="http://schemas.microsoft.com/office/drawing/2014/main" id="{31C56C20-7733-EF65-2AD9-58D6038A8FB6}"/>
              </a:ext>
            </a:extLst>
          </p:cNvPr>
          <p:cNvSpPr/>
          <p:nvPr/>
        </p:nvSpPr>
        <p:spPr>
          <a:xfrm>
            <a:off x="457200" y="1508760"/>
            <a:ext cx="4023360" cy="1463040"/>
          </a:xfrm>
          <a:prstGeom prst="rect">
            <a:avLst/>
          </a:prstGeom>
          <a:solidFill>
            <a:srgbClr val="FBF8F2"/>
          </a:solidFill>
          <a:ln w="6350">
            <a:solidFill>
              <a:srgbClr val="D8CFC0"/>
            </a:solidFill>
            <a:prstDash val="solid"/>
          </a:ln>
        </p:spPr>
        <p:txBody>
          <a:bodyPr/>
          <a:lstStyle/>
          <a:p>
            <a:endParaRPr lang="en-US"/>
          </a:p>
        </p:txBody>
      </p:sp>
      <p:sp>
        <p:nvSpPr>
          <p:cNvPr id="7" name="Text 5">
            <a:extLst>
              <a:ext uri="{FF2B5EF4-FFF2-40B4-BE49-F238E27FC236}">
                <a16:creationId xmlns:a16="http://schemas.microsoft.com/office/drawing/2014/main" id="{534C470B-B7EF-8ACA-DB61-F5D7C83D18BF}"/>
              </a:ext>
            </a:extLst>
          </p:cNvPr>
          <p:cNvSpPr/>
          <p:nvPr/>
        </p:nvSpPr>
        <p:spPr>
          <a:xfrm>
            <a:off x="640080" y="1645920"/>
            <a:ext cx="3657600" cy="274320"/>
          </a:xfrm>
          <a:prstGeom prst="rect">
            <a:avLst/>
          </a:prstGeom>
          <a:noFill/>
          <a:ln/>
        </p:spPr>
        <p:txBody>
          <a:bodyPr wrap="square" lIns="0" tIns="0" rIns="0" bIns="0" rtlCol="0" anchor="ctr"/>
          <a:lstStyle/>
          <a:p>
            <a:pPr marL="0" indent="0">
              <a:buNone/>
            </a:pPr>
            <a:r>
              <a:rPr lang="en-US" sz="900" b="1" kern="0" spc="300" dirty="0">
                <a:solidFill>
                  <a:srgbClr val="B85042"/>
                </a:solidFill>
                <a:latin typeface="Calibri" pitchFamily="34" charset="0"/>
                <a:ea typeface="Calibri" pitchFamily="34" charset="-122"/>
                <a:cs typeface="Calibri" pitchFamily="34" charset="-120"/>
              </a:rPr>
              <a:t>HIGH INTRA-CLASS VARIATION</a:t>
            </a:r>
            <a:endParaRPr lang="en-US" sz="900" dirty="0"/>
          </a:p>
        </p:txBody>
      </p:sp>
      <p:sp>
        <p:nvSpPr>
          <p:cNvPr id="8" name="Text 6">
            <a:extLst>
              <a:ext uri="{FF2B5EF4-FFF2-40B4-BE49-F238E27FC236}">
                <a16:creationId xmlns:a16="http://schemas.microsoft.com/office/drawing/2014/main" id="{465681F8-1B54-AD17-398C-F61048541E3A}"/>
              </a:ext>
            </a:extLst>
          </p:cNvPr>
          <p:cNvSpPr/>
          <p:nvPr/>
        </p:nvSpPr>
        <p:spPr>
          <a:xfrm>
            <a:off x="640080" y="1965960"/>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Same dish, very different presentations</a:t>
            </a:r>
            <a:endParaRPr lang="en-US" sz="1600" dirty="0"/>
          </a:p>
        </p:txBody>
      </p:sp>
      <p:sp>
        <p:nvSpPr>
          <p:cNvPr id="9" name="Text 7">
            <a:extLst>
              <a:ext uri="{FF2B5EF4-FFF2-40B4-BE49-F238E27FC236}">
                <a16:creationId xmlns:a16="http://schemas.microsoft.com/office/drawing/2014/main" id="{C6C5D19D-F2B5-ACF0-B7BC-199233FDE540}"/>
              </a:ext>
            </a:extLst>
          </p:cNvPr>
          <p:cNvSpPr/>
          <p:nvPr/>
        </p:nvSpPr>
        <p:spPr>
          <a:xfrm>
            <a:off x="640080" y="2377440"/>
            <a:ext cx="3657600" cy="502920"/>
          </a:xfrm>
          <a:prstGeom prst="rect">
            <a:avLst/>
          </a:prstGeom>
          <a:noFill/>
          <a:ln/>
        </p:spPr>
        <p:txBody>
          <a:bodyPr wrap="square" lIns="0" tIns="0" rIns="0" bIns="0" rtlCol="0" anchor="ctr"/>
          <a:lstStyle/>
          <a:p>
            <a:pPr marL="0" indent="0">
              <a:buNone/>
            </a:pPr>
            <a:r>
              <a:rPr lang="en-US" sz="1200" dirty="0">
                <a:solidFill>
                  <a:srgbClr val="454545"/>
                </a:solidFill>
                <a:latin typeface="Calibri" pitchFamily="34" charset="0"/>
                <a:ea typeface="Calibri" pitchFamily="34" charset="-122"/>
                <a:cs typeface="Calibri" pitchFamily="34" charset="-120"/>
              </a:rPr>
              <a:t>Variations in plating, garnish, cooking style, lighting, angle, and occlusion within a single class.</a:t>
            </a:r>
            <a:endParaRPr lang="en-US" sz="1200" dirty="0"/>
          </a:p>
        </p:txBody>
      </p:sp>
      <p:sp>
        <p:nvSpPr>
          <p:cNvPr id="10" name="Shape 8">
            <a:extLst>
              <a:ext uri="{FF2B5EF4-FFF2-40B4-BE49-F238E27FC236}">
                <a16:creationId xmlns:a16="http://schemas.microsoft.com/office/drawing/2014/main" id="{D3C3D30F-B1F6-9B5F-AF49-C9D75CCB450F}"/>
              </a:ext>
            </a:extLst>
          </p:cNvPr>
          <p:cNvSpPr/>
          <p:nvPr/>
        </p:nvSpPr>
        <p:spPr>
          <a:xfrm>
            <a:off x="457200" y="3429000"/>
            <a:ext cx="4023360" cy="1463040"/>
          </a:xfrm>
          <a:prstGeom prst="rect">
            <a:avLst/>
          </a:prstGeom>
          <a:solidFill>
            <a:srgbClr val="FBF8F2"/>
          </a:solidFill>
          <a:ln w="6350">
            <a:solidFill>
              <a:srgbClr val="D8CFC0"/>
            </a:solidFill>
            <a:prstDash val="solid"/>
          </a:ln>
        </p:spPr>
        <p:txBody>
          <a:bodyPr/>
          <a:lstStyle/>
          <a:p>
            <a:endParaRPr lang="en-US"/>
          </a:p>
        </p:txBody>
      </p:sp>
      <p:sp>
        <p:nvSpPr>
          <p:cNvPr id="11" name="Text 9">
            <a:extLst>
              <a:ext uri="{FF2B5EF4-FFF2-40B4-BE49-F238E27FC236}">
                <a16:creationId xmlns:a16="http://schemas.microsoft.com/office/drawing/2014/main" id="{3745D3CE-8E2D-A316-CD3B-67C1E8F28BB4}"/>
              </a:ext>
            </a:extLst>
          </p:cNvPr>
          <p:cNvSpPr/>
          <p:nvPr/>
        </p:nvSpPr>
        <p:spPr>
          <a:xfrm>
            <a:off x="640080" y="3566160"/>
            <a:ext cx="3657600" cy="274320"/>
          </a:xfrm>
          <a:prstGeom prst="rect">
            <a:avLst/>
          </a:prstGeom>
          <a:noFill/>
          <a:ln/>
        </p:spPr>
        <p:txBody>
          <a:bodyPr wrap="square" lIns="0" tIns="0" rIns="0" bIns="0" rtlCol="0" anchor="ctr"/>
          <a:lstStyle/>
          <a:p>
            <a:pPr marL="0" indent="0">
              <a:buNone/>
            </a:pPr>
            <a:r>
              <a:rPr lang="en-US" sz="900" b="1" kern="0" spc="300" dirty="0">
                <a:solidFill>
                  <a:srgbClr val="5C7A55"/>
                </a:solidFill>
                <a:latin typeface="Calibri" pitchFamily="34" charset="0"/>
                <a:ea typeface="Calibri" pitchFamily="34" charset="-122"/>
                <a:cs typeface="Calibri" pitchFamily="34" charset="-120"/>
              </a:rPr>
              <a:t>LOW INTER-CLASS VARIATION</a:t>
            </a:r>
            <a:endParaRPr lang="en-US" sz="900" dirty="0"/>
          </a:p>
        </p:txBody>
      </p:sp>
      <p:sp>
        <p:nvSpPr>
          <p:cNvPr id="12" name="Text 10">
            <a:extLst>
              <a:ext uri="{FF2B5EF4-FFF2-40B4-BE49-F238E27FC236}">
                <a16:creationId xmlns:a16="http://schemas.microsoft.com/office/drawing/2014/main" id="{4B34D75B-FC2B-63E6-7D60-DFD26AD5F510}"/>
              </a:ext>
            </a:extLst>
          </p:cNvPr>
          <p:cNvSpPr/>
          <p:nvPr/>
        </p:nvSpPr>
        <p:spPr>
          <a:xfrm>
            <a:off x="640080" y="3886200"/>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Different dishes, very similar appearance</a:t>
            </a:r>
            <a:endParaRPr lang="en-US" sz="1600" dirty="0"/>
          </a:p>
        </p:txBody>
      </p:sp>
      <p:sp>
        <p:nvSpPr>
          <p:cNvPr id="13" name="Text 11">
            <a:extLst>
              <a:ext uri="{FF2B5EF4-FFF2-40B4-BE49-F238E27FC236}">
                <a16:creationId xmlns:a16="http://schemas.microsoft.com/office/drawing/2014/main" id="{A2016EEE-1486-A8C3-6566-2009585FD237}"/>
              </a:ext>
            </a:extLst>
          </p:cNvPr>
          <p:cNvSpPr/>
          <p:nvPr/>
        </p:nvSpPr>
        <p:spPr>
          <a:xfrm>
            <a:off x="640080" y="4297680"/>
            <a:ext cx="3657600" cy="502920"/>
          </a:xfrm>
          <a:prstGeom prst="rect">
            <a:avLst/>
          </a:prstGeom>
          <a:noFill/>
          <a:ln/>
        </p:spPr>
        <p:txBody>
          <a:bodyPr wrap="square" lIns="0" tIns="0" rIns="0" bIns="0" rtlCol="0" anchor="ctr"/>
          <a:lstStyle/>
          <a:p>
            <a:pPr marL="0" indent="0">
              <a:buNone/>
            </a:pPr>
            <a:r>
              <a:rPr lang="en-US" sz="1200" i="1" dirty="0">
                <a:solidFill>
                  <a:srgbClr val="888888"/>
                </a:solidFill>
                <a:latin typeface="Calibri" pitchFamily="34" charset="0"/>
                <a:ea typeface="Calibri" pitchFamily="34" charset="-122"/>
                <a:cs typeface="Calibri" pitchFamily="34" charset="-120"/>
              </a:rPr>
              <a:t>e.g. </a:t>
            </a:r>
            <a:r>
              <a:rPr lang="en-US" sz="1200" dirty="0">
                <a:solidFill>
                  <a:srgbClr val="454545"/>
                </a:solidFill>
                <a:latin typeface="Calibri" pitchFamily="34" charset="0"/>
                <a:ea typeface="Calibri" pitchFamily="34" charset="-122"/>
                <a:cs typeface="Calibri" pitchFamily="34" charset="-120"/>
              </a:rPr>
              <a:t>chicken rice vs. roasted duck rice</a:t>
            </a:r>
            <a:r>
              <a:rPr lang="en-US" sz="1200" dirty="0">
                <a:solidFill>
                  <a:srgbClr val="D8CFC0"/>
                </a:solidFill>
                <a:latin typeface="Calibri" pitchFamily="34" charset="0"/>
                <a:ea typeface="Calibri" pitchFamily="34" charset="-122"/>
                <a:cs typeface="Calibri" pitchFamily="34" charset="-120"/>
              </a:rPr>
              <a:t>  ·  </a:t>
            </a:r>
            <a:r>
              <a:rPr lang="en-US" sz="1200" dirty="0">
                <a:solidFill>
                  <a:srgbClr val="454545"/>
                </a:solidFill>
                <a:latin typeface="Calibri" pitchFamily="34" charset="0"/>
                <a:ea typeface="Calibri" pitchFamily="34" charset="-122"/>
                <a:cs typeface="Calibri" pitchFamily="34" charset="-120"/>
              </a:rPr>
              <a:t>laksa vs. tom yum</a:t>
            </a:r>
            <a:endParaRPr lang="en-US" sz="1200" dirty="0"/>
          </a:p>
        </p:txBody>
      </p:sp>
      <p:pic>
        <p:nvPicPr>
          <p:cNvPr id="15" name="Picture 14">
            <a:extLst>
              <a:ext uri="{FF2B5EF4-FFF2-40B4-BE49-F238E27FC236}">
                <a16:creationId xmlns:a16="http://schemas.microsoft.com/office/drawing/2014/main" id="{830320CB-4DDD-E053-2C99-D76E0F256158}"/>
              </a:ext>
            </a:extLst>
          </p:cNvPr>
          <p:cNvPicPr>
            <a:picLocks noChangeAspect="1"/>
          </p:cNvPicPr>
          <p:nvPr/>
        </p:nvPicPr>
        <p:blipFill>
          <a:blip r:embed="rId3"/>
          <a:stretch>
            <a:fillRect/>
          </a:stretch>
        </p:blipFill>
        <p:spPr>
          <a:xfrm>
            <a:off x="4953105" y="3451861"/>
            <a:ext cx="1871874" cy="1247916"/>
          </a:xfrm>
          <a:prstGeom prst="rect">
            <a:avLst/>
          </a:prstGeom>
        </p:spPr>
      </p:pic>
      <p:pic>
        <p:nvPicPr>
          <p:cNvPr id="17" name="Picture 16">
            <a:extLst>
              <a:ext uri="{FF2B5EF4-FFF2-40B4-BE49-F238E27FC236}">
                <a16:creationId xmlns:a16="http://schemas.microsoft.com/office/drawing/2014/main" id="{DD3B36FB-2F2C-72DB-3DF7-48FEBB9A7795}"/>
              </a:ext>
            </a:extLst>
          </p:cNvPr>
          <p:cNvPicPr>
            <a:picLocks noChangeAspect="1"/>
          </p:cNvPicPr>
          <p:nvPr/>
        </p:nvPicPr>
        <p:blipFill>
          <a:blip r:embed="rId4"/>
          <a:stretch>
            <a:fillRect/>
          </a:stretch>
        </p:blipFill>
        <p:spPr>
          <a:xfrm>
            <a:off x="6997805" y="3422612"/>
            <a:ext cx="1871875" cy="1377988"/>
          </a:xfrm>
          <a:prstGeom prst="rect">
            <a:avLst/>
          </a:prstGeom>
        </p:spPr>
      </p:pic>
      <p:pic>
        <p:nvPicPr>
          <p:cNvPr id="20" name="Picture 19">
            <a:extLst>
              <a:ext uri="{FF2B5EF4-FFF2-40B4-BE49-F238E27FC236}">
                <a16:creationId xmlns:a16="http://schemas.microsoft.com/office/drawing/2014/main" id="{D9274FC1-7D36-C5D0-7B7B-D586AA8ED492}"/>
              </a:ext>
            </a:extLst>
          </p:cNvPr>
          <p:cNvPicPr>
            <a:picLocks noChangeAspect="1"/>
          </p:cNvPicPr>
          <p:nvPr/>
        </p:nvPicPr>
        <p:blipFill>
          <a:blip r:embed="rId5"/>
          <a:stretch>
            <a:fillRect/>
          </a:stretch>
        </p:blipFill>
        <p:spPr>
          <a:xfrm>
            <a:off x="4953105" y="1497330"/>
            <a:ext cx="1851660" cy="1851660"/>
          </a:xfrm>
          <a:prstGeom prst="rect">
            <a:avLst/>
          </a:prstGeom>
        </p:spPr>
      </p:pic>
      <p:pic>
        <p:nvPicPr>
          <p:cNvPr id="22" name="Picture 21">
            <a:extLst>
              <a:ext uri="{FF2B5EF4-FFF2-40B4-BE49-F238E27FC236}">
                <a16:creationId xmlns:a16="http://schemas.microsoft.com/office/drawing/2014/main" id="{C37B3C45-9A6A-1FC2-9716-6BF170C7143A}"/>
              </a:ext>
            </a:extLst>
          </p:cNvPr>
          <p:cNvPicPr>
            <a:picLocks noChangeAspect="1"/>
          </p:cNvPicPr>
          <p:nvPr/>
        </p:nvPicPr>
        <p:blipFill>
          <a:blip r:embed="rId6"/>
          <a:stretch>
            <a:fillRect/>
          </a:stretch>
        </p:blipFill>
        <p:spPr>
          <a:xfrm>
            <a:off x="6941925" y="1515110"/>
            <a:ext cx="1851660" cy="1851660"/>
          </a:xfrm>
          <a:prstGeom prst="rect">
            <a:avLst/>
          </a:prstGeom>
        </p:spPr>
      </p:pic>
    </p:spTree>
    <p:extLst>
      <p:ext uri="{BB962C8B-B14F-4D97-AF65-F5344CB8AC3E}">
        <p14:creationId xmlns:p14="http://schemas.microsoft.com/office/powerpoint/2010/main" val="2544829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BDBF98FC-D201-CD08-C925-0CA4801113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81F9A9-9766-A670-772A-515F880981AF}"/>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E52271BD-8C05-83AC-4C61-472D0384EE6D}"/>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0857E65C-4D56-A525-75EA-561C3A1C4B40}"/>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6 / 24</a:t>
            </a:r>
            <a:endParaRPr lang="en-US" sz="900" dirty="0"/>
          </a:p>
        </p:txBody>
      </p:sp>
      <p:sp>
        <p:nvSpPr>
          <p:cNvPr id="5" name="Text 3">
            <a:extLst>
              <a:ext uri="{FF2B5EF4-FFF2-40B4-BE49-F238E27FC236}">
                <a16:creationId xmlns:a16="http://schemas.microsoft.com/office/drawing/2014/main" id="{707E2D94-846D-3F54-D1AD-26DCE1A0CDC2}"/>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Three architectural paradigms</a:t>
            </a:r>
            <a:endParaRPr lang="en-US" sz="2600" dirty="0"/>
          </a:p>
        </p:txBody>
      </p:sp>
      <p:sp>
        <p:nvSpPr>
          <p:cNvPr id="6" name="Shape 4">
            <a:extLst>
              <a:ext uri="{FF2B5EF4-FFF2-40B4-BE49-F238E27FC236}">
                <a16:creationId xmlns:a16="http://schemas.microsoft.com/office/drawing/2014/main" id="{572193CE-C08B-242C-AC33-64FCCF227690}"/>
              </a:ext>
            </a:extLst>
          </p:cNvPr>
          <p:cNvSpPr/>
          <p:nvPr/>
        </p:nvSpPr>
        <p:spPr>
          <a:xfrm>
            <a:off x="457200" y="1783080"/>
            <a:ext cx="2697480" cy="2468880"/>
          </a:xfrm>
          <a:prstGeom prst="rect">
            <a:avLst/>
          </a:prstGeom>
          <a:solidFill>
            <a:srgbClr val="FBF8F2"/>
          </a:solidFill>
          <a:ln w="6350">
            <a:solidFill>
              <a:srgbClr val="D8CFC0"/>
            </a:solidFill>
            <a:prstDash val="solid"/>
          </a:ln>
        </p:spPr>
        <p:txBody>
          <a:bodyPr/>
          <a:lstStyle/>
          <a:p>
            <a:endParaRPr lang="en-US"/>
          </a:p>
        </p:txBody>
      </p:sp>
      <p:sp>
        <p:nvSpPr>
          <p:cNvPr id="7" name="Shape 5">
            <a:extLst>
              <a:ext uri="{FF2B5EF4-FFF2-40B4-BE49-F238E27FC236}">
                <a16:creationId xmlns:a16="http://schemas.microsoft.com/office/drawing/2014/main" id="{5D1F57E4-D94E-E0D9-9AA1-A5B07BA6E152}"/>
              </a:ext>
            </a:extLst>
          </p:cNvPr>
          <p:cNvSpPr/>
          <p:nvPr/>
        </p:nvSpPr>
        <p:spPr>
          <a:xfrm>
            <a:off x="457200" y="1783080"/>
            <a:ext cx="2697480" cy="73152"/>
          </a:xfrm>
          <a:prstGeom prst="rect">
            <a:avLst/>
          </a:prstGeom>
          <a:solidFill>
            <a:srgbClr val="C97B3F"/>
          </a:solidFill>
          <a:ln w="12700">
            <a:solidFill>
              <a:srgbClr val="C97B3F"/>
            </a:solidFill>
            <a:prstDash val="solid"/>
          </a:ln>
        </p:spPr>
        <p:txBody>
          <a:bodyPr/>
          <a:lstStyle/>
          <a:p>
            <a:endParaRPr lang="en-US"/>
          </a:p>
        </p:txBody>
      </p:sp>
      <p:sp>
        <p:nvSpPr>
          <p:cNvPr id="8" name="Text 6">
            <a:extLst>
              <a:ext uri="{FF2B5EF4-FFF2-40B4-BE49-F238E27FC236}">
                <a16:creationId xmlns:a16="http://schemas.microsoft.com/office/drawing/2014/main" id="{5C12689C-8B33-6A7E-5C96-4C6AC7BE619F}"/>
              </a:ext>
            </a:extLst>
          </p:cNvPr>
          <p:cNvSpPr/>
          <p:nvPr/>
        </p:nvSpPr>
        <p:spPr>
          <a:xfrm>
            <a:off x="621792" y="1947672"/>
            <a:ext cx="2368296" cy="274320"/>
          </a:xfrm>
          <a:prstGeom prst="rect">
            <a:avLst/>
          </a:prstGeom>
          <a:noFill/>
          <a:ln/>
        </p:spPr>
        <p:txBody>
          <a:bodyPr wrap="square" lIns="0" tIns="0" rIns="0" bIns="0" rtlCol="0" anchor="ctr"/>
          <a:lstStyle/>
          <a:p>
            <a:pPr marL="0" indent="0">
              <a:buNone/>
            </a:pPr>
            <a:r>
              <a:rPr lang="en-US" sz="900" b="1" kern="0" spc="300" dirty="0">
                <a:solidFill>
                  <a:srgbClr val="C97B3F"/>
                </a:solidFill>
                <a:latin typeface="Calibri" pitchFamily="34" charset="0"/>
                <a:ea typeface="Calibri" pitchFamily="34" charset="-122"/>
                <a:cs typeface="Calibri" pitchFamily="34" charset="-120"/>
              </a:rPr>
              <a:t>CNN</a:t>
            </a:r>
            <a:endParaRPr lang="en-US" sz="900" dirty="0"/>
          </a:p>
        </p:txBody>
      </p:sp>
      <p:sp>
        <p:nvSpPr>
          <p:cNvPr id="9" name="Text 7">
            <a:extLst>
              <a:ext uri="{FF2B5EF4-FFF2-40B4-BE49-F238E27FC236}">
                <a16:creationId xmlns:a16="http://schemas.microsoft.com/office/drawing/2014/main" id="{A1E27EC0-A107-B467-E044-FA8ECD307DF3}"/>
              </a:ext>
            </a:extLst>
          </p:cNvPr>
          <p:cNvSpPr/>
          <p:nvPr/>
        </p:nvSpPr>
        <p:spPr>
          <a:xfrm>
            <a:off x="621792" y="2240280"/>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ResNet50</a:t>
            </a:r>
            <a:endParaRPr lang="en-US" sz="1800" dirty="0"/>
          </a:p>
        </p:txBody>
      </p:sp>
      <p:sp>
        <p:nvSpPr>
          <p:cNvPr id="10" name="Text 8">
            <a:extLst>
              <a:ext uri="{FF2B5EF4-FFF2-40B4-BE49-F238E27FC236}">
                <a16:creationId xmlns:a16="http://schemas.microsoft.com/office/drawing/2014/main" id="{350FB187-7BCD-BB2C-9851-8DAD6F494995}"/>
              </a:ext>
            </a:extLst>
          </p:cNvPr>
          <p:cNvSpPr/>
          <p:nvPr/>
        </p:nvSpPr>
        <p:spPr>
          <a:xfrm>
            <a:off x="621792" y="2697480"/>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Sliding convolutional kernels</a:t>
            </a:r>
            <a:endParaRPr lang="en-US" sz="1100" dirty="0"/>
          </a:p>
        </p:txBody>
      </p:sp>
      <p:sp>
        <p:nvSpPr>
          <p:cNvPr id="11" name="Text 9">
            <a:extLst>
              <a:ext uri="{FF2B5EF4-FFF2-40B4-BE49-F238E27FC236}">
                <a16:creationId xmlns:a16="http://schemas.microsoft.com/office/drawing/2014/main" id="{A92BC883-35D4-EBCD-CA26-36FFCD48C2A6}"/>
              </a:ext>
            </a:extLst>
          </p:cNvPr>
          <p:cNvSpPr/>
          <p:nvPr/>
        </p:nvSpPr>
        <p:spPr>
          <a:xfrm>
            <a:off x="621792" y="3200400"/>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Strong local inductive bias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spatial locality, translation equivariance</a:t>
            </a:r>
            <a:endParaRPr lang="en-US" sz="1100" dirty="0"/>
          </a:p>
        </p:txBody>
      </p:sp>
      <p:sp>
        <p:nvSpPr>
          <p:cNvPr id="12" name="Text 10">
            <a:extLst>
              <a:ext uri="{FF2B5EF4-FFF2-40B4-BE49-F238E27FC236}">
                <a16:creationId xmlns:a16="http://schemas.microsoft.com/office/drawing/2014/main" id="{F7740D3F-7BB3-F1D4-6E27-39B8E2C38C8B}"/>
              </a:ext>
            </a:extLst>
          </p:cNvPr>
          <p:cNvSpPr/>
          <p:nvPr/>
        </p:nvSpPr>
        <p:spPr>
          <a:xfrm>
            <a:off x="621792" y="3840480"/>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Mature in food classification literature</a:t>
            </a:r>
            <a:endParaRPr lang="en-US" sz="1000" dirty="0"/>
          </a:p>
        </p:txBody>
      </p:sp>
      <p:pic>
        <p:nvPicPr>
          <p:cNvPr id="34" name="Picture 33">
            <a:extLst>
              <a:ext uri="{FF2B5EF4-FFF2-40B4-BE49-F238E27FC236}">
                <a16:creationId xmlns:a16="http://schemas.microsoft.com/office/drawing/2014/main" id="{21B8B631-D170-E502-909E-D47CD9F7B9B8}"/>
              </a:ext>
            </a:extLst>
          </p:cNvPr>
          <p:cNvPicPr>
            <a:picLocks noChangeAspect="1"/>
          </p:cNvPicPr>
          <p:nvPr/>
        </p:nvPicPr>
        <p:blipFill>
          <a:blip r:embed="rId3"/>
          <a:stretch>
            <a:fillRect/>
          </a:stretch>
        </p:blipFill>
        <p:spPr>
          <a:xfrm>
            <a:off x="3222309" y="1691957"/>
            <a:ext cx="5534025" cy="2733675"/>
          </a:xfrm>
          <a:prstGeom prst="rect">
            <a:avLst/>
          </a:prstGeom>
        </p:spPr>
      </p:pic>
    </p:spTree>
    <p:extLst>
      <p:ext uri="{BB962C8B-B14F-4D97-AF65-F5344CB8AC3E}">
        <p14:creationId xmlns:p14="http://schemas.microsoft.com/office/powerpoint/2010/main" val="523428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60D6A7DD-8589-D604-302C-8EEDE8035E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31E905-883D-4FA5-5AE7-1A6D3B883A60}"/>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32190847-A936-BE8E-F4C8-B678EE752DC0}"/>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59F3985A-4313-BEF5-6468-D0F06471DB45}"/>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6 / 24</a:t>
            </a:r>
            <a:endParaRPr lang="en-US" sz="900" dirty="0"/>
          </a:p>
        </p:txBody>
      </p:sp>
      <p:sp>
        <p:nvSpPr>
          <p:cNvPr id="5" name="Text 3">
            <a:extLst>
              <a:ext uri="{FF2B5EF4-FFF2-40B4-BE49-F238E27FC236}">
                <a16:creationId xmlns:a16="http://schemas.microsoft.com/office/drawing/2014/main" id="{61029574-DB4F-F703-C429-C1806A9DB8A9}"/>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Three architectural paradigms</a:t>
            </a:r>
            <a:endParaRPr lang="en-US" sz="2600" dirty="0"/>
          </a:p>
        </p:txBody>
      </p:sp>
      <p:sp>
        <p:nvSpPr>
          <p:cNvPr id="6" name="Shape 4">
            <a:extLst>
              <a:ext uri="{FF2B5EF4-FFF2-40B4-BE49-F238E27FC236}">
                <a16:creationId xmlns:a16="http://schemas.microsoft.com/office/drawing/2014/main" id="{0FA41860-CC55-BC6C-0393-81F952A843A0}"/>
              </a:ext>
            </a:extLst>
          </p:cNvPr>
          <p:cNvSpPr/>
          <p:nvPr/>
        </p:nvSpPr>
        <p:spPr>
          <a:xfrm>
            <a:off x="457200" y="1783080"/>
            <a:ext cx="2697480" cy="2468880"/>
          </a:xfrm>
          <a:prstGeom prst="rect">
            <a:avLst/>
          </a:prstGeom>
          <a:solidFill>
            <a:srgbClr val="FBF8F2"/>
          </a:solidFill>
          <a:ln w="6350">
            <a:solidFill>
              <a:srgbClr val="D8CFC0"/>
            </a:solidFill>
            <a:prstDash val="solid"/>
          </a:ln>
        </p:spPr>
        <p:txBody>
          <a:bodyPr/>
          <a:lstStyle/>
          <a:p>
            <a:endParaRPr lang="en-US"/>
          </a:p>
        </p:txBody>
      </p:sp>
      <p:sp>
        <p:nvSpPr>
          <p:cNvPr id="7" name="Shape 5">
            <a:extLst>
              <a:ext uri="{FF2B5EF4-FFF2-40B4-BE49-F238E27FC236}">
                <a16:creationId xmlns:a16="http://schemas.microsoft.com/office/drawing/2014/main" id="{58F465E7-9A91-70F9-4551-6010F3F95B2B}"/>
              </a:ext>
            </a:extLst>
          </p:cNvPr>
          <p:cNvSpPr/>
          <p:nvPr/>
        </p:nvSpPr>
        <p:spPr>
          <a:xfrm>
            <a:off x="457200" y="1783080"/>
            <a:ext cx="2697480" cy="73152"/>
          </a:xfrm>
          <a:prstGeom prst="rect">
            <a:avLst/>
          </a:prstGeom>
          <a:solidFill>
            <a:srgbClr val="C97B3F"/>
          </a:solidFill>
          <a:ln w="12700">
            <a:solidFill>
              <a:srgbClr val="C97B3F"/>
            </a:solidFill>
            <a:prstDash val="solid"/>
          </a:ln>
        </p:spPr>
        <p:txBody>
          <a:bodyPr/>
          <a:lstStyle/>
          <a:p>
            <a:endParaRPr lang="en-US"/>
          </a:p>
        </p:txBody>
      </p:sp>
      <p:sp>
        <p:nvSpPr>
          <p:cNvPr id="8" name="Text 6">
            <a:extLst>
              <a:ext uri="{FF2B5EF4-FFF2-40B4-BE49-F238E27FC236}">
                <a16:creationId xmlns:a16="http://schemas.microsoft.com/office/drawing/2014/main" id="{77159C4F-9212-1F22-8B0D-5FFBEE7A61FF}"/>
              </a:ext>
            </a:extLst>
          </p:cNvPr>
          <p:cNvSpPr/>
          <p:nvPr/>
        </p:nvSpPr>
        <p:spPr>
          <a:xfrm>
            <a:off x="621792" y="1947672"/>
            <a:ext cx="2368296" cy="274320"/>
          </a:xfrm>
          <a:prstGeom prst="rect">
            <a:avLst/>
          </a:prstGeom>
          <a:noFill/>
          <a:ln/>
        </p:spPr>
        <p:txBody>
          <a:bodyPr wrap="square" lIns="0" tIns="0" rIns="0" bIns="0" rtlCol="0" anchor="ctr"/>
          <a:lstStyle/>
          <a:p>
            <a:pPr marL="0" indent="0">
              <a:buNone/>
            </a:pPr>
            <a:r>
              <a:rPr lang="en-US" sz="900" b="1" kern="0" spc="300" dirty="0">
                <a:solidFill>
                  <a:srgbClr val="C97B3F"/>
                </a:solidFill>
                <a:latin typeface="Calibri" pitchFamily="34" charset="0"/>
                <a:ea typeface="Calibri" pitchFamily="34" charset="-122"/>
                <a:cs typeface="Calibri" pitchFamily="34" charset="-120"/>
              </a:rPr>
              <a:t>CNN</a:t>
            </a:r>
            <a:endParaRPr lang="en-US" sz="900" dirty="0"/>
          </a:p>
        </p:txBody>
      </p:sp>
      <p:sp>
        <p:nvSpPr>
          <p:cNvPr id="9" name="Text 7">
            <a:extLst>
              <a:ext uri="{FF2B5EF4-FFF2-40B4-BE49-F238E27FC236}">
                <a16:creationId xmlns:a16="http://schemas.microsoft.com/office/drawing/2014/main" id="{6C124961-DC0F-C320-A1E6-A1C9E1D2B050}"/>
              </a:ext>
            </a:extLst>
          </p:cNvPr>
          <p:cNvSpPr/>
          <p:nvPr/>
        </p:nvSpPr>
        <p:spPr>
          <a:xfrm>
            <a:off x="621792" y="2240280"/>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ResNet50</a:t>
            </a:r>
            <a:endParaRPr lang="en-US" sz="1800" dirty="0"/>
          </a:p>
        </p:txBody>
      </p:sp>
      <p:sp>
        <p:nvSpPr>
          <p:cNvPr id="10" name="Text 8">
            <a:extLst>
              <a:ext uri="{FF2B5EF4-FFF2-40B4-BE49-F238E27FC236}">
                <a16:creationId xmlns:a16="http://schemas.microsoft.com/office/drawing/2014/main" id="{81FBF1A1-378E-82E2-6EE3-E0594A4A3216}"/>
              </a:ext>
            </a:extLst>
          </p:cNvPr>
          <p:cNvSpPr/>
          <p:nvPr/>
        </p:nvSpPr>
        <p:spPr>
          <a:xfrm>
            <a:off x="621792" y="2697480"/>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Sliding convolutional kernels</a:t>
            </a:r>
            <a:endParaRPr lang="en-US" sz="1100" dirty="0"/>
          </a:p>
        </p:txBody>
      </p:sp>
      <p:sp>
        <p:nvSpPr>
          <p:cNvPr id="11" name="Text 9">
            <a:extLst>
              <a:ext uri="{FF2B5EF4-FFF2-40B4-BE49-F238E27FC236}">
                <a16:creationId xmlns:a16="http://schemas.microsoft.com/office/drawing/2014/main" id="{958001B0-2F3B-0999-5A3E-6B8BB54F8F36}"/>
              </a:ext>
            </a:extLst>
          </p:cNvPr>
          <p:cNvSpPr/>
          <p:nvPr/>
        </p:nvSpPr>
        <p:spPr>
          <a:xfrm>
            <a:off x="621792" y="3200400"/>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Strong local inductive bias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spatial locality, translation equivariance</a:t>
            </a:r>
            <a:endParaRPr lang="en-US" sz="1100" dirty="0"/>
          </a:p>
        </p:txBody>
      </p:sp>
      <p:sp>
        <p:nvSpPr>
          <p:cNvPr id="12" name="Text 10">
            <a:extLst>
              <a:ext uri="{FF2B5EF4-FFF2-40B4-BE49-F238E27FC236}">
                <a16:creationId xmlns:a16="http://schemas.microsoft.com/office/drawing/2014/main" id="{4BFBD0BA-1412-172B-0E6F-1F116F954E5C}"/>
              </a:ext>
            </a:extLst>
          </p:cNvPr>
          <p:cNvSpPr/>
          <p:nvPr/>
        </p:nvSpPr>
        <p:spPr>
          <a:xfrm>
            <a:off x="621792" y="3840480"/>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Mature in food classification literature</a:t>
            </a:r>
            <a:endParaRPr lang="en-US" sz="1000" dirty="0"/>
          </a:p>
        </p:txBody>
      </p:sp>
      <p:graphicFrame>
        <p:nvGraphicFramePr>
          <p:cNvPr id="15" name="Table 14">
            <a:extLst>
              <a:ext uri="{FF2B5EF4-FFF2-40B4-BE49-F238E27FC236}">
                <a16:creationId xmlns:a16="http://schemas.microsoft.com/office/drawing/2014/main" id="{7FBA876F-9986-A8AB-685C-B0F3C16FC227}"/>
              </a:ext>
            </a:extLst>
          </p:cNvPr>
          <p:cNvGraphicFramePr>
            <a:graphicFrameLocks noGrp="1"/>
          </p:cNvGraphicFramePr>
          <p:nvPr>
            <p:extLst>
              <p:ext uri="{D42A27DB-BD31-4B8C-83A1-F6EECF244321}">
                <p14:modId xmlns:p14="http://schemas.microsoft.com/office/powerpoint/2010/main" val="762995336"/>
              </p:ext>
            </p:extLst>
          </p:nvPr>
        </p:nvGraphicFramePr>
        <p:xfrm>
          <a:off x="3840481" y="1737360"/>
          <a:ext cx="7040880" cy="3200400"/>
        </p:xfrm>
        <a:graphic>
          <a:graphicData uri="http://schemas.openxmlformats.org/drawingml/2006/table">
            <a:tbl>
              <a:tblPr firstRow="1" bandRow="1">
                <a:tableStyleId>{21E4AEA4-8DFA-4A89-87EB-49C32662AFE0}</a:tableStyleId>
              </a:tblPr>
              <a:tblGrid>
                <a:gridCol w="996711">
                  <a:extLst>
                    <a:ext uri="{9D8B030D-6E8A-4147-A177-3AD203B41FA5}">
                      <a16:colId xmlns:a16="http://schemas.microsoft.com/office/drawing/2014/main" val="131224218"/>
                    </a:ext>
                  </a:extLst>
                </a:gridCol>
                <a:gridCol w="1037321">
                  <a:extLst>
                    <a:ext uri="{9D8B030D-6E8A-4147-A177-3AD203B41FA5}">
                      <a16:colId xmlns:a16="http://schemas.microsoft.com/office/drawing/2014/main" val="2179380637"/>
                    </a:ext>
                  </a:extLst>
                </a:gridCol>
                <a:gridCol w="1218184">
                  <a:extLst>
                    <a:ext uri="{9D8B030D-6E8A-4147-A177-3AD203B41FA5}">
                      <a16:colId xmlns:a16="http://schemas.microsoft.com/office/drawing/2014/main" val="3266904946"/>
                    </a:ext>
                  </a:extLst>
                </a:gridCol>
                <a:gridCol w="1218184">
                  <a:extLst>
                    <a:ext uri="{9D8B030D-6E8A-4147-A177-3AD203B41FA5}">
                      <a16:colId xmlns:a16="http://schemas.microsoft.com/office/drawing/2014/main" val="1661689476"/>
                    </a:ext>
                  </a:extLst>
                </a:gridCol>
                <a:gridCol w="1274064">
                  <a:extLst>
                    <a:ext uri="{9D8B030D-6E8A-4147-A177-3AD203B41FA5}">
                      <a16:colId xmlns:a16="http://schemas.microsoft.com/office/drawing/2014/main" val="864389550"/>
                    </a:ext>
                  </a:extLst>
                </a:gridCol>
                <a:gridCol w="1296416">
                  <a:extLst>
                    <a:ext uri="{9D8B030D-6E8A-4147-A177-3AD203B41FA5}">
                      <a16:colId xmlns:a16="http://schemas.microsoft.com/office/drawing/2014/main" val="195799292"/>
                    </a:ext>
                  </a:extLst>
                </a:gridCol>
              </a:tblGrid>
              <a:tr h="228538">
                <a:tc>
                  <a:txBody>
                    <a:bodyPr/>
                    <a:lstStyle/>
                    <a:p>
                      <a:pPr>
                        <a:buNone/>
                      </a:pPr>
                      <a:r>
                        <a:rPr lang="en-US" sz="1200" dirty="0"/>
                        <a:t>Study</a:t>
                      </a:r>
                    </a:p>
                  </a:txBody>
                  <a:tcPr anchor="ctr"/>
                </a:tc>
                <a:tc>
                  <a:txBody>
                    <a:bodyPr/>
                    <a:lstStyle/>
                    <a:p>
                      <a:pPr>
                        <a:buNone/>
                      </a:pPr>
                      <a:r>
                        <a:rPr lang="en-US" sz="1200" dirty="0"/>
                        <a:t>Approach</a:t>
                      </a:r>
                    </a:p>
                  </a:txBody>
                  <a:tcPr anchor="ctr"/>
                </a:tc>
                <a:tc>
                  <a:txBody>
                    <a:bodyPr/>
                    <a:lstStyle/>
                    <a:p>
                      <a:pPr>
                        <a:buNone/>
                      </a:pPr>
                      <a:r>
                        <a:rPr lang="en-US" sz="1200" dirty="0"/>
                        <a:t>Dataset</a:t>
                      </a:r>
                    </a:p>
                  </a:txBody>
                  <a:tcPr anchor="ctr"/>
                </a:tc>
                <a:tc>
                  <a:txBody>
                    <a:bodyPr/>
                    <a:lstStyle/>
                    <a:p>
                      <a:pPr>
                        <a:buNone/>
                      </a:pPr>
                      <a:r>
                        <a:rPr lang="en-US" sz="1200" dirty="0"/>
                        <a:t>Key Results</a:t>
                      </a:r>
                    </a:p>
                  </a:txBody>
                  <a:tcPr anchor="ctr"/>
                </a:tc>
                <a:tc>
                  <a:txBody>
                    <a:bodyPr/>
                    <a:lstStyle/>
                    <a:p>
                      <a:pPr>
                        <a:buNone/>
                      </a:pPr>
                      <a:r>
                        <a:rPr lang="en-US" sz="1200" dirty="0"/>
                        <a:t>Strengths</a:t>
                      </a:r>
                    </a:p>
                  </a:txBody>
                  <a:tcPr anchor="ctr"/>
                </a:tc>
                <a:tc>
                  <a:txBody>
                    <a:bodyPr/>
                    <a:lstStyle/>
                    <a:p>
                      <a:pPr>
                        <a:buNone/>
                      </a:pPr>
                      <a:r>
                        <a:rPr lang="en-US" sz="1200" dirty="0"/>
                        <a:t>Limitations</a:t>
                      </a:r>
                    </a:p>
                  </a:txBody>
                  <a:tcPr anchor="ctr"/>
                </a:tc>
                <a:extLst>
                  <a:ext uri="{0D108BD9-81ED-4DB2-BD59-A6C34878D82A}">
                    <a16:rowId xmlns:a16="http://schemas.microsoft.com/office/drawing/2014/main" val="3824115295"/>
                  </a:ext>
                </a:extLst>
              </a:tr>
              <a:tr h="1447409">
                <a:tc>
                  <a:txBody>
                    <a:bodyPr/>
                    <a:lstStyle/>
                    <a:p>
                      <a:pPr>
                        <a:buNone/>
                      </a:pPr>
                      <a:r>
                        <a:rPr lang="en-US" sz="1200" b="1"/>
                        <a:t>Bu et al. [27]</a:t>
                      </a:r>
                      <a:endParaRPr lang="en-US" sz="1200"/>
                    </a:p>
                  </a:txBody>
                  <a:tcPr anchor="ctr"/>
                </a:tc>
                <a:tc>
                  <a:txBody>
                    <a:bodyPr/>
                    <a:lstStyle/>
                    <a:p>
                      <a:pPr>
                        <a:buNone/>
                      </a:pPr>
                      <a:r>
                        <a:rPr lang="en-US" sz="1200" dirty="0"/>
                        <a:t>Transfer learning + ensemble of multiple CNNs (VGG19, </a:t>
                      </a:r>
                      <a:r>
                        <a:rPr lang="en-US" sz="1200" b="1" dirty="0"/>
                        <a:t>ResNet50</a:t>
                      </a:r>
                      <a:r>
                        <a:rPr lang="en-US" sz="1200" dirty="0"/>
                        <a:t>, MobileNetV2, </a:t>
                      </a:r>
                      <a:r>
                        <a:rPr lang="en-US" sz="1200" dirty="0" err="1"/>
                        <a:t>AlexNet</a:t>
                      </a:r>
                      <a:r>
                        <a:rPr lang="en-US" sz="1200" dirty="0"/>
                        <a:t>)</a:t>
                      </a:r>
                    </a:p>
                  </a:txBody>
                  <a:tcPr anchor="ctr"/>
                </a:tc>
                <a:tc>
                  <a:txBody>
                    <a:bodyPr/>
                    <a:lstStyle/>
                    <a:p>
                      <a:pPr>
                        <a:buNone/>
                      </a:pPr>
                      <a:r>
                        <a:rPr lang="en-US" sz="1200" dirty="0"/>
                        <a:t>Food-11</a:t>
                      </a:r>
                    </a:p>
                  </a:txBody>
                  <a:tcPr anchor="ctr"/>
                </a:tc>
                <a:tc>
                  <a:txBody>
                    <a:bodyPr/>
                    <a:lstStyle/>
                    <a:p>
                      <a:pPr>
                        <a:buNone/>
                      </a:pPr>
                      <a:r>
                        <a:rPr lang="en-US" sz="1200" b="1" dirty="0"/>
                        <a:t>96.88% accuracy</a:t>
                      </a:r>
                      <a:r>
                        <a:rPr lang="en-US" sz="1200" dirty="0"/>
                        <a:t>, 95.43% F1-score</a:t>
                      </a:r>
                    </a:p>
                  </a:txBody>
                  <a:tcPr anchor="ctr"/>
                </a:tc>
                <a:tc>
                  <a:txBody>
                    <a:bodyPr/>
                    <a:lstStyle/>
                    <a:p>
                      <a:pPr>
                        <a:buNone/>
                      </a:pPr>
                      <a:r>
                        <a:rPr lang="en-US" sz="1200" dirty="0"/>
                        <a:t>High accuracy; ensemble improves robustness</a:t>
                      </a:r>
                    </a:p>
                  </a:txBody>
                  <a:tcPr anchor="ctr"/>
                </a:tc>
                <a:tc>
                  <a:txBody>
                    <a:bodyPr/>
                    <a:lstStyle/>
                    <a:p>
                      <a:pPr>
                        <a:buNone/>
                      </a:pPr>
                      <a:r>
                        <a:rPr lang="en-US" sz="1200" dirty="0"/>
                        <a:t>High computational cost; slower inference</a:t>
                      </a:r>
                    </a:p>
                  </a:txBody>
                  <a:tcPr anchor="ctr"/>
                </a:tc>
                <a:extLst>
                  <a:ext uri="{0D108BD9-81ED-4DB2-BD59-A6C34878D82A}">
                    <a16:rowId xmlns:a16="http://schemas.microsoft.com/office/drawing/2014/main" val="2733985751"/>
                  </a:ext>
                </a:extLst>
              </a:tr>
              <a:tr h="1142691">
                <a:tc>
                  <a:txBody>
                    <a:bodyPr/>
                    <a:lstStyle/>
                    <a:p>
                      <a:pPr>
                        <a:buNone/>
                      </a:pPr>
                      <a:r>
                        <a:rPr lang="en-US" sz="1200" b="1"/>
                        <a:t>Karabay et al. [28]</a:t>
                      </a:r>
                      <a:endParaRPr lang="en-US" sz="1200"/>
                    </a:p>
                  </a:txBody>
                  <a:tcPr anchor="ctr"/>
                </a:tc>
                <a:tc>
                  <a:txBody>
                    <a:bodyPr/>
                    <a:lstStyle/>
                    <a:p>
                      <a:pPr>
                        <a:buNone/>
                      </a:pPr>
                      <a:r>
                        <a:rPr lang="en-US" sz="1200" dirty="0"/>
                        <a:t>Transfer learning with deep CNNs (best: </a:t>
                      </a:r>
                      <a:r>
                        <a:rPr lang="en-US" sz="1200" b="1" dirty="0"/>
                        <a:t>ResNet-152</a:t>
                      </a:r>
                      <a:r>
                        <a:rPr lang="en-US" sz="1200" dirty="0"/>
                        <a:t>)</a:t>
                      </a:r>
                    </a:p>
                  </a:txBody>
                  <a:tcPr anchor="ctr"/>
                </a:tc>
                <a:tc>
                  <a:txBody>
                    <a:bodyPr/>
                    <a:lstStyle/>
                    <a:p>
                      <a:pPr>
                        <a:buNone/>
                      </a:pPr>
                      <a:r>
                        <a:rPr lang="en-US" sz="1200" dirty="0"/>
                        <a:t>CAFD, Food1k, CAFD+Food1k</a:t>
                      </a:r>
                    </a:p>
                  </a:txBody>
                  <a:tcPr anchor="ctr"/>
                </a:tc>
                <a:tc>
                  <a:txBody>
                    <a:bodyPr/>
                    <a:lstStyle/>
                    <a:p>
                      <a:pPr>
                        <a:buNone/>
                      </a:pPr>
                      <a:r>
                        <a:rPr lang="en-US" sz="1200" b="1" dirty="0"/>
                        <a:t>Top-1: 88.70%</a:t>
                      </a:r>
                      <a:r>
                        <a:rPr lang="en-US" sz="1200" dirty="0"/>
                        <a:t>, </a:t>
                      </a:r>
                    </a:p>
                    <a:p>
                      <a:pPr>
                        <a:buNone/>
                      </a:pPr>
                      <a:r>
                        <a:rPr lang="en-US" sz="1200" dirty="0"/>
                        <a:t>Top-5: 98.59%</a:t>
                      </a:r>
                    </a:p>
                  </a:txBody>
                  <a:tcPr anchor="ctr"/>
                </a:tc>
                <a:tc>
                  <a:txBody>
                    <a:bodyPr/>
                    <a:lstStyle/>
                    <a:p>
                      <a:pPr>
                        <a:buNone/>
                      </a:pPr>
                      <a:r>
                        <a:rPr lang="en-US" sz="1200"/>
                        <a:t>Strong performance with region-specific data; highlights dataset importance</a:t>
                      </a:r>
                    </a:p>
                  </a:txBody>
                  <a:tcPr anchor="ctr"/>
                </a:tc>
                <a:tc>
                  <a:txBody>
                    <a:bodyPr/>
                    <a:lstStyle/>
                    <a:p>
                      <a:pPr>
                        <a:buNone/>
                      </a:pPr>
                      <a:r>
                        <a:rPr lang="en-US" sz="1200" dirty="0"/>
                        <a:t>Class imbalance; struggles with similar dishes; only single-food classification</a:t>
                      </a:r>
                    </a:p>
                  </a:txBody>
                  <a:tcPr anchor="ctr"/>
                </a:tc>
                <a:extLst>
                  <a:ext uri="{0D108BD9-81ED-4DB2-BD59-A6C34878D82A}">
                    <a16:rowId xmlns:a16="http://schemas.microsoft.com/office/drawing/2014/main" val="1166769607"/>
                  </a:ext>
                </a:extLst>
              </a:tr>
            </a:tbl>
          </a:graphicData>
        </a:graphic>
      </p:graphicFrame>
    </p:spTree>
    <p:extLst>
      <p:ext uri="{BB962C8B-B14F-4D97-AF65-F5344CB8AC3E}">
        <p14:creationId xmlns:p14="http://schemas.microsoft.com/office/powerpoint/2010/main" val="88099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52E312D3-D626-612C-FED8-99B34342BB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B7504E-EE93-7482-B091-C941CD6C4398}"/>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075358D9-2D3C-A41F-41B4-8D96528DF8B8}"/>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a:extLst>
              <a:ext uri="{FF2B5EF4-FFF2-40B4-BE49-F238E27FC236}">
                <a16:creationId xmlns:a16="http://schemas.microsoft.com/office/drawing/2014/main" id="{F761EE5A-FDE8-2A6E-D453-842A6814BD4E}"/>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6 / 24</a:t>
            </a:r>
            <a:endParaRPr lang="en-US" sz="900" dirty="0"/>
          </a:p>
        </p:txBody>
      </p:sp>
      <p:sp>
        <p:nvSpPr>
          <p:cNvPr id="5" name="Text 3">
            <a:extLst>
              <a:ext uri="{FF2B5EF4-FFF2-40B4-BE49-F238E27FC236}">
                <a16:creationId xmlns:a16="http://schemas.microsoft.com/office/drawing/2014/main" id="{F536C44A-DFFE-3078-34BD-AB329BDC9C07}"/>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Three architectural paradigms</a:t>
            </a:r>
            <a:endParaRPr lang="en-US" sz="2600" dirty="0"/>
          </a:p>
        </p:txBody>
      </p:sp>
      <p:sp>
        <p:nvSpPr>
          <p:cNvPr id="13" name="Shape 11">
            <a:extLst>
              <a:ext uri="{FF2B5EF4-FFF2-40B4-BE49-F238E27FC236}">
                <a16:creationId xmlns:a16="http://schemas.microsoft.com/office/drawing/2014/main" id="{40A42F00-9397-D774-D441-A8AEC8289348}"/>
              </a:ext>
            </a:extLst>
          </p:cNvPr>
          <p:cNvSpPr/>
          <p:nvPr/>
        </p:nvSpPr>
        <p:spPr>
          <a:xfrm>
            <a:off x="525780" y="1783080"/>
            <a:ext cx="2697480" cy="2468880"/>
          </a:xfrm>
          <a:prstGeom prst="rect">
            <a:avLst/>
          </a:prstGeom>
          <a:solidFill>
            <a:srgbClr val="FBF8F2"/>
          </a:solidFill>
          <a:ln w="6350">
            <a:solidFill>
              <a:srgbClr val="D8CFC0"/>
            </a:solidFill>
            <a:prstDash val="solid"/>
          </a:ln>
        </p:spPr>
        <p:txBody>
          <a:bodyPr/>
          <a:lstStyle/>
          <a:p>
            <a:endParaRPr lang="en-US"/>
          </a:p>
        </p:txBody>
      </p:sp>
      <p:sp>
        <p:nvSpPr>
          <p:cNvPr id="14" name="Shape 12">
            <a:extLst>
              <a:ext uri="{FF2B5EF4-FFF2-40B4-BE49-F238E27FC236}">
                <a16:creationId xmlns:a16="http://schemas.microsoft.com/office/drawing/2014/main" id="{0816E1BA-CB73-6FAB-5A7A-C70CDCF94CA7}"/>
              </a:ext>
            </a:extLst>
          </p:cNvPr>
          <p:cNvSpPr/>
          <p:nvPr/>
        </p:nvSpPr>
        <p:spPr>
          <a:xfrm>
            <a:off x="525780" y="1783080"/>
            <a:ext cx="2697480" cy="73152"/>
          </a:xfrm>
          <a:prstGeom prst="rect">
            <a:avLst/>
          </a:prstGeom>
          <a:solidFill>
            <a:srgbClr val="5C7A55"/>
          </a:solidFill>
          <a:ln w="12700">
            <a:solidFill>
              <a:srgbClr val="5C7A55"/>
            </a:solidFill>
            <a:prstDash val="solid"/>
          </a:ln>
        </p:spPr>
        <p:txBody>
          <a:bodyPr/>
          <a:lstStyle/>
          <a:p>
            <a:endParaRPr lang="en-US"/>
          </a:p>
        </p:txBody>
      </p:sp>
      <p:sp>
        <p:nvSpPr>
          <p:cNvPr id="15" name="Text 13">
            <a:extLst>
              <a:ext uri="{FF2B5EF4-FFF2-40B4-BE49-F238E27FC236}">
                <a16:creationId xmlns:a16="http://schemas.microsoft.com/office/drawing/2014/main" id="{F4F7C407-F4E6-4A72-DCF6-F5D825BF1A81}"/>
              </a:ext>
            </a:extLst>
          </p:cNvPr>
          <p:cNvSpPr/>
          <p:nvPr/>
        </p:nvSpPr>
        <p:spPr>
          <a:xfrm>
            <a:off x="690372" y="1947672"/>
            <a:ext cx="2368296" cy="274320"/>
          </a:xfrm>
          <a:prstGeom prst="rect">
            <a:avLst/>
          </a:prstGeom>
          <a:noFill/>
          <a:ln/>
        </p:spPr>
        <p:txBody>
          <a:bodyPr wrap="square" lIns="0" tIns="0" rIns="0" bIns="0" rtlCol="0" anchor="ctr"/>
          <a:lstStyle/>
          <a:p>
            <a:pPr marL="0" indent="0">
              <a:buNone/>
            </a:pPr>
            <a:r>
              <a:rPr lang="en-US" sz="900" b="1" kern="0" spc="300" dirty="0">
                <a:solidFill>
                  <a:srgbClr val="5C7A55"/>
                </a:solidFill>
                <a:latin typeface="Calibri" pitchFamily="34" charset="0"/>
                <a:ea typeface="Calibri" pitchFamily="34" charset="-122"/>
                <a:cs typeface="Calibri" pitchFamily="34" charset="-120"/>
              </a:rPr>
              <a:t>VISION TRANSFORMER</a:t>
            </a:r>
            <a:endParaRPr lang="en-US" sz="900" dirty="0"/>
          </a:p>
        </p:txBody>
      </p:sp>
      <p:sp>
        <p:nvSpPr>
          <p:cNvPr id="16" name="Text 14">
            <a:extLst>
              <a:ext uri="{FF2B5EF4-FFF2-40B4-BE49-F238E27FC236}">
                <a16:creationId xmlns:a16="http://schemas.microsoft.com/office/drawing/2014/main" id="{9140DFF8-8D0B-C9E1-55BE-B5CFBC257C05}"/>
              </a:ext>
            </a:extLst>
          </p:cNvPr>
          <p:cNvSpPr/>
          <p:nvPr/>
        </p:nvSpPr>
        <p:spPr>
          <a:xfrm>
            <a:off x="690372" y="2240280"/>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ViT-Base</a:t>
            </a:r>
            <a:endParaRPr lang="en-US" sz="1800" dirty="0"/>
          </a:p>
        </p:txBody>
      </p:sp>
      <p:sp>
        <p:nvSpPr>
          <p:cNvPr id="17" name="Text 15">
            <a:extLst>
              <a:ext uri="{FF2B5EF4-FFF2-40B4-BE49-F238E27FC236}">
                <a16:creationId xmlns:a16="http://schemas.microsoft.com/office/drawing/2014/main" id="{44B791A7-B7B9-AFF7-452C-4FC053B1876E}"/>
              </a:ext>
            </a:extLst>
          </p:cNvPr>
          <p:cNvSpPr/>
          <p:nvPr/>
        </p:nvSpPr>
        <p:spPr>
          <a:xfrm>
            <a:off x="690372" y="2697480"/>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Image as patch sequence + global self-attention</a:t>
            </a:r>
            <a:endParaRPr lang="en-US" sz="1100" dirty="0"/>
          </a:p>
        </p:txBody>
      </p:sp>
      <p:sp>
        <p:nvSpPr>
          <p:cNvPr id="18" name="Text 16">
            <a:extLst>
              <a:ext uri="{FF2B5EF4-FFF2-40B4-BE49-F238E27FC236}">
                <a16:creationId xmlns:a16="http://schemas.microsoft.com/office/drawing/2014/main" id="{311A4EBF-3A62-3A13-6A36-7D7F82C17F27}"/>
              </a:ext>
            </a:extLst>
          </p:cNvPr>
          <p:cNvSpPr/>
          <p:nvPr/>
        </p:nvSpPr>
        <p:spPr>
          <a:xfrm>
            <a:off x="690372" y="3200400"/>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Models long-range dependencies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weak inductive biases</a:t>
            </a:r>
            <a:endParaRPr lang="en-US" sz="1100" dirty="0"/>
          </a:p>
        </p:txBody>
      </p:sp>
      <p:sp>
        <p:nvSpPr>
          <p:cNvPr id="19" name="Text 17">
            <a:extLst>
              <a:ext uri="{FF2B5EF4-FFF2-40B4-BE49-F238E27FC236}">
                <a16:creationId xmlns:a16="http://schemas.microsoft.com/office/drawing/2014/main" id="{F87637A4-6FD7-422A-33C4-30B2114138E9}"/>
              </a:ext>
            </a:extLst>
          </p:cNvPr>
          <p:cNvSpPr/>
          <p:nvPr/>
        </p:nvSpPr>
        <p:spPr>
          <a:xfrm>
            <a:off x="690372" y="3840480"/>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Recent works: ViT &gt; CNN baselines (2023–24)</a:t>
            </a:r>
            <a:endParaRPr lang="en-US" sz="1000" dirty="0"/>
          </a:p>
        </p:txBody>
      </p:sp>
      <p:pic>
        <p:nvPicPr>
          <p:cNvPr id="29" name="Picture 28">
            <a:extLst>
              <a:ext uri="{FF2B5EF4-FFF2-40B4-BE49-F238E27FC236}">
                <a16:creationId xmlns:a16="http://schemas.microsoft.com/office/drawing/2014/main" id="{DCEF6368-F961-FD93-A96B-901672B870D1}"/>
              </a:ext>
            </a:extLst>
          </p:cNvPr>
          <p:cNvPicPr>
            <a:picLocks noChangeAspect="1"/>
          </p:cNvPicPr>
          <p:nvPr/>
        </p:nvPicPr>
        <p:blipFill>
          <a:blip r:embed="rId3"/>
          <a:stretch>
            <a:fillRect/>
          </a:stretch>
        </p:blipFill>
        <p:spPr>
          <a:xfrm>
            <a:off x="3544790" y="1275090"/>
            <a:ext cx="4751904" cy="3612039"/>
          </a:xfrm>
          <a:prstGeom prst="rect">
            <a:avLst/>
          </a:prstGeom>
        </p:spPr>
      </p:pic>
    </p:spTree>
    <p:extLst>
      <p:ext uri="{BB962C8B-B14F-4D97-AF65-F5344CB8AC3E}">
        <p14:creationId xmlns:p14="http://schemas.microsoft.com/office/powerpoint/2010/main" val="2343791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02  /  LITERATURE REVIEW</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6 / 24</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Three architectural paradigms</a:t>
            </a:r>
            <a:endParaRPr lang="en-US" sz="2600" dirty="0"/>
          </a:p>
        </p:txBody>
      </p:sp>
      <p:sp>
        <p:nvSpPr>
          <p:cNvPr id="20" name="Shape 18"/>
          <p:cNvSpPr/>
          <p:nvPr/>
        </p:nvSpPr>
        <p:spPr>
          <a:xfrm>
            <a:off x="457200" y="1719072"/>
            <a:ext cx="2697480" cy="2468880"/>
          </a:xfrm>
          <a:prstGeom prst="rect">
            <a:avLst/>
          </a:prstGeom>
          <a:solidFill>
            <a:srgbClr val="FBF8F2"/>
          </a:solidFill>
          <a:ln w="6350">
            <a:solidFill>
              <a:srgbClr val="D8CFC0"/>
            </a:solidFill>
            <a:prstDash val="solid"/>
          </a:ln>
        </p:spPr>
        <p:txBody>
          <a:bodyPr/>
          <a:lstStyle/>
          <a:p>
            <a:endParaRPr lang="en-US" dirty="0"/>
          </a:p>
        </p:txBody>
      </p:sp>
      <p:sp>
        <p:nvSpPr>
          <p:cNvPr id="21" name="Shape 19"/>
          <p:cNvSpPr/>
          <p:nvPr/>
        </p:nvSpPr>
        <p:spPr>
          <a:xfrm>
            <a:off x="457200" y="1719072"/>
            <a:ext cx="2697480" cy="73152"/>
          </a:xfrm>
          <a:prstGeom prst="rect">
            <a:avLst/>
          </a:prstGeom>
          <a:solidFill>
            <a:srgbClr val="8B3A3A"/>
          </a:solidFill>
          <a:ln w="12700">
            <a:solidFill>
              <a:srgbClr val="8B3A3A"/>
            </a:solidFill>
            <a:prstDash val="solid"/>
          </a:ln>
        </p:spPr>
        <p:txBody>
          <a:bodyPr/>
          <a:lstStyle/>
          <a:p>
            <a:endParaRPr lang="en-US"/>
          </a:p>
        </p:txBody>
      </p:sp>
      <p:sp>
        <p:nvSpPr>
          <p:cNvPr id="22" name="Text 20"/>
          <p:cNvSpPr/>
          <p:nvPr/>
        </p:nvSpPr>
        <p:spPr>
          <a:xfrm>
            <a:off x="621792" y="1883664"/>
            <a:ext cx="2426208" cy="274320"/>
          </a:xfrm>
          <a:prstGeom prst="rect">
            <a:avLst/>
          </a:prstGeom>
          <a:noFill/>
          <a:ln/>
        </p:spPr>
        <p:txBody>
          <a:bodyPr wrap="square" lIns="0" tIns="0" rIns="0" bIns="0" rtlCol="0" anchor="ctr"/>
          <a:lstStyle/>
          <a:p>
            <a:pPr marL="0" indent="0">
              <a:buNone/>
            </a:pPr>
            <a:r>
              <a:rPr lang="en-US" sz="900" b="1" kern="0" spc="300" dirty="0">
                <a:solidFill>
                  <a:srgbClr val="8B3A3A"/>
                </a:solidFill>
                <a:latin typeface="Calibri" pitchFamily="34" charset="0"/>
                <a:ea typeface="Calibri" pitchFamily="34" charset="-122"/>
                <a:cs typeface="Calibri" pitchFamily="34" charset="-120"/>
              </a:rPr>
              <a:t>Cross paradigm architecture</a:t>
            </a:r>
            <a:endParaRPr lang="en-US" sz="900" dirty="0"/>
          </a:p>
        </p:txBody>
      </p:sp>
      <p:sp>
        <p:nvSpPr>
          <p:cNvPr id="23" name="Text 21"/>
          <p:cNvSpPr/>
          <p:nvPr/>
        </p:nvSpPr>
        <p:spPr>
          <a:xfrm>
            <a:off x="621792" y="2176272"/>
            <a:ext cx="2368296" cy="411480"/>
          </a:xfrm>
          <a:prstGeom prst="rect">
            <a:avLst/>
          </a:prstGeom>
          <a:noFill/>
          <a:ln/>
        </p:spPr>
        <p:txBody>
          <a:bodyPr wrap="square" lIns="0" tIns="0" rIns="0" bIns="0" rtlCol="0" anchor="ctr"/>
          <a:lstStyle/>
          <a:p>
            <a:pPr marL="0" indent="0">
              <a:buNone/>
            </a:pPr>
            <a:r>
              <a:rPr lang="en-US" sz="1800" b="1" dirty="0">
                <a:solidFill>
                  <a:srgbClr val="2B2B2B"/>
                </a:solidFill>
                <a:latin typeface="Georgia" pitchFamily="34" charset="0"/>
                <a:ea typeface="Georgia" pitchFamily="34" charset="-122"/>
                <a:cs typeface="Georgia" pitchFamily="34" charset="-120"/>
              </a:rPr>
              <a:t>ConvNeXt-Base</a:t>
            </a:r>
            <a:endParaRPr lang="en-US" sz="1800" dirty="0"/>
          </a:p>
        </p:txBody>
      </p:sp>
      <p:sp>
        <p:nvSpPr>
          <p:cNvPr id="24" name="Text 22"/>
          <p:cNvSpPr/>
          <p:nvPr/>
        </p:nvSpPr>
        <p:spPr>
          <a:xfrm>
            <a:off x="621792" y="2633472"/>
            <a:ext cx="2368296" cy="502920"/>
          </a:xfrm>
          <a:prstGeom prst="rect">
            <a:avLst/>
          </a:prstGeom>
          <a:noFill/>
          <a:ln/>
        </p:spPr>
        <p:txBody>
          <a:bodyPr wrap="square" lIns="0" tIns="0" rIns="0" bIns="0" rtlCol="0" anchor="ctr"/>
          <a:lstStyle/>
          <a:p>
            <a:pPr marL="0" indent="0">
              <a:buNone/>
            </a:pPr>
            <a:r>
              <a:rPr lang="en-US" sz="1100" dirty="0">
                <a:solidFill>
                  <a:srgbClr val="454545"/>
                </a:solidFill>
                <a:latin typeface="Calibri" pitchFamily="34" charset="0"/>
                <a:ea typeface="Calibri" pitchFamily="34" charset="-122"/>
                <a:cs typeface="Calibri" pitchFamily="34" charset="-120"/>
              </a:rPr>
              <a:t>Purely convolutional — no attention</a:t>
            </a:r>
            <a:endParaRPr lang="en-US" sz="1100" dirty="0"/>
          </a:p>
        </p:txBody>
      </p:sp>
      <p:sp>
        <p:nvSpPr>
          <p:cNvPr id="25" name="Text 23"/>
          <p:cNvSpPr/>
          <p:nvPr/>
        </p:nvSpPr>
        <p:spPr>
          <a:xfrm>
            <a:off x="621792" y="3136392"/>
            <a:ext cx="2368296"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7×7 depthwise · LayerNorm · GELU</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inverted bottleneck</a:t>
            </a:r>
            <a:endParaRPr lang="en-US" sz="1100" dirty="0"/>
          </a:p>
        </p:txBody>
      </p:sp>
      <p:sp>
        <p:nvSpPr>
          <p:cNvPr id="26" name="Text 24"/>
          <p:cNvSpPr/>
          <p:nvPr/>
        </p:nvSpPr>
        <p:spPr>
          <a:xfrm>
            <a:off x="621792" y="3776472"/>
            <a:ext cx="2368296" cy="365760"/>
          </a:xfrm>
          <a:prstGeom prst="rect">
            <a:avLst/>
          </a:prstGeom>
          <a:noFill/>
          <a:ln/>
        </p:spPr>
        <p:txBody>
          <a:bodyPr wrap="square" lIns="0" tIns="0" rIns="0" bIns="0" rtlCol="0" anchor="ctr"/>
          <a:lstStyle/>
          <a:p>
            <a:pPr marL="0" indent="0">
              <a:buNone/>
            </a:pPr>
            <a:r>
              <a:rPr lang="en-US" sz="1000" dirty="0">
                <a:solidFill>
                  <a:srgbClr val="888888"/>
                </a:solidFill>
                <a:latin typeface="Calibri" pitchFamily="34" charset="0"/>
                <a:ea typeface="Calibri" pitchFamily="34" charset="-122"/>
                <a:cs typeface="Calibri" pitchFamily="34" charset="-120"/>
              </a:rPr>
              <a:t>Recent works: competitive or superior to ViT</a:t>
            </a:r>
            <a:endParaRPr lang="en-US" sz="1000" dirty="0"/>
          </a:p>
        </p:txBody>
      </p:sp>
      <p:sp>
        <p:nvSpPr>
          <p:cNvPr id="27" name="Text 25"/>
          <p:cNvSpPr/>
          <p:nvPr/>
        </p:nvSpPr>
        <p:spPr>
          <a:xfrm>
            <a:off x="457200" y="4304899"/>
            <a:ext cx="2697480" cy="640080"/>
          </a:xfrm>
          <a:prstGeom prst="rect">
            <a:avLst/>
          </a:prstGeom>
          <a:noFill/>
          <a:ln/>
        </p:spPr>
        <p:txBody>
          <a:bodyPr wrap="square" lIns="0" tIns="0" rIns="0" bIns="0" rtlCol="0" anchor="t"/>
          <a:lstStyle/>
          <a:p>
            <a:pPr marL="0" indent="0">
              <a:buNone/>
            </a:pPr>
            <a:r>
              <a:rPr lang="en-US" sz="1100" b="1" dirty="0">
                <a:solidFill>
                  <a:srgbClr val="B85042"/>
                </a:solidFill>
                <a:latin typeface="Calibri" pitchFamily="34" charset="0"/>
                <a:ea typeface="Calibri" pitchFamily="34" charset="-122"/>
                <a:cs typeface="Calibri" pitchFamily="34" charset="-120"/>
              </a:rPr>
              <a:t>Note: </a:t>
            </a:r>
            <a:r>
              <a:rPr lang="en-US" sz="1100" dirty="0">
                <a:solidFill>
                  <a:srgbClr val="454545"/>
                </a:solidFill>
                <a:latin typeface="Calibri" pitchFamily="34" charset="0"/>
                <a:ea typeface="Calibri" pitchFamily="34" charset="-122"/>
                <a:cs typeface="Calibri" pitchFamily="34" charset="-120"/>
              </a:rPr>
              <a:t>ConvNeXt is </a:t>
            </a:r>
            <a:r>
              <a:rPr lang="en-US" sz="1100" b="1" i="1" dirty="0">
                <a:solidFill>
                  <a:srgbClr val="2B2B2B"/>
                </a:solidFill>
                <a:latin typeface="Calibri" pitchFamily="34" charset="0"/>
                <a:ea typeface="Calibri" pitchFamily="34" charset="-122"/>
                <a:cs typeface="Calibri" pitchFamily="34" charset="-120"/>
              </a:rPr>
              <a:t>purely convolutional</a:t>
            </a:r>
            <a:r>
              <a:rPr lang="en-US" sz="1100" dirty="0">
                <a:solidFill>
                  <a:srgbClr val="454545"/>
                </a:solidFill>
                <a:latin typeface="Calibri" pitchFamily="34" charset="0"/>
                <a:ea typeface="Calibri" pitchFamily="34" charset="-122"/>
                <a:cs typeface="Calibri" pitchFamily="34" charset="-120"/>
              </a:rPr>
              <a:t> — not a hybrid. It adopts Transformer </a:t>
            </a:r>
            <a:r>
              <a:rPr lang="en-US" sz="1100" i="1" dirty="0">
                <a:solidFill>
                  <a:srgbClr val="2B2B2B"/>
                </a:solidFill>
                <a:latin typeface="Calibri" pitchFamily="34" charset="0"/>
                <a:ea typeface="Calibri" pitchFamily="34" charset="-122"/>
                <a:cs typeface="Calibri" pitchFamily="34" charset="-120"/>
              </a:rPr>
              <a:t>design principles</a:t>
            </a:r>
            <a:r>
              <a:rPr lang="en-US" sz="1100" dirty="0">
                <a:solidFill>
                  <a:srgbClr val="454545"/>
                </a:solidFill>
                <a:latin typeface="Calibri" pitchFamily="34" charset="0"/>
                <a:ea typeface="Calibri" pitchFamily="34" charset="-122"/>
                <a:cs typeface="Calibri" pitchFamily="34" charset="-120"/>
              </a:rPr>
              <a:t> within a CNN backbone. (Transformer inspired CNN)</a:t>
            </a:r>
            <a:endParaRPr lang="en-US" sz="1100" dirty="0"/>
          </a:p>
        </p:txBody>
      </p:sp>
      <p:pic>
        <p:nvPicPr>
          <p:cNvPr id="31" name="Picture 30">
            <a:extLst>
              <a:ext uri="{FF2B5EF4-FFF2-40B4-BE49-F238E27FC236}">
                <a16:creationId xmlns:a16="http://schemas.microsoft.com/office/drawing/2014/main" id="{766877EA-2607-3907-7091-07244E33CA6B}"/>
              </a:ext>
            </a:extLst>
          </p:cNvPr>
          <p:cNvPicPr>
            <a:picLocks noChangeAspect="1"/>
          </p:cNvPicPr>
          <p:nvPr/>
        </p:nvPicPr>
        <p:blipFill>
          <a:blip r:embed="rId3"/>
          <a:stretch>
            <a:fillRect/>
          </a:stretch>
        </p:blipFill>
        <p:spPr>
          <a:xfrm>
            <a:off x="3794448" y="1383731"/>
            <a:ext cx="4727760" cy="355402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73843C89-9EF5-BB18-34B2-B638E2663C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C28B3B-D73B-FB81-C253-A2F7CAADDD7B}"/>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C6B3922F-2CCD-A0BC-45CB-4B7B95E3D69F}"/>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a:extLst>
              <a:ext uri="{FF2B5EF4-FFF2-40B4-BE49-F238E27FC236}">
                <a16:creationId xmlns:a16="http://schemas.microsoft.com/office/drawing/2014/main" id="{3DBEC385-D482-0BB7-E54D-B86C3DDCB4C0}"/>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9 / 24</a:t>
            </a:r>
            <a:endParaRPr lang="en-US" sz="900" dirty="0"/>
          </a:p>
        </p:txBody>
      </p:sp>
      <p:sp>
        <p:nvSpPr>
          <p:cNvPr id="5" name="Text 3">
            <a:extLst>
              <a:ext uri="{FF2B5EF4-FFF2-40B4-BE49-F238E27FC236}">
                <a16:creationId xmlns:a16="http://schemas.microsoft.com/office/drawing/2014/main" id="{146B50F1-2720-386E-86EA-EDBA4DA68DA5}"/>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Dataset selection &amp; splits</a:t>
            </a:r>
            <a:endParaRPr lang="en-US" sz="2600" dirty="0"/>
          </a:p>
        </p:txBody>
      </p:sp>
      <p:sp>
        <p:nvSpPr>
          <p:cNvPr id="6" name="Text 4">
            <a:extLst>
              <a:ext uri="{FF2B5EF4-FFF2-40B4-BE49-F238E27FC236}">
                <a16:creationId xmlns:a16="http://schemas.microsoft.com/office/drawing/2014/main" id="{383C2D2A-D19C-3C54-2348-EBE8FA0F3304}"/>
              </a:ext>
            </a:extLst>
          </p:cNvPr>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Selection criteria   ·   task alignment   ·   generalisability   ·   computational feasibility</a:t>
            </a:r>
            <a:endParaRPr lang="en-US" sz="1100" dirty="0"/>
          </a:p>
        </p:txBody>
      </p:sp>
      <p:graphicFrame>
        <p:nvGraphicFramePr>
          <p:cNvPr id="10" name="Table 0">
            <a:extLst>
              <a:ext uri="{FF2B5EF4-FFF2-40B4-BE49-F238E27FC236}">
                <a16:creationId xmlns:a16="http://schemas.microsoft.com/office/drawing/2014/main" id="{CB25F617-6DE3-8158-988E-CDE7F5334B70}"/>
              </a:ext>
            </a:extLst>
          </p:cNvPr>
          <p:cNvGraphicFramePr>
            <a:graphicFrameLocks noGrp="1"/>
          </p:cNvGraphicFramePr>
          <p:nvPr/>
        </p:nvGraphicFramePr>
        <p:xfrm>
          <a:off x="457200" y="1874520"/>
          <a:ext cx="8229600" cy="146304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DATASET</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ISIA Food-500, Food2K</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i="1" dirty="0">
                          <a:solidFill>
                            <a:srgbClr val="888888"/>
                          </a:solidFill>
                          <a:latin typeface="Calibri" pitchFamily="34" charset="0"/>
                          <a:ea typeface="Calibri" pitchFamily="34" charset="-122"/>
                          <a:cs typeface="Calibri" pitchFamily="34" charset="-120"/>
                        </a:rPr>
                        <a:t>Excluded — too large for available hardware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454545"/>
                          </a:solidFill>
                          <a:latin typeface="Calibri" pitchFamily="34" charset="0"/>
                          <a:ea typeface="Calibri" pitchFamily="34" charset="-122"/>
                          <a:cs typeface="Calibri" pitchFamily="34" charset="-120"/>
                        </a:rPr>
                        <a:t>UEC-Food256, VireoFood-172</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i="1" dirty="0">
                          <a:solidFill>
                            <a:srgbClr val="888888"/>
                          </a:solidFill>
                          <a:latin typeface="Calibri" pitchFamily="34" charset="0"/>
                          <a:ea typeface="Calibri" pitchFamily="34" charset="-122"/>
                          <a:cs typeface="Calibri" pitchFamily="34" charset="-120"/>
                        </a:rPr>
                        <a:t>Excluded — task misalignment (multiple food detection / ingredient retrieval)</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SGFood-233</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b="1" dirty="0">
                          <a:solidFill>
                            <a:srgbClr val="2B2B2B"/>
                          </a:solidFill>
                          <a:latin typeface="Calibri" pitchFamily="34" charset="0"/>
                          <a:ea typeface="Calibri" pitchFamily="34" charset="-122"/>
                          <a:cs typeface="Calibri" pitchFamily="34" charset="-120"/>
                        </a:rPr>
                        <a:t>Primary  ·  203,655 images  ·  233 classes  ·  18.8× class imbalance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5C7A55"/>
                          </a:solidFill>
                          <a:latin typeface="Calibri" pitchFamily="34" charset="0"/>
                          <a:ea typeface="Calibri" pitchFamily="34" charset="-122"/>
                          <a:cs typeface="Calibri" pitchFamily="34" charset="-120"/>
                        </a:rPr>
                        <a:t>Food-101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buNone/>
                      </a:pPr>
                      <a:r>
                        <a:rPr lang="en-US" sz="1100" b="1" dirty="0">
                          <a:solidFill>
                            <a:srgbClr val="2B2B2B"/>
                          </a:solidFill>
                          <a:latin typeface="Calibri" pitchFamily="34" charset="0"/>
                          <a:ea typeface="Calibri" pitchFamily="34" charset="-122"/>
                          <a:cs typeface="Calibri" pitchFamily="34" charset="-120"/>
                        </a:rPr>
                        <a:t>Secondary  ·  established benchmark for cross-dataset validation</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a:extLst>
              <a:ext uri="{FF2B5EF4-FFF2-40B4-BE49-F238E27FC236}">
                <a16:creationId xmlns:a16="http://schemas.microsoft.com/office/drawing/2014/main" id="{DDBCC3EF-9189-CA41-30A0-8B94A22EE179}"/>
              </a:ext>
            </a:extLst>
          </p:cNvPr>
          <p:cNvSpPr/>
          <p:nvPr/>
        </p:nvSpPr>
        <p:spPr>
          <a:xfrm>
            <a:off x="457200" y="3611880"/>
            <a:ext cx="822960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Two splits used in this study</a:t>
            </a:r>
            <a:endParaRPr lang="en-US" sz="1100" dirty="0"/>
          </a:p>
        </p:txBody>
      </p:sp>
      <p:sp>
        <p:nvSpPr>
          <p:cNvPr id="9" name="Shape 6">
            <a:extLst>
              <a:ext uri="{FF2B5EF4-FFF2-40B4-BE49-F238E27FC236}">
                <a16:creationId xmlns:a16="http://schemas.microsoft.com/office/drawing/2014/main" id="{9C84C8AE-0369-4EB6-B0AE-FCF1A333D1A1}"/>
              </a:ext>
            </a:extLst>
          </p:cNvPr>
          <p:cNvSpPr/>
          <p:nvPr/>
        </p:nvSpPr>
        <p:spPr>
          <a:xfrm>
            <a:off x="457200" y="3931920"/>
            <a:ext cx="2948940" cy="502920"/>
          </a:xfrm>
          <a:prstGeom prst="rect">
            <a:avLst/>
          </a:prstGeom>
          <a:solidFill>
            <a:srgbClr val="C97B3F"/>
          </a:solidFill>
          <a:ln w="12700">
            <a:solidFill>
              <a:srgbClr val="C97B3F"/>
            </a:solidFill>
            <a:prstDash val="solid"/>
          </a:ln>
        </p:spPr>
        <p:txBody>
          <a:bodyPr/>
          <a:lstStyle/>
          <a:p>
            <a:endParaRPr lang="en-US"/>
          </a:p>
        </p:txBody>
      </p:sp>
      <p:sp>
        <p:nvSpPr>
          <p:cNvPr id="7" name="Text 7">
            <a:extLst>
              <a:ext uri="{FF2B5EF4-FFF2-40B4-BE49-F238E27FC236}">
                <a16:creationId xmlns:a16="http://schemas.microsoft.com/office/drawing/2014/main" id="{90513D00-311F-9C30-3AD8-25632FE28F9F}"/>
              </a:ext>
            </a:extLst>
          </p:cNvPr>
          <p:cNvSpPr/>
          <p:nvPr/>
        </p:nvSpPr>
        <p:spPr>
          <a:xfrm>
            <a:off x="457200" y="3931920"/>
            <a:ext cx="2948940" cy="50292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75% TRAIN</a:t>
            </a:r>
            <a:endParaRPr lang="en-US" sz="1000" dirty="0"/>
          </a:p>
        </p:txBody>
      </p:sp>
      <p:sp>
        <p:nvSpPr>
          <p:cNvPr id="11" name="Shape 8">
            <a:extLst>
              <a:ext uri="{FF2B5EF4-FFF2-40B4-BE49-F238E27FC236}">
                <a16:creationId xmlns:a16="http://schemas.microsoft.com/office/drawing/2014/main" id="{32BE64B3-2FD9-C827-C52D-834DCF1A6DF7}"/>
              </a:ext>
            </a:extLst>
          </p:cNvPr>
          <p:cNvSpPr/>
          <p:nvPr/>
        </p:nvSpPr>
        <p:spPr>
          <a:xfrm>
            <a:off x="3406140" y="3931920"/>
            <a:ext cx="982980" cy="502920"/>
          </a:xfrm>
          <a:prstGeom prst="rect">
            <a:avLst/>
          </a:prstGeom>
          <a:solidFill>
            <a:srgbClr val="F5F0E6"/>
          </a:solidFill>
          <a:ln w="12700">
            <a:solidFill>
              <a:srgbClr val="F5F0E6"/>
            </a:solidFill>
            <a:prstDash val="solid"/>
          </a:ln>
        </p:spPr>
        <p:txBody>
          <a:bodyPr/>
          <a:lstStyle/>
          <a:p>
            <a:endParaRPr lang="en-US"/>
          </a:p>
        </p:txBody>
      </p:sp>
      <p:sp>
        <p:nvSpPr>
          <p:cNvPr id="12" name="Text 9">
            <a:extLst>
              <a:ext uri="{FF2B5EF4-FFF2-40B4-BE49-F238E27FC236}">
                <a16:creationId xmlns:a16="http://schemas.microsoft.com/office/drawing/2014/main" id="{FEB6CD28-EFE4-FF41-A988-958E825DE527}"/>
              </a:ext>
            </a:extLst>
          </p:cNvPr>
          <p:cNvSpPr/>
          <p:nvPr/>
        </p:nvSpPr>
        <p:spPr>
          <a:xfrm>
            <a:off x="3406140" y="3931920"/>
            <a:ext cx="982980" cy="502920"/>
          </a:xfrm>
          <a:prstGeom prst="rect">
            <a:avLst/>
          </a:prstGeom>
          <a:noFill/>
          <a:ln/>
        </p:spPr>
        <p:txBody>
          <a:bodyPr wrap="square" lIns="0" tIns="0" rIns="0" bIns="0" rtlCol="0" anchor="ctr"/>
          <a:lstStyle/>
          <a:p>
            <a:pPr marL="0" indent="0" algn="ctr">
              <a:buNone/>
            </a:pPr>
            <a:r>
              <a:rPr lang="en-US" sz="1000" b="1" kern="0" spc="200" dirty="0">
                <a:solidFill>
                  <a:srgbClr val="2B2B2B"/>
                </a:solidFill>
                <a:latin typeface="Calibri" pitchFamily="34" charset="0"/>
                <a:ea typeface="Calibri" pitchFamily="34" charset="-122"/>
                <a:cs typeface="Calibri" pitchFamily="34" charset="-120"/>
              </a:rPr>
              <a:t>25% VAL</a:t>
            </a:r>
            <a:endParaRPr lang="en-US" sz="1000" dirty="0"/>
          </a:p>
        </p:txBody>
      </p:sp>
      <p:sp>
        <p:nvSpPr>
          <p:cNvPr id="13" name="Text 10">
            <a:extLst>
              <a:ext uri="{FF2B5EF4-FFF2-40B4-BE49-F238E27FC236}">
                <a16:creationId xmlns:a16="http://schemas.microsoft.com/office/drawing/2014/main" id="{37576643-3E32-1B76-F323-7DE22AE3C7D3}"/>
              </a:ext>
            </a:extLst>
          </p:cNvPr>
          <p:cNvSpPr/>
          <p:nvPr/>
        </p:nvSpPr>
        <p:spPr>
          <a:xfrm>
            <a:off x="457200" y="4480560"/>
            <a:ext cx="3931920" cy="228600"/>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Mislabel detection phase</a:t>
            </a:r>
            <a:endParaRPr lang="en-US" sz="900" dirty="0"/>
          </a:p>
        </p:txBody>
      </p:sp>
      <p:sp>
        <p:nvSpPr>
          <p:cNvPr id="14" name="Shape 11">
            <a:extLst>
              <a:ext uri="{FF2B5EF4-FFF2-40B4-BE49-F238E27FC236}">
                <a16:creationId xmlns:a16="http://schemas.microsoft.com/office/drawing/2014/main" id="{55FB873F-D5F7-3701-5BA9-76B71D13AC55}"/>
              </a:ext>
            </a:extLst>
          </p:cNvPr>
          <p:cNvSpPr/>
          <p:nvPr/>
        </p:nvSpPr>
        <p:spPr>
          <a:xfrm>
            <a:off x="4754880" y="3931920"/>
            <a:ext cx="2948940" cy="502920"/>
          </a:xfrm>
          <a:prstGeom prst="rect">
            <a:avLst/>
          </a:prstGeom>
          <a:solidFill>
            <a:srgbClr val="8B3A3A"/>
          </a:solidFill>
          <a:ln w="12700">
            <a:solidFill>
              <a:srgbClr val="8B3A3A"/>
            </a:solidFill>
            <a:prstDash val="solid"/>
          </a:ln>
        </p:spPr>
        <p:txBody>
          <a:bodyPr/>
          <a:lstStyle/>
          <a:p>
            <a:endParaRPr lang="en-US"/>
          </a:p>
        </p:txBody>
      </p:sp>
      <p:sp>
        <p:nvSpPr>
          <p:cNvPr id="15" name="Text 12">
            <a:extLst>
              <a:ext uri="{FF2B5EF4-FFF2-40B4-BE49-F238E27FC236}">
                <a16:creationId xmlns:a16="http://schemas.microsoft.com/office/drawing/2014/main" id="{A673D535-A77E-A530-9D9B-E95DBD550F3A}"/>
              </a:ext>
            </a:extLst>
          </p:cNvPr>
          <p:cNvSpPr/>
          <p:nvPr/>
        </p:nvSpPr>
        <p:spPr>
          <a:xfrm>
            <a:off x="4754880" y="3931920"/>
            <a:ext cx="2948940" cy="50292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75% TRAIN</a:t>
            </a:r>
            <a:endParaRPr lang="en-US" sz="1000" dirty="0"/>
          </a:p>
        </p:txBody>
      </p:sp>
      <p:sp>
        <p:nvSpPr>
          <p:cNvPr id="16" name="Shape 13">
            <a:extLst>
              <a:ext uri="{FF2B5EF4-FFF2-40B4-BE49-F238E27FC236}">
                <a16:creationId xmlns:a16="http://schemas.microsoft.com/office/drawing/2014/main" id="{307833DE-DE1B-DCD6-7A0E-96037DA81DC5}"/>
              </a:ext>
            </a:extLst>
          </p:cNvPr>
          <p:cNvSpPr/>
          <p:nvPr/>
        </p:nvSpPr>
        <p:spPr>
          <a:xfrm>
            <a:off x="7703820" y="3931920"/>
            <a:ext cx="589788" cy="502920"/>
          </a:xfrm>
          <a:prstGeom prst="rect">
            <a:avLst/>
          </a:prstGeom>
          <a:solidFill>
            <a:srgbClr val="5C7A55"/>
          </a:solidFill>
          <a:ln w="12700">
            <a:solidFill>
              <a:srgbClr val="5C7A55"/>
            </a:solidFill>
            <a:prstDash val="solid"/>
          </a:ln>
        </p:spPr>
        <p:txBody>
          <a:bodyPr/>
          <a:lstStyle/>
          <a:p>
            <a:endParaRPr lang="en-US"/>
          </a:p>
        </p:txBody>
      </p:sp>
      <p:sp>
        <p:nvSpPr>
          <p:cNvPr id="17" name="Text 14">
            <a:extLst>
              <a:ext uri="{FF2B5EF4-FFF2-40B4-BE49-F238E27FC236}">
                <a16:creationId xmlns:a16="http://schemas.microsoft.com/office/drawing/2014/main" id="{A57334EE-4C45-ADEC-6012-C81137A24417}"/>
              </a:ext>
            </a:extLst>
          </p:cNvPr>
          <p:cNvSpPr/>
          <p:nvPr/>
        </p:nvSpPr>
        <p:spPr>
          <a:xfrm>
            <a:off x="7703820" y="3931920"/>
            <a:ext cx="589788"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 VAL</a:t>
            </a:r>
            <a:endParaRPr lang="en-US" sz="900" dirty="0"/>
          </a:p>
        </p:txBody>
      </p:sp>
      <p:sp>
        <p:nvSpPr>
          <p:cNvPr id="18" name="Shape 15">
            <a:extLst>
              <a:ext uri="{FF2B5EF4-FFF2-40B4-BE49-F238E27FC236}">
                <a16:creationId xmlns:a16="http://schemas.microsoft.com/office/drawing/2014/main" id="{E81E2E82-436C-DC40-98A6-C9583402DF7B}"/>
              </a:ext>
            </a:extLst>
          </p:cNvPr>
          <p:cNvSpPr/>
          <p:nvPr/>
        </p:nvSpPr>
        <p:spPr>
          <a:xfrm>
            <a:off x="8293608" y="3931920"/>
            <a:ext cx="393192" cy="502920"/>
          </a:xfrm>
          <a:prstGeom prst="rect">
            <a:avLst/>
          </a:prstGeom>
          <a:solidFill>
            <a:srgbClr val="F5F0E6"/>
          </a:solidFill>
          <a:ln w="12700">
            <a:solidFill>
              <a:srgbClr val="F5F0E6"/>
            </a:solidFill>
            <a:prstDash val="solid"/>
          </a:ln>
        </p:spPr>
        <p:txBody>
          <a:bodyPr/>
          <a:lstStyle/>
          <a:p>
            <a:endParaRPr lang="en-US"/>
          </a:p>
        </p:txBody>
      </p:sp>
      <p:sp>
        <p:nvSpPr>
          <p:cNvPr id="19" name="Text 16">
            <a:extLst>
              <a:ext uri="{FF2B5EF4-FFF2-40B4-BE49-F238E27FC236}">
                <a16:creationId xmlns:a16="http://schemas.microsoft.com/office/drawing/2014/main" id="{F9224918-F7A4-4053-3BD3-B2E91D3CC8C7}"/>
              </a:ext>
            </a:extLst>
          </p:cNvPr>
          <p:cNvSpPr/>
          <p:nvPr/>
        </p:nvSpPr>
        <p:spPr>
          <a:xfrm>
            <a:off x="8293608" y="3931920"/>
            <a:ext cx="393192" cy="502920"/>
          </a:xfrm>
          <a:prstGeom prst="rect">
            <a:avLst/>
          </a:prstGeom>
          <a:noFill/>
          <a:ln/>
        </p:spPr>
        <p:txBody>
          <a:bodyPr wrap="square" lIns="0" tIns="0" rIns="0" bIns="0" rtlCol="0" anchor="ctr"/>
          <a:lstStyle/>
          <a:p>
            <a:pPr marL="0" indent="0" algn="ctr">
              <a:buNone/>
            </a:pPr>
            <a:r>
              <a:rPr lang="en-US" sz="800" b="1" dirty="0">
                <a:solidFill>
                  <a:srgbClr val="2B2B2B"/>
                </a:solidFill>
                <a:latin typeface="Calibri" pitchFamily="34" charset="0"/>
                <a:ea typeface="Calibri" pitchFamily="34" charset="-122"/>
                <a:cs typeface="Calibri" pitchFamily="34" charset="-120"/>
              </a:rPr>
              <a:t>10% TEST</a:t>
            </a:r>
            <a:endParaRPr lang="en-US" sz="800" dirty="0"/>
          </a:p>
        </p:txBody>
      </p:sp>
      <p:sp>
        <p:nvSpPr>
          <p:cNvPr id="20" name="Text 17">
            <a:extLst>
              <a:ext uri="{FF2B5EF4-FFF2-40B4-BE49-F238E27FC236}">
                <a16:creationId xmlns:a16="http://schemas.microsoft.com/office/drawing/2014/main" id="{3FC73D96-094C-9BFB-84EC-33E4D504CB3F}"/>
              </a:ext>
            </a:extLst>
          </p:cNvPr>
          <p:cNvSpPr/>
          <p:nvPr/>
        </p:nvSpPr>
        <p:spPr>
          <a:xfrm>
            <a:off x="4754880" y="4480560"/>
            <a:ext cx="3931920" cy="228600"/>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Final experiments  ·  stratified sampling preserves class balance</a:t>
            </a:r>
            <a:endParaRPr lang="en-US" sz="900" dirty="0"/>
          </a:p>
        </p:txBody>
      </p:sp>
    </p:spTree>
    <p:extLst>
      <p:ext uri="{BB962C8B-B14F-4D97-AF65-F5344CB8AC3E}">
        <p14:creationId xmlns:p14="http://schemas.microsoft.com/office/powerpoint/2010/main" val="6872145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10 / 24</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Data cleaning pipeline</a:t>
            </a:r>
            <a:endParaRPr lang="en-US" sz="2600" dirty="0"/>
          </a:p>
        </p:txBody>
      </p:sp>
      <p:sp>
        <p:nvSpPr>
          <p:cNvPr id="6" name="Shape 4"/>
          <p:cNvSpPr/>
          <p:nvPr/>
        </p:nvSpPr>
        <p:spPr>
          <a:xfrm>
            <a:off x="457200" y="1851660"/>
            <a:ext cx="365760" cy="365760"/>
          </a:xfrm>
          <a:prstGeom prst="ellipse">
            <a:avLst/>
          </a:prstGeom>
          <a:solidFill>
            <a:srgbClr val="F5F0E6"/>
          </a:solidFill>
          <a:ln w="6350">
            <a:solidFill>
              <a:srgbClr val="D8CFC0"/>
            </a:solidFill>
            <a:prstDash val="solid"/>
          </a:ln>
        </p:spPr>
        <p:txBody>
          <a:bodyPr/>
          <a:lstStyle/>
          <a:p>
            <a:endParaRPr lang="en-US"/>
          </a:p>
        </p:txBody>
      </p:sp>
      <p:sp>
        <p:nvSpPr>
          <p:cNvPr id="7" name="Text 5"/>
          <p:cNvSpPr/>
          <p:nvPr/>
        </p:nvSpPr>
        <p:spPr>
          <a:xfrm>
            <a:off x="457200" y="185166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914400" y="178308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Integrity check</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Truncated, corrupt, or invalid files</a:t>
            </a:r>
            <a:endParaRPr lang="en-US" sz="1200" dirty="0"/>
          </a:p>
        </p:txBody>
      </p:sp>
      <p:sp>
        <p:nvSpPr>
          <p:cNvPr id="9" name="Shape 7"/>
          <p:cNvSpPr/>
          <p:nvPr/>
        </p:nvSpPr>
        <p:spPr>
          <a:xfrm>
            <a:off x="457200" y="2400300"/>
            <a:ext cx="365760" cy="365760"/>
          </a:xfrm>
          <a:prstGeom prst="ellipse">
            <a:avLst/>
          </a:prstGeom>
          <a:solidFill>
            <a:srgbClr val="F5F0E6"/>
          </a:solidFill>
          <a:ln w="6350">
            <a:solidFill>
              <a:srgbClr val="D8CFC0"/>
            </a:solidFill>
            <a:prstDash val="solid"/>
          </a:ln>
        </p:spPr>
        <p:txBody>
          <a:bodyPr/>
          <a:lstStyle/>
          <a:p>
            <a:endParaRPr lang="en-US"/>
          </a:p>
        </p:txBody>
      </p:sp>
      <p:sp>
        <p:nvSpPr>
          <p:cNvPr id="10" name="Text 8"/>
          <p:cNvSpPr/>
          <p:nvPr/>
        </p:nvSpPr>
        <p:spPr>
          <a:xfrm>
            <a:off x="457200" y="240030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2</a:t>
            </a:r>
            <a:endParaRPr lang="en-US" sz="1300" dirty="0"/>
          </a:p>
        </p:txBody>
      </p:sp>
      <p:sp>
        <p:nvSpPr>
          <p:cNvPr id="11" name="Text 9"/>
          <p:cNvSpPr/>
          <p:nvPr/>
        </p:nvSpPr>
        <p:spPr>
          <a:xfrm>
            <a:off x="914400" y="233172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Exact duplicates  →  MD5 hash</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2,409 removed (incl. 2,394 cross-class label conflicts)</a:t>
            </a:r>
            <a:endParaRPr lang="en-US" sz="1200" dirty="0"/>
          </a:p>
        </p:txBody>
      </p:sp>
      <p:sp>
        <p:nvSpPr>
          <p:cNvPr id="12" name="Shape 10"/>
          <p:cNvSpPr/>
          <p:nvPr/>
        </p:nvSpPr>
        <p:spPr>
          <a:xfrm>
            <a:off x="457200" y="2948940"/>
            <a:ext cx="365760" cy="365760"/>
          </a:xfrm>
          <a:prstGeom prst="ellipse">
            <a:avLst/>
          </a:prstGeom>
          <a:solidFill>
            <a:srgbClr val="F5F0E6"/>
          </a:solidFill>
          <a:ln w="6350">
            <a:solidFill>
              <a:srgbClr val="D8CFC0"/>
            </a:solidFill>
            <a:prstDash val="solid"/>
          </a:ln>
        </p:spPr>
        <p:txBody>
          <a:bodyPr/>
          <a:lstStyle/>
          <a:p>
            <a:endParaRPr lang="en-US"/>
          </a:p>
        </p:txBody>
      </p:sp>
      <p:sp>
        <p:nvSpPr>
          <p:cNvPr id="13" name="Text 11"/>
          <p:cNvSpPr/>
          <p:nvPr/>
        </p:nvSpPr>
        <p:spPr>
          <a:xfrm>
            <a:off x="457200" y="294894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3</a:t>
            </a:r>
            <a:endParaRPr lang="en-US" sz="1300" dirty="0"/>
          </a:p>
        </p:txBody>
      </p:sp>
      <p:sp>
        <p:nvSpPr>
          <p:cNvPr id="14" name="Text 12"/>
          <p:cNvSpPr/>
          <p:nvPr/>
        </p:nvSpPr>
        <p:spPr>
          <a:xfrm>
            <a:off x="914400" y="288036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Near duplicates  →  Perceptual hash</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3,094 removed (Hamming ≤ 8)</a:t>
            </a:r>
            <a:endParaRPr lang="en-US" sz="1200" dirty="0"/>
          </a:p>
        </p:txBody>
      </p:sp>
      <p:sp>
        <p:nvSpPr>
          <p:cNvPr id="15" name="Shape 13"/>
          <p:cNvSpPr/>
          <p:nvPr/>
        </p:nvSpPr>
        <p:spPr>
          <a:xfrm>
            <a:off x="457200" y="3497580"/>
            <a:ext cx="365760" cy="365760"/>
          </a:xfrm>
          <a:prstGeom prst="ellipse">
            <a:avLst/>
          </a:prstGeom>
          <a:solidFill>
            <a:srgbClr val="B85042"/>
          </a:solidFill>
          <a:ln w="6350">
            <a:solidFill>
              <a:srgbClr val="B85042"/>
            </a:solidFill>
            <a:prstDash val="solid"/>
          </a:ln>
        </p:spPr>
        <p:txBody>
          <a:bodyPr/>
          <a:lstStyle/>
          <a:p>
            <a:endParaRPr lang="en-US"/>
          </a:p>
        </p:txBody>
      </p:sp>
      <p:sp>
        <p:nvSpPr>
          <p:cNvPr id="16" name="Text 14"/>
          <p:cNvSpPr/>
          <p:nvPr/>
        </p:nvSpPr>
        <p:spPr>
          <a:xfrm>
            <a:off x="457200" y="34975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17" name="Text 15"/>
          <p:cNvSpPr/>
          <p:nvPr/>
        </p:nvSpPr>
        <p:spPr>
          <a:xfrm>
            <a:off x="914400" y="3429000"/>
            <a:ext cx="3749040" cy="5029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Mislabel detection  →  3-model consensus</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Flag if all three architectures unanimously disagree with label</a:t>
            </a:r>
            <a:endParaRPr lang="en-US" sz="1200" dirty="0"/>
          </a:p>
        </p:txBody>
      </p:sp>
      <p:sp>
        <p:nvSpPr>
          <p:cNvPr id="18" name="Shape 16"/>
          <p:cNvSpPr/>
          <p:nvPr/>
        </p:nvSpPr>
        <p:spPr>
          <a:xfrm>
            <a:off x="457200" y="4046220"/>
            <a:ext cx="365760" cy="365760"/>
          </a:xfrm>
          <a:prstGeom prst="ellipse">
            <a:avLst/>
          </a:prstGeom>
          <a:solidFill>
            <a:srgbClr val="F5F0E6"/>
          </a:solidFill>
          <a:ln w="6350">
            <a:solidFill>
              <a:srgbClr val="D8CFC0"/>
            </a:solidFill>
            <a:prstDash val="solid"/>
          </a:ln>
        </p:spPr>
        <p:txBody>
          <a:bodyPr/>
          <a:lstStyle/>
          <a:p>
            <a:endParaRPr lang="en-US"/>
          </a:p>
        </p:txBody>
      </p:sp>
      <p:sp>
        <p:nvSpPr>
          <p:cNvPr id="19" name="Text 17"/>
          <p:cNvSpPr/>
          <p:nvPr/>
        </p:nvSpPr>
        <p:spPr>
          <a:xfrm>
            <a:off x="457200" y="404622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5</a:t>
            </a:r>
            <a:endParaRPr lang="en-US" sz="1300" dirty="0"/>
          </a:p>
        </p:txBody>
      </p:sp>
      <p:sp>
        <p:nvSpPr>
          <p:cNvPr id="20" name="Text 18"/>
          <p:cNvSpPr/>
          <p:nvPr/>
        </p:nvSpPr>
        <p:spPr>
          <a:xfrm>
            <a:off x="914400" y="397764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Human review via Streamlit UI</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271 kept · 650 removed · 1,296 relabelled</a:t>
            </a:r>
            <a:endParaRPr lang="en-US" sz="1200" dirty="0"/>
          </a:p>
        </p:txBody>
      </p:sp>
      <p:sp>
        <p:nvSpPr>
          <p:cNvPr id="21" name="Shape 19"/>
          <p:cNvSpPr/>
          <p:nvPr/>
        </p:nvSpPr>
        <p:spPr>
          <a:xfrm>
            <a:off x="5029200" y="1783080"/>
            <a:ext cx="3657600" cy="2331720"/>
          </a:xfrm>
          <a:prstGeom prst="rect">
            <a:avLst/>
          </a:prstGeom>
          <a:solidFill>
            <a:srgbClr val="2B2B2B"/>
          </a:solidFill>
          <a:ln w="12700">
            <a:solidFill>
              <a:srgbClr val="2B2B2B"/>
            </a:solidFill>
            <a:prstDash val="solid"/>
          </a:ln>
        </p:spPr>
        <p:txBody>
          <a:bodyPr/>
          <a:lstStyle/>
          <a:p>
            <a:endParaRPr lang="en-US"/>
          </a:p>
        </p:txBody>
      </p:sp>
      <p:sp>
        <p:nvSpPr>
          <p:cNvPr id="22" name="Text 20"/>
          <p:cNvSpPr/>
          <p:nvPr/>
        </p:nvSpPr>
        <p:spPr>
          <a:xfrm>
            <a:off x="5257800" y="1965960"/>
            <a:ext cx="32004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THE NOVEL PIECE</a:t>
            </a:r>
            <a:endParaRPr lang="en-US" sz="900" dirty="0"/>
          </a:p>
        </p:txBody>
      </p:sp>
      <p:sp>
        <p:nvSpPr>
          <p:cNvPr id="23" name="Text 21"/>
          <p:cNvSpPr/>
          <p:nvPr/>
        </p:nvSpPr>
        <p:spPr>
          <a:xfrm>
            <a:off x="5257800" y="2286000"/>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Why a 3 / 3 consensus?</a:t>
            </a:r>
            <a:endParaRPr lang="en-US" sz="1600" dirty="0"/>
          </a:p>
        </p:txBody>
      </p:sp>
      <p:sp>
        <p:nvSpPr>
          <p:cNvPr id="24" name="Text 22"/>
          <p:cNvSpPr/>
          <p:nvPr/>
        </p:nvSpPr>
        <p:spPr>
          <a:xfrm>
            <a:off x="5257800" y="2743200"/>
            <a:ext cx="3200400" cy="1280160"/>
          </a:xfrm>
          <a:prstGeom prst="rect">
            <a:avLst/>
          </a:prstGeom>
          <a:noFill/>
          <a:ln/>
        </p:spPr>
        <p:txBody>
          <a:bodyPr wrap="square" lIns="0" tIns="0" rIns="0" bIns="0" rtlCol="0" anchor="ctr"/>
          <a:lstStyle/>
          <a:p>
            <a:pPr marL="0" indent="0">
              <a:buNone/>
            </a:pPr>
            <a:r>
              <a:rPr lang="en-US" sz="1100" dirty="0">
                <a:solidFill>
                  <a:srgbClr val="DDDDDD"/>
                </a:solidFill>
                <a:latin typeface="Calibri" pitchFamily="34" charset="0"/>
                <a:ea typeface="Calibri" pitchFamily="34" charset="-122"/>
                <a:cs typeface="Calibri" pitchFamily="34" charset="-120"/>
              </a:rPr>
              <a:t>Three architectures with fundamentally different feature-extraction paradigms agreeing on a wrong label is a high-precision noise signal — not just an ambiguous example.</a:t>
            </a:r>
            <a:endParaRPr lang="en-US" sz="1100" dirty="0"/>
          </a:p>
        </p:txBody>
      </p:sp>
      <p:sp>
        <p:nvSpPr>
          <p:cNvPr id="25" name="Shape 23"/>
          <p:cNvSpPr/>
          <p:nvPr/>
        </p:nvSpPr>
        <p:spPr>
          <a:xfrm>
            <a:off x="5029200" y="4206240"/>
            <a:ext cx="3657600" cy="502920"/>
          </a:xfrm>
          <a:prstGeom prst="rect">
            <a:avLst/>
          </a:prstGeom>
          <a:solidFill>
            <a:srgbClr val="B85042"/>
          </a:solidFill>
          <a:ln w="12700">
            <a:solidFill>
              <a:srgbClr val="B85042"/>
            </a:solidFill>
            <a:prstDash val="solid"/>
          </a:ln>
        </p:spPr>
        <p:txBody>
          <a:bodyPr/>
          <a:lstStyle/>
          <a:p>
            <a:endParaRPr lang="en-US"/>
          </a:p>
        </p:txBody>
      </p:sp>
      <p:sp>
        <p:nvSpPr>
          <p:cNvPr id="26" name="Text 24"/>
          <p:cNvSpPr/>
          <p:nvPr/>
        </p:nvSpPr>
        <p:spPr>
          <a:xfrm>
            <a:off x="5257800" y="4206240"/>
            <a:ext cx="3200400" cy="50292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Result   </a:t>
            </a:r>
            <a:r>
              <a:rPr lang="en-US" sz="1100" dirty="0">
                <a:solidFill>
                  <a:srgbClr val="FFFFFF"/>
                </a:solidFill>
                <a:latin typeface="Calibri" pitchFamily="34" charset="0"/>
                <a:ea typeface="Calibri" pitchFamily="34" charset="-122"/>
                <a:cs typeface="Calibri" pitchFamily="34" charset="-120"/>
              </a:rPr>
              <a:t>203,655 cleaned images  ·  233 classes</a:t>
            </a:r>
            <a:endParaRPr lang="en-US" sz="1100" dirty="0"/>
          </a:p>
        </p:txBody>
      </p:sp>
      <p:pic>
        <p:nvPicPr>
          <p:cNvPr id="28" name="Picture 27">
            <a:extLst>
              <a:ext uri="{FF2B5EF4-FFF2-40B4-BE49-F238E27FC236}">
                <a16:creationId xmlns:a16="http://schemas.microsoft.com/office/drawing/2014/main" id="{FA1DB68A-1490-5CFC-30C0-E34387AD4DEF}"/>
              </a:ext>
            </a:extLst>
          </p:cNvPr>
          <p:cNvPicPr>
            <a:picLocks noChangeAspect="1"/>
          </p:cNvPicPr>
          <p:nvPr/>
        </p:nvPicPr>
        <p:blipFill>
          <a:blip r:embed="rId3"/>
          <a:stretch>
            <a:fillRect/>
          </a:stretch>
        </p:blipFill>
        <p:spPr>
          <a:xfrm>
            <a:off x="4871635" y="509905"/>
            <a:ext cx="4272365" cy="4338320"/>
          </a:xfrm>
          <a:prstGeom prst="rect">
            <a:avLst/>
          </a:prstGeom>
        </p:spPr>
      </p:pic>
      <p:sp>
        <p:nvSpPr>
          <p:cNvPr id="29" name="Right Brace 28">
            <a:extLst>
              <a:ext uri="{FF2B5EF4-FFF2-40B4-BE49-F238E27FC236}">
                <a16:creationId xmlns:a16="http://schemas.microsoft.com/office/drawing/2014/main" id="{9829BF7A-6B89-7EAE-324C-EC0F6E93BD5E}"/>
              </a:ext>
            </a:extLst>
          </p:cNvPr>
          <p:cNvSpPr/>
          <p:nvPr/>
        </p:nvSpPr>
        <p:spPr>
          <a:xfrm>
            <a:off x="3524250" y="2286000"/>
            <a:ext cx="419100" cy="10287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0" name="Text 9">
            <a:extLst>
              <a:ext uri="{FF2B5EF4-FFF2-40B4-BE49-F238E27FC236}">
                <a16:creationId xmlns:a16="http://schemas.microsoft.com/office/drawing/2014/main" id="{93C83C20-A8DC-7B1F-06A4-5A4BF20E8AA5}"/>
              </a:ext>
            </a:extLst>
          </p:cNvPr>
          <p:cNvSpPr/>
          <p:nvPr/>
        </p:nvSpPr>
        <p:spPr>
          <a:xfrm>
            <a:off x="3749590" y="2226310"/>
            <a:ext cx="1122045" cy="975995"/>
          </a:xfrm>
          <a:prstGeom prst="rect">
            <a:avLst/>
          </a:prstGeom>
          <a:noFill/>
          <a:ln/>
        </p:spPr>
        <p:txBody>
          <a:bodyPr wrap="square" lIns="0" tIns="0" rIns="0" bIns="0" rtlCol="0" anchor="ctr"/>
          <a:lstStyle/>
          <a:p>
            <a:pPr marL="0" indent="0" algn="ctr">
              <a:buNone/>
            </a:pPr>
            <a:r>
              <a:rPr lang="en-US" sz="800" b="1" u="sng" dirty="0">
                <a:solidFill>
                  <a:srgbClr val="2B2B2B"/>
                </a:solidFill>
                <a:latin typeface="Calibri" pitchFamily="34" charset="0"/>
                <a:ea typeface="Calibri" pitchFamily="34" charset="-122"/>
                <a:cs typeface="Calibri" pitchFamily="34" charset="-120"/>
              </a:rPr>
              <a:t>Total</a:t>
            </a:r>
          </a:p>
          <a:p>
            <a:pPr marL="0" indent="0" algn="ctr">
              <a:buNone/>
            </a:pPr>
            <a:endParaRPr lang="en-US" sz="800" b="1" dirty="0">
              <a:solidFill>
                <a:srgbClr val="2B2B2B"/>
              </a:solidFill>
              <a:latin typeface="Calibri" pitchFamily="34" charset="0"/>
              <a:ea typeface="Calibri" pitchFamily="34" charset="-122"/>
              <a:cs typeface="Calibri" pitchFamily="34" charset="-120"/>
            </a:endParaRPr>
          </a:p>
          <a:p>
            <a:pPr marL="0" indent="0" algn="ctr">
              <a:buNone/>
            </a:pPr>
            <a:r>
              <a:rPr lang="en-US" sz="800" b="1" dirty="0">
                <a:solidFill>
                  <a:srgbClr val="2B2B2B"/>
                </a:solidFill>
                <a:latin typeface="Calibri" pitchFamily="34" charset="0"/>
                <a:ea typeface="Calibri" pitchFamily="34" charset="-122"/>
                <a:cs typeface="Calibri" pitchFamily="34" charset="-120"/>
              </a:rPr>
              <a:t>Group Count: 5312</a:t>
            </a:r>
          </a:p>
          <a:p>
            <a:pPr marL="0" indent="0" algn="ctr">
              <a:buNone/>
            </a:pPr>
            <a:endParaRPr lang="en-US" sz="800" b="1" dirty="0">
              <a:solidFill>
                <a:srgbClr val="2B2B2B"/>
              </a:solidFill>
              <a:latin typeface="Calibri" pitchFamily="34" charset="0"/>
              <a:ea typeface="Calibri" pitchFamily="34" charset="-122"/>
              <a:cs typeface="Calibri" pitchFamily="34" charset="-120"/>
            </a:endParaRPr>
          </a:p>
          <a:p>
            <a:pPr marL="0" indent="0" algn="ctr">
              <a:buNone/>
            </a:pPr>
            <a:r>
              <a:rPr lang="en-US" sz="800" b="1" dirty="0">
                <a:solidFill>
                  <a:srgbClr val="2B2B2B"/>
                </a:solidFill>
                <a:latin typeface="Calibri" pitchFamily="34" charset="0"/>
                <a:ea typeface="Calibri" pitchFamily="34" charset="-122"/>
                <a:cs typeface="Calibri" pitchFamily="34" charset="-120"/>
              </a:rPr>
              <a:t>Images removed: 5,503</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4EF5C52A-67D5-056E-EC6E-6E0C7D1D802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9F5D50-8CA5-59C8-CB70-1F12F42FD383}"/>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3AC55518-C2D6-394A-562A-B399E3921D1A}"/>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03  /  RESEARCH METHODOLOGY</a:t>
            </a:r>
            <a:endParaRPr lang="en-US" sz="1000" dirty="0"/>
          </a:p>
        </p:txBody>
      </p:sp>
      <p:sp>
        <p:nvSpPr>
          <p:cNvPr id="4" name="Text 2">
            <a:extLst>
              <a:ext uri="{FF2B5EF4-FFF2-40B4-BE49-F238E27FC236}">
                <a16:creationId xmlns:a16="http://schemas.microsoft.com/office/drawing/2014/main" id="{3C0119F4-B78F-1564-3544-7CAA54D57ABF}"/>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10 / 24</a:t>
            </a:r>
            <a:endParaRPr lang="en-US" sz="900" dirty="0"/>
          </a:p>
        </p:txBody>
      </p:sp>
      <p:sp>
        <p:nvSpPr>
          <p:cNvPr id="5" name="Text 3">
            <a:extLst>
              <a:ext uri="{FF2B5EF4-FFF2-40B4-BE49-F238E27FC236}">
                <a16:creationId xmlns:a16="http://schemas.microsoft.com/office/drawing/2014/main" id="{592D260C-0A5F-B2F0-841C-85028F698241}"/>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Data cleaning pipeline</a:t>
            </a:r>
            <a:endParaRPr lang="en-US" sz="2600" dirty="0"/>
          </a:p>
        </p:txBody>
      </p:sp>
      <p:sp>
        <p:nvSpPr>
          <p:cNvPr id="6" name="Shape 4">
            <a:extLst>
              <a:ext uri="{FF2B5EF4-FFF2-40B4-BE49-F238E27FC236}">
                <a16:creationId xmlns:a16="http://schemas.microsoft.com/office/drawing/2014/main" id="{107E0364-0511-7FE6-851E-9A78E1DB6793}"/>
              </a:ext>
            </a:extLst>
          </p:cNvPr>
          <p:cNvSpPr/>
          <p:nvPr/>
        </p:nvSpPr>
        <p:spPr>
          <a:xfrm>
            <a:off x="457200" y="1851660"/>
            <a:ext cx="365760" cy="365760"/>
          </a:xfrm>
          <a:prstGeom prst="ellipse">
            <a:avLst/>
          </a:prstGeom>
          <a:solidFill>
            <a:srgbClr val="F5F0E6"/>
          </a:solidFill>
          <a:ln w="6350">
            <a:solidFill>
              <a:srgbClr val="D8CFC0"/>
            </a:solidFill>
            <a:prstDash val="solid"/>
          </a:ln>
        </p:spPr>
        <p:txBody>
          <a:bodyPr/>
          <a:lstStyle/>
          <a:p>
            <a:endParaRPr lang="en-US"/>
          </a:p>
        </p:txBody>
      </p:sp>
      <p:sp>
        <p:nvSpPr>
          <p:cNvPr id="7" name="Text 5">
            <a:extLst>
              <a:ext uri="{FF2B5EF4-FFF2-40B4-BE49-F238E27FC236}">
                <a16:creationId xmlns:a16="http://schemas.microsoft.com/office/drawing/2014/main" id="{880D3286-93C8-2C1F-AA99-0F36118692E6}"/>
              </a:ext>
            </a:extLst>
          </p:cNvPr>
          <p:cNvSpPr/>
          <p:nvPr/>
        </p:nvSpPr>
        <p:spPr>
          <a:xfrm>
            <a:off x="457200" y="185166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1</a:t>
            </a:r>
            <a:endParaRPr lang="en-US" sz="1300" dirty="0"/>
          </a:p>
        </p:txBody>
      </p:sp>
      <p:sp>
        <p:nvSpPr>
          <p:cNvPr id="8" name="Text 6">
            <a:extLst>
              <a:ext uri="{FF2B5EF4-FFF2-40B4-BE49-F238E27FC236}">
                <a16:creationId xmlns:a16="http://schemas.microsoft.com/office/drawing/2014/main" id="{EF29F9DF-CE78-2D22-9F82-D1BDB48B1F00}"/>
              </a:ext>
            </a:extLst>
          </p:cNvPr>
          <p:cNvSpPr/>
          <p:nvPr/>
        </p:nvSpPr>
        <p:spPr>
          <a:xfrm>
            <a:off x="914400" y="178308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Integrity check</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Truncated, corrupt, or invalid files</a:t>
            </a:r>
            <a:endParaRPr lang="en-US" sz="1200" dirty="0"/>
          </a:p>
        </p:txBody>
      </p:sp>
      <p:sp>
        <p:nvSpPr>
          <p:cNvPr id="9" name="Shape 7">
            <a:extLst>
              <a:ext uri="{FF2B5EF4-FFF2-40B4-BE49-F238E27FC236}">
                <a16:creationId xmlns:a16="http://schemas.microsoft.com/office/drawing/2014/main" id="{5512C2CA-BC39-C390-69AA-83D509C4F1A9}"/>
              </a:ext>
            </a:extLst>
          </p:cNvPr>
          <p:cNvSpPr/>
          <p:nvPr/>
        </p:nvSpPr>
        <p:spPr>
          <a:xfrm>
            <a:off x="457200" y="2400300"/>
            <a:ext cx="365760" cy="365760"/>
          </a:xfrm>
          <a:prstGeom prst="ellipse">
            <a:avLst/>
          </a:prstGeom>
          <a:solidFill>
            <a:srgbClr val="F5F0E6"/>
          </a:solidFill>
          <a:ln w="6350">
            <a:solidFill>
              <a:srgbClr val="D8CFC0"/>
            </a:solidFill>
            <a:prstDash val="solid"/>
          </a:ln>
        </p:spPr>
        <p:txBody>
          <a:bodyPr/>
          <a:lstStyle/>
          <a:p>
            <a:endParaRPr lang="en-US"/>
          </a:p>
        </p:txBody>
      </p:sp>
      <p:sp>
        <p:nvSpPr>
          <p:cNvPr id="10" name="Text 8">
            <a:extLst>
              <a:ext uri="{FF2B5EF4-FFF2-40B4-BE49-F238E27FC236}">
                <a16:creationId xmlns:a16="http://schemas.microsoft.com/office/drawing/2014/main" id="{37A9904A-60DA-9F3F-4045-BBB6B33F389A}"/>
              </a:ext>
            </a:extLst>
          </p:cNvPr>
          <p:cNvSpPr/>
          <p:nvPr/>
        </p:nvSpPr>
        <p:spPr>
          <a:xfrm>
            <a:off x="457200" y="240030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2</a:t>
            </a:r>
            <a:endParaRPr lang="en-US" sz="1300" dirty="0"/>
          </a:p>
        </p:txBody>
      </p:sp>
      <p:sp>
        <p:nvSpPr>
          <p:cNvPr id="11" name="Text 9">
            <a:extLst>
              <a:ext uri="{FF2B5EF4-FFF2-40B4-BE49-F238E27FC236}">
                <a16:creationId xmlns:a16="http://schemas.microsoft.com/office/drawing/2014/main" id="{A739E84B-0C2D-EDEA-8998-D20978E0BC9B}"/>
              </a:ext>
            </a:extLst>
          </p:cNvPr>
          <p:cNvSpPr/>
          <p:nvPr/>
        </p:nvSpPr>
        <p:spPr>
          <a:xfrm>
            <a:off x="914400" y="233172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Exact duplicates  →  MD5 hash</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2,409 removed (incl. 2,394 cross-class label conflicts)</a:t>
            </a:r>
            <a:endParaRPr lang="en-US" sz="1200" dirty="0"/>
          </a:p>
        </p:txBody>
      </p:sp>
      <p:sp>
        <p:nvSpPr>
          <p:cNvPr id="12" name="Shape 10">
            <a:extLst>
              <a:ext uri="{FF2B5EF4-FFF2-40B4-BE49-F238E27FC236}">
                <a16:creationId xmlns:a16="http://schemas.microsoft.com/office/drawing/2014/main" id="{848D362D-C139-7765-E2A2-30FC8C0DCC94}"/>
              </a:ext>
            </a:extLst>
          </p:cNvPr>
          <p:cNvSpPr/>
          <p:nvPr/>
        </p:nvSpPr>
        <p:spPr>
          <a:xfrm>
            <a:off x="457200" y="2948940"/>
            <a:ext cx="365760" cy="365760"/>
          </a:xfrm>
          <a:prstGeom prst="ellipse">
            <a:avLst/>
          </a:prstGeom>
          <a:solidFill>
            <a:srgbClr val="F5F0E6"/>
          </a:solidFill>
          <a:ln w="6350">
            <a:solidFill>
              <a:srgbClr val="D8CFC0"/>
            </a:solidFill>
            <a:prstDash val="solid"/>
          </a:ln>
        </p:spPr>
        <p:txBody>
          <a:bodyPr/>
          <a:lstStyle/>
          <a:p>
            <a:endParaRPr lang="en-US"/>
          </a:p>
        </p:txBody>
      </p:sp>
      <p:sp>
        <p:nvSpPr>
          <p:cNvPr id="13" name="Text 11">
            <a:extLst>
              <a:ext uri="{FF2B5EF4-FFF2-40B4-BE49-F238E27FC236}">
                <a16:creationId xmlns:a16="http://schemas.microsoft.com/office/drawing/2014/main" id="{C06213BD-CF14-A1AA-E10F-DB42B4B911D7}"/>
              </a:ext>
            </a:extLst>
          </p:cNvPr>
          <p:cNvSpPr/>
          <p:nvPr/>
        </p:nvSpPr>
        <p:spPr>
          <a:xfrm>
            <a:off x="457200" y="294894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3</a:t>
            </a:r>
            <a:endParaRPr lang="en-US" sz="1300" dirty="0"/>
          </a:p>
        </p:txBody>
      </p:sp>
      <p:sp>
        <p:nvSpPr>
          <p:cNvPr id="14" name="Text 12">
            <a:extLst>
              <a:ext uri="{FF2B5EF4-FFF2-40B4-BE49-F238E27FC236}">
                <a16:creationId xmlns:a16="http://schemas.microsoft.com/office/drawing/2014/main" id="{826E7ACA-F59C-89F9-3530-FA66361BDD5C}"/>
              </a:ext>
            </a:extLst>
          </p:cNvPr>
          <p:cNvSpPr/>
          <p:nvPr/>
        </p:nvSpPr>
        <p:spPr>
          <a:xfrm>
            <a:off x="914400" y="288036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Near duplicates  →  Perceptual hash</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3,094 removed (Hamming ≤ 8)</a:t>
            </a:r>
            <a:endParaRPr lang="en-US" sz="1200" dirty="0"/>
          </a:p>
        </p:txBody>
      </p:sp>
      <p:sp>
        <p:nvSpPr>
          <p:cNvPr id="15" name="Shape 13">
            <a:extLst>
              <a:ext uri="{FF2B5EF4-FFF2-40B4-BE49-F238E27FC236}">
                <a16:creationId xmlns:a16="http://schemas.microsoft.com/office/drawing/2014/main" id="{ED7DB51D-133D-C422-33FB-2B40863A6357}"/>
              </a:ext>
            </a:extLst>
          </p:cNvPr>
          <p:cNvSpPr/>
          <p:nvPr/>
        </p:nvSpPr>
        <p:spPr>
          <a:xfrm>
            <a:off x="457200" y="3497580"/>
            <a:ext cx="365760" cy="365760"/>
          </a:xfrm>
          <a:prstGeom prst="ellipse">
            <a:avLst/>
          </a:prstGeom>
          <a:solidFill>
            <a:srgbClr val="B85042"/>
          </a:solidFill>
          <a:ln w="6350">
            <a:solidFill>
              <a:srgbClr val="B85042"/>
            </a:solidFill>
            <a:prstDash val="solid"/>
          </a:ln>
        </p:spPr>
        <p:txBody>
          <a:bodyPr/>
          <a:lstStyle/>
          <a:p>
            <a:endParaRPr lang="en-US"/>
          </a:p>
        </p:txBody>
      </p:sp>
      <p:sp>
        <p:nvSpPr>
          <p:cNvPr id="16" name="Text 14">
            <a:extLst>
              <a:ext uri="{FF2B5EF4-FFF2-40B4-BE49-F238E27FC236}">
                <a16:creationId xmlns:a16="http://schemas.microsoft.com/office/drawing/2014/main" id="{163A95DC-98F6-EBDD-F062-5FC5037BECEE}"/>
              </a:ext>
            </a:extLst>
          </p:cNvPr>
          <p:cNvSpPr/>
          <p:nvPr/>
        </p:nvSpPr>
        <p:spPr>
          <a:xfrm>
            <a:off x="457200" y="34975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17" name="Text 15">
            <a:extLst>
              <a:ext uri="{FF2B5EF4-FFF2-40B4-BE49-F238E27FC236}">
                <a16:creationId xmlns:a16="http://schemas.microsoft.com/office/drawing/2014/main" id="{369DBEF6-1737-66C3-DED3-55F505CB0E6E}"/>
              </a:ext>
            </a:extLst>
          </p:cNvPr>
          <p:cNvSpPr/>
          <p:nvPr/>
        </p:nvSpPr>
        <p:spPr>
          <a:xfrm>
            <a:off x="914400" y="3429000"/>
            <a:ext cx="3749040" cy="5029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Mislabel detection  →  3-model consensus</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Flag if all three architectures unanimously disagree with label</a:t>
            </a:r>
            <a:endParaRPr lang="en-US" sz="1200" dirty="0"/>
          </a:p>
        </p:txBody>
      </p:sp>
      <p:sp>
        <p:nvSpPr>
          <p:cNvPr id="18" name="Shape 16">
            <a:extLst>
              <a:ext uri="{FF2B5EF4-FFF2-40B4-BE49-F238E27FC236}">
                <a16:creationId xmlns:a16="http://schemas.microsoft.com/office/drawing/2014/main" id="{14B76A38-42D4-2626-BBA1-4AC4E0847796}"/>
              </a:ext>
            </a:extLst>
          </p:cNvPr>
          <p:cNvSpPr/>
          <p:nvPr/>
        </p:nvSpPr>
        <p:spPr>
          <a:xfrm>
            <a:off x="457200" y="4046220"/>
            <a:ext cx="365760" cy="365760"/>
          </a:xfrm>
          <a:prstGeom prst="ellipse">
            <a:avLst/>
          </a:prstGeom>
          <a:solidFill>
            <a:srgbClr val="F5F0E6"/>
          </a:solidFill>
          <a:ln w="6350">
            <a:solidFill>
              <a:srgbClr val="D8CFC0"/>
            </a:solidFill>
            <a:prstDash val="solid"/>
          </a:ln>
        </p:spPr>
        <p:txBody>
          <a:bodyPr/>
          <a:lstStyle/>
          <a:p>
            <a:endParaRPr lang="en-US"/>
          </a:p>
        </p:txBody>
      </p:sp>
      <p:sp>
        <p:nvSpPr>
          <p:cNvPr id="19" name="Text 17">
            <a:extLst>
              <a:ext uri="{FF2B5EF4-FFF2-40B4-BE49-F238E27FC236}">
                <a16:creationId xmlns:a16="http://schemas.microsoft.com/office/drawing/2014/main" id="{D84F9963-7946-267B-F067-5EDD4ABD5CD1}"/>
              </a:ext>
            </a:extLst>
          </p:cNvPr>
          <p:cNvSpPr/>
          <p:nvPr/>
        </p:nvSpPr>
        <p:spPr>
          <a:xfrm>
            <a:off x="457200" y="4046220"/>
            <a:ext cx="365760" cy="365760"/>
          </a:xfrm>
          <a:prstGeom prst="rect">
            <a:avLst/>
          </a:prstGeom>
          <a:noFill/>
          <a:ln/>
        </p:spPr>
        <p:txBody>
          <a:bodyPr wrap="square" lIns="0" tIns="0" rIns="0" bIns="0" rtlCol="0" anchor="ctr"/>
          <a:lstStyle/>
          <a:p>
            <a:pPr marL="0" indent="0" algn="ctr">
              <a:buNone/>
            </a:pPr>
            <a:r>
              <a:rPr lang="en-US" sz="1300" b="1" dirty="0">
                <a:solidFill>
                  <a:srgbClr val="2B2B2B"/>
                </a:solidFill>
                <a:latin typeface="Georgia" pitchFamily="34" charset="0"/>
                <a:ea typeface="Georgia" pitchFamily="34" charset="-122"/>
                <a:cs typeface="Georgia" pitchFamily="34" charset="-120"/>
              </a:rPr>
              <a:t>5</a:t>
            </a:r>
            <a:endParaRPr lang="en-US" sz="1300" dirty="0"/>
          </a:p>
        </p:txBody>
      </p:sp>
      <p:sp>
        <p:nvSpPr>
          <p:cNvPr id="20" name="Text 18">
            <a:extLst>
              <a:ext uri="{FF2B5EF4-FFF2-40B4-BE49-F238E27FC236}">
                <a16:creationId xmlns:a16="http://schemas.microsoft.com/office/drawing/2014/main" id="{C9415BCF-357A-FC1D-193C-5D5E573D0365}"/>
              </a:ext>
            </a:extLst>
          </p:cNvPr>
          <p:cNvSpPr/>
          <p:nvPr/>
        </p:nvSpPr>
        <p:spPr>
          <a:xfrm>
            <a:off x="914400" y="3977640"/>
            <a:ext cx="3749040" cy="502920"/>
          </a:xfrm>
          <a:prstGeom prst="rect">
            <a:avLst/>
          </a:prstGeom>
          <a:noFill/>
          <a:ln/>
        </p:spPr>
        <p:txBody>
          <a:bodyPr wrap="square" lIns="0" tIns="0" rIns="0" bIns="0" rtlCol="0" anchor="ctr"/>
          <a:lstStyle/>
          <a:p>
            <a:pPr marL="0" indent="0">
              <a:buNone/>
            </a:pPr>
            <a:r>
              <a:rPr lang="en-US" sz="1200" b="1" dirty="0">
                <a:solidFill>
                  <a:srgbClr val="2B2B2B"/>
                </a:solidFill>
                <a:latin typeface="Calibri" pitchFamily="34" charset="0"/>
                <a:ea typeface="Calibri" pitchFamily="34" charset="-122"/>
                <a:cs typeface="Calibri" pitchFamily="34" charset="-120"/>
              </a:rPr>
              <a:t>Human review via Streamlit UI</a:t>
            </a:r>
            <a:endParaRPr lang="en-US" sz="1200" dirty="0"/>
          </a:p>
          <a:p>
            <a:pPr marL="0" indent="0">
              <a:buNone/>
            </a:pPr>
            <a:r>
              <a:rPr lang="en-US" sz="1000" dirty="0">
                <a:solidFill>
                  <a:srgbClr val="454545"/>
                </a:solidFill>
                <a:latin typeface="Calibri" pitchFamily="34" charset="0"/>
                <a:ea typeface="Calibri" pitchFamily="34" charset="-122"/>
                <a:cs typeface="Calibri" pitchFamily="34" charset="-120"/>
              </a:rPr>
              <a:t>271 kept · 650 removed · 1,296 relabelled</a:t>
            </a:r>
            <a:endParaRPr lang="en-US" sz="1200" dirty="0"/>
          </a:p>
        </p:txBody>
      </p:sp>
      <p:sp>
        <p:nvSpPr>
          <p:cNvPr id="21" name="Shape 19">
            <a:extLst>
              <a:ext uri="{FF2B5EF4-FFF2-40B4-BE49-F238E27FC236}">
                <a16:creationId xmlns:a16="http://schemas.microsoft.com/office/drawing/2014/main" id="{E7542922-ECF8-1A1D-0BB0-03D3D05D7278}"/>
              </a:ext>
            </a:extLst>
          </p:cNvPr>
          <p:cNvSpPr/>
          <p:nvPr/>
        </p:nvSpPr>
        <p:spPr>
          <a:xfrm>
            <a:off x="5029200" y="1783080"/>
            <a:ext cx="3657600" cy="2331720"/>
          </a:xfrm>
          <a:prstGeom prst="rect">
            <a:avLst/>
          </a:prstGeom>
          <a:solidFill>
            <a:srgbClr val="2B2B2B"/>
          </a:solidFill>
          <a:ln w="12700">
            <a:solidFill>
              <a:srgbClr val="2B2B2B"/>
            </a:solidFill>
            <a:prstDash val="solid"/>
          </a:ln>
        </p:spPr>
        <p:txBody>
          <a:bodyPr/>
          <a:lstStyle/>
          <a:p>
            <a:endParaRPr lang="en-US"/>
          </a:p>
        </p:txBody>
      </p:sp>
      <p:sp>
        <p:nvSpPr>
          <p:cNvPr id="22" name="Text 20">
            <a:extLst>
              <a:ext uri="{FF2B5EF4-FFF2-40B4-BE49-F238E27FC236}">
                <a16:creationId xmlns:a16="http://schemas.microsoft.com/office/drawing/2014/main" id="{C950E98C-D094-CE03-C161-EF152C7859B1}"/>
              </a:ext>
            </a:extLst>
          </p:cNvPr>
          <p:cNvSpPr/>
          <p:nvPr/>
        </p:nvSpPr>
        <p:spPr>
          <a:xfrm>
            <a:off x="5257800" y="1965960"/>
            <a:ext cx="32004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THE NOVEL PIECE</a:t>
            </a:r>
            <a:endParaRPr lang="en-US" sz="900" dirty="0"/>
          </a:p>
        </p:txBody>
      </p:sp>
      <p:sp>
        <p:nvSpPr>
          <p:cNvPr id="23" name="Text 21">
            <a:extLst>
              <a:ext uri="{FF2B5EF4-FFF2-40B4-BE49-F238E27FC236}">
                <a16:creationId xmlns:a16="http://schemas.microsoft.com/office/drawing/2014/main" id="{D0D3A681-D904-FE84-41A1-03A73B124679}"/>
              </a:ext>
            </a:extLst>
          </p:cNvPr>
          <p:cNvSpPr/>
          <p:nvPr/>
        </p:nvSpPr>
        <p:spPr>
          <a:xfrm>
            <a:off x="5257800" y="2286000"/>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Why a 3 / 3 consensus?</a:t>
            </a:r>
            <a:endParaRPr lang="en-US" sz="1600" dirty="0"/>
          </a:p>
        </p:txBody>
      </p:sp>
      <p:sp>
        <p:nvSpPr>
          <p:cNvPr id="24" name="Text 22">
            <a:extLst>
              <a:ext uri="{FF2B5EF4-FFF2-40B4-BE49-F238E27FC236}">
                <a16:creationId xmlns:a16="http://schemas.microsoft.com/office/drawing/2014/main" id="{F04EBDEB-B578-6111-A982-1A09B9144588}"/>
              </a:ext>
            </a:extLst>
          </p:cNvPr>
          <p:cNvSpPr/>
          <p:nvPr/>
        </p:nvSpPr>
        <p:spPr>
          <a:xfrm>
            <a:off x="5257800" y="2743200"/>
            <a:ext cx="3200400" cy="1280160"/>
          </a:xfrm>
          <a:prstGeom prst="rect">
            <a:avLst/>
          </a:prstGeom>
          <a:noFill/>
          <a:ln/>
        </p:spPr>
        <p:txBody>
          <a:bodyPr wrap="square" lIns="0" tIns="0" rIns="0" bIns="0" rtlCol="0" anchor="ctr"/>
          <a:lstStyle/>
          <a:p>
            <a:pPr marL="0" indent="0">
              <a:buNone/>
            </a:pPr>
            <a:r>
              <a:rPr lang="en-US" sz="1100" dirty="0">
                <a:solidFill>
                  <a:srgbClr val="DDDDDD"/>
                </a:solidFill>
                <a:latin typeface="Calibri" pitchFamily="34" charset="0"/>
                <a:ea typeface="Calibri" pitchFamily="34" charset="-122"/>
                <a:cs typeface="Calibri" pitchFamily="34" charset="-120"/>
              </a:rPr>
              <a:t>Three architectures with fundamentally different feature-extraction paradigms agreeing on a wrong label is a high-precision noise signal — not just an ambiguous example.</a:t>
            </a:r>
            <a:endParaRPr lang="en-US" sz="1100" dirty="0"/>
          </a:p>
        </p:txBody>
      </p:sp>
      <p:pic>
        <p:nvPicPr>
          <p:cNvPr id="28" name="Picture 27">
            <a:extLst>
              <a:ext uri="{FF2B5EF4-FFF2-40B4-BE49-F238E27FC236}">
                <a16:creationId xmlns:a16="http://schemas.microsoft.com/office/drawing/2014/main" id="{7E743506-C494-5C70-DF8A-29D349AC2169}"/>
              </a:ext>
            </a:extLst>
          </p:cNvPr>
          <p:cNvPicPr>
            <a:picLocks noChangeAspect="1"/>
          </p:cNvPicPr>
          <p:nvPr/>
        </p:nvPicPr>
        <p:blipFill>
          <a:blip r:embed="rId3"/>
          <a:stretch>
            <a:fillRect/>
          </a:stretch>
        </p:blipFill>
        <p:spPr>
          <a:xfrm>
            <a:off x="4194048" y="1654872"/>
            <a:ext cx="4826508" cy="2481716"/>
          </a:xfrm>
          <a:prstGeom prst="rect">
            <a:avLst/>
          </a:prstGeom>
        </p:spPr>
      </p:pic>
    </p:spTree>
    <p:extLst>
      <p:ext uri="{BB962C8B-B14F-4D97-AF65-F5344CB8AC3E}">
        <p14:creationId xmlns:p14="http://schemas.microsoft.com/office/powerpoint/2010/main" val="940298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15 / 24</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 consistent performance hierarchy</a:t>
            </a:r>
            <a:endParaRPr lang="en-US" sz="2600" dirty="0"/>
          </a:p>
        </p:txBody>
      </p:sp>
      <p:sp>
        <p:nvSpPr>
          <p:cNvPr id="6" name="Text 4"/>
          <p:cNvSpPr/>
          <p:nvPr/>
        </p:nvSpPr>
        <p:spPr>
          <a:xfrm>
            <a:off x="457200" y="1304303"/>
            <a:ext cx="8229600" cy="274320"/>
          </a:xfrm>
          <a:prstGeom prst="rect">
            <a:avLst/>
          </a:prstGeom>
          <a:noFill/>
          <a:ln/>
        </p:spPr>
        <p:txBody>
          <a:bodyPr wrap="square" lIns="0" tIns="0" rIns="0" bIns="0" rtlCol="0" anchor="ctr"/>
          <a:lstStyle/>
          <a:p>
            <a:r>
              <a:rPr lang="en-US" sz="1100" i="1" dirty="0">
                <a:latin typeface="Calibri" pitchFamily="34" charset="0"/>
                <a:ea typeface="Calibri" pitchFamily="34" charset="-122"/>
                <a:cs typeface="Calibri" pitchFamily="34" charset="-120"/>
              </a:rPr>
              <a:t>SGFood-233 </a:t>
            </a:r>
            <a:r>
              <a:rPr lang="en-US" sz="1100" i="1" dirty="0">
                <a:solidFill>
                  <a:srgbClr val="888888"/>
                </a:solidFill>
                <a:latin typeface="Calibri" pitchFamily="34" charset="0"/>
                <a:ea typeface="Calibri" pitchFamily="34" charset="-122"/>
                <a:cs typeface="Calibri" pitchFamily="34" charset="-120"/>
              </a:rPr>
              <a:t>75/25 train/</a:t>
            </a:r>
            <a:r>
              <a:rPr lang="en-US" sz="1100" i="1" dirty="0" err="1">
                <a:solidFill>
                  <a:srgbClr val="888888"/>
                </a:solidFill>
                <a:latin typeface="Calibri" pitchFamily="34" charset="0"/>
                <a:ea typeface="Calibri" pitchFamily="34" charset="-122"/>
                <a:cs typeface="Calibri" pitchFamily="34" charset="-120"/>
              </a:rPr>
              <a:t>val</a:t>
            </a:r>
            <a:r>
              <a:rPr lang="en-US" sz="1100" i="1" dirty="0">
                <a:solidFill>
                  <a:srgbClr val="888888"/>
                </a:solidFill>
                <a:latin typeface="Calibri" pitchFamily="34" charset="0"/>
                <a:ea typeface="Calibri" pitchFamily="34" charset="-122"/>
                <a:cs typeface="Calibri" pitchFamily="34" charset="-120"/>
              </a:rPr>
              <a:t> split —  learning rate=1e-4, batch size=64,10 epochs, </a:t>
            </a:r>
            <a:r>
              <a:rPr lang="en-US" sz="1100" i="1" dirty="0" err="1">
                <a:solidFill>
                  <a:srgbClr val="888888"/>
                </a:solidFill>
                <a:latin typeface="Calibri" pitchFamily="34" charset="0"/>
                <a:ea typeface="Calibri" pitchFamily="34" charset="-122"/>
                <a:cs typeface="Calibri" pitchFamily="34" charset="-120"/>
              </a:rPr>
              <a:t>AdamW</a:t>
            </a:r>
            <a:r>
              <a:rPr lang="en-US" sz="1100" i="1" dirty="0">
                <a:solidFill>
                  <a:srgbClr val="888888"/>
                </a:solidFill>
                <a:latin typeface="Calibri" pitchFamily="34" charset="0"/>
                <a:ea typeface="Calibri" pitchFamily="34" charset="-122"/>
                <a:cs typeface="Calibri" pitchFamily="34" charset="-120"/>
              </a:rPr>
              <a:t> optimizer with cosine annealing)</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796633319"/>
              </p:ext>
            </p:extLst>
          </p:nvPr>
        </p:nvGraphicFramePr>
        <p:xfrm>
          <a:off x="457200" y="1578623"/>
          <a:ext cx="6720840" cy="1536192"/>
        </p:xfrm>
        <a:graphic>
          <a:graphicData uri="http://schemas.openxmlformats.org/drawingml/2006/table">
            <a:tbl>
              <a:tblPr/>
              <a:tblGrid>
                <a:gridCol w="2194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LOSS</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ACC</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97B3F"/>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0.956</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75.09%</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0.7357</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5C7A55"/>
                          </a:solidFill>
                          <a:latin typeface="Calibri" pitchFamily="34" charset="0"/>
                          <a:ea typeface="Calibri" pitchFamily="34" charset="-122"/>
                          <a:cs typeface="Calibri" pitchFamily="34" charset="-120"/>
                        </a:rPr>
                        <a:t>ViT-Base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1.011</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80.16%</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0.7899</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8B3A3A"/>
                          </a:solidFill>
                          <a:latin typeface="Calibri" pitchFamily="34" charset="0"/>
                          <a:ea typeface="Calibri" pitchFamily="34" charset="-122"/>
                          <a:cs typeface="Calibri" pitchFamily="34" charset="-120"/>
                        </a:rPr>
                        <a:t>ConvNeXt-Base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0.845</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83.45%</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0.8254</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extLst>
                  <a:ext uri="{0D108BD9-81ED-4DB2-BD59-A6C34878D82A}">
                    <a16:rowId xmlns:a16="http://schemas.microsoft.com/office/drawing/2014/main" val="10003"/>
                  </a:ext>
                </a:extLst>
              </a:tr>
            </a:tbl>
          </a:graphicData>
        </a:graphic>
      </p:graphicFrame>
      <p:sp>
        <p:nvSpPr>
          <p:cNvPr id="7" name="Text 4">
            <a:extLst>
              <a:ext uri="{FF2B5EF4-FFF2-40B4-BE49-F238E27FC236}">
                <a16:creationId xmlns:a16="http://schemas.microsoft.com/office/drawing/2014/main" id="{B5C4D04B-80D7-B817-3CB6-D6EB717F11B2}"/>
              </a:ext>
            </a:extLst>
          </p:cNvPr>
          <p:cNvSpPr/>
          <p:nvPr/>
        </p:nvSpPr>
        <p:spPr>
          <a:xfrm>
            <a:off x="457200" y="3287268"/>
            <a:ext cx="8229600" cy="274320"/>
          </a:xfrm>
          <a:prstGeom prst="rect">
            <a:avLst/>
          </a:prstGeom>
          <a:noFill/>
          <a:ln/>
        </p:spPr>
        <p:txBody>
          <a:bodyPr wrap="square" lIns="0" tIns="0" rIns="0" bIns="0" rtlCol="0" anchor="ctr"/>
          <a:lstStyle/>
          <a:p>
            <a:r>
              <a:rPr lang="en-US" sz="1100" i="1" dirty="0">
                <a:solidFill>
                  <a:srgbClr val="888888"/>
                </a:solidFill>
                <a:latin typeface="Calibri" pitchFamily="34" charset="0"/>
                <a:ea typeface="Calibri" pitchFamily="34" charset="-122"/>
                <a:cs typeface="Calibri" pitchFamily="34" charset="-120"/>
              </a:rPr>
              <a:t>F</a:t>
            </a:r>
            <a:r>
              <a:rPr lang="en-US" sz="1100" i="1" dirty="0">
                <a:latin typeface="Calibri" pitchFamily="34" charset="0"/>
                <a:ea typeface="Calibri" pitchFamily="34" charset="-122"/>
                <a:cs typeface="Calibri" pitchFamily="34" charset="-120"/>
              </a:rPr>
              <a:t>ood-101</a:t>
            </a:r>
            <a:r>
              <a:rPr lang="en-US" sz="1100" i="1" dirty="0">
                <a:solidFill>
                  <a:srgbClr val="888888"/>
                </a:solidFill>
                <a:latin typeface="Calibri" pitchFamily="34" charset="0"/>
                <a:ea typeface="Calibri" pitchFamily="34" charset="-122"/>
                <a:cs typeface="Calibri" pitchFamily="34" charset="-120"/>
              </a:rPr>
              <a:t> 75/25 train/</a:t>
            </a:r>
            <a:r>
              <a:rPr lang="en-US" sz="1100" i="1" dirty="0" err="1">
                <a:solidFill>
                  <a:srgbClr val="888888"/>
                </a:solidFill>
                <a:latin typeface="Calibri" pitchFamily="34" charset="0"/>
                <a:ea typeface="Calibri" pitchFamily="34" charset="-122"/>
                <a:cs typeface="Calibri" pitchFamily="34" charset="-120"/>
              </a:rPr>
              <a:t>val</a:t>
            </a:r>
            <a:r>
              <a:rPr lang="en-US" sz="1100" i="1" dirty="0">
                <a:solidFill>
                  <a:srgbClr val="888888"/>
                </a:solidFill>
                <a:latin typeface="Calibri" pitchFamily="34" charset="0"/>
                <a:ea typeface="Calibri" pitchFamily="34" charset="-122"/>
                <a:cs typeface="Calibri" pitchFamily="34" charset="-120"/>
              </a:rPr>
              <a:t> split —  learning rate=1e-4, batch size=64,10 epochs, </a:t>
            </a:r>
            <a:r>
              <a:rPr lang="en-US" sz="1100" i="1" dirty="0" err="1">
                <a:solidFill>
                  <a:srgbClr val="888888"/>
                </a:solidFill>
                <a:latin typeface="Calibri" pitchFamily="34" charset="0"/>
                <a:ea typeface="Calibri" pitchFamily="34" charset="-122"/>
                <a:cs typeface="Calibri" pitchFamily="34" charset="-120"/>
              </a:rPr>
              <a:t>AdamW</a:t>
            </a:r>
            <a:r>
              <a:rPr lang="en-US" sz="1100" i="1" dirty="0">
                <a:solidFill>
                  <a:srgbClr val="888888"/>
                </a:solidFill>
                <a:latin typeface="Calibri" pitchFamily="34" charset="0"/>
                <a:ea typeface="Calibri" pitchFamily="34" charset="-122"/>
                <a:cs typeface="Calibri" pitchFamily="34" charset="-120"/>
              </a:rPr>
              <a:t> optimizer with cosine annealing)</a:t>
            </a:r>
            <a:endParaRPr lang="en-US" sz="1100" dirty="0"/>
          </a:p>
        </p:txBody>
      </p:sp>
      <p:graphicFrame>
        <p:nvGraphicFramePr>
          <p:cNvPr id="10" name="Table 0">
            <a:extLst>
              <a:ext uri="{FF2B5EF4-FFF2-40B4-BE49-F238E27FC236}">
                <a16:creationId xmlns:a16="http://schemas.microsoft.com/office/drawing/2014/main" id="{06C29996-87A2-2339-6F67-6F265B659863}"/>
              </a:ext>
            </a:extLst>
          </p:cNvPr>
          <p:cNvGraphicFramePr>
            <a:graphicFrameLocks noGrp="1"/>
          </p:cNvGraphicFramePr>
          <p:nvPr>
            <p:extLst>
              <p:ext uri="{D42A27DB-BD31-4B8C-83A1-F6EECF244321}">
                <p14:modId xmlns:p14="http://schemas.microsoft.com/office/powerpoint/2010/main" val="1711262318"/>
              </p:ext>
            </p:extLst>
          </p:nvPr>
        </p:nvGraphicFramePr>
        <p:xfrm>
          <a:off x="457200" y="3561588"/>
          <a:ext cx="6720840" cy="1536192"/>
        </p:xfrm>
        <a:graphic>
          <a:graphicData uri="http://schemas.openxmlformats.org/drawingml/2006/table">
            <a:tbl>
              <a:tblPr/>
              <a:tblGrid>
                <a:gridCol w="2194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LOSS</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ACC</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97B3F"/>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0.658</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81.68% </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0.8168</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5C7A55"/>
                          </a:solidFill>
                          <a:latin typeface="Calibri" pitchFamily="34" charset="0"/>
                          <a:ea typeface="Calibri" pitchFamily="34" charset="-122"/>
                          <a:cs typeface="Calibri" pitchFamily="34" charset="-120"/>
                        </a:rPr>
                        <a:t>ViT-Base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0.502</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88.84%</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0.8884</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8B3A3A"/>
                          </a:solidFill>
                          <a:latin typeface="Calibri" pitchFamily="34" charset="0"/>
                          <a:ea typeface="Calibri" pitchFamily="34" charset="-122"/>
                          <a:cs typeface="Calibri" pitchFamily="34" charset="-120"/>
                        </a:rPr>
                        <a:t>ConvNeXt-Base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0.359</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92.07%</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0.9207</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A62F0F02-9E2B-3963-FEC3-B82A1C1EC5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320967-784E-27A2-D830-967AA938CD72}"/>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37B521CB-DA7D-0A56-B77D-68D603535A64}"/>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6C83620C-3CC0-5949-8592-DE71BE798234}"/>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15 / 24</a:t>
            </a:r>
            <a:endParaRPr lang="en-US" sz="900" dirty="0"/>
          </a:p>
        </p:txBody>
      </p:sp>
      <p:sp>
        <p:nvSpPr>
          <p:cNvPr id="5" name="Text 3">
            <a:extLst>
              <a:ext uri="{FF2B5EF4-FFF2-40B4-BE49-F238E27FC236}">
                <a16:creationId xmlns:a16="http://schemas.microsoft.com/office/drawing/2014/main" id="{779577A3-6921-6008-6038-F185008533CD}"/>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 consistent performance hierarchy</a:t>
            </a:r>
            <a:endParaRPr lang="en-US" sz="2600" dirty="0"/>
          </a:p>
        </p:txBody>
      </p:sp>
      <p:sp>
        <p:nvSpPr>
          <p:cNvPr id="6" name="Text 4">
            <a:extLst>
              <a:ext uri="{FF2B5EF4-FFF2-40B4-BE49-F238E27FC236}">
                <a16:creationId xmlns:a16="http://schemas.microsoft.com/office/drawing/2014/main" id="{DEBCC4BF-3BF1-0960-27AF-759EF7CCB601}"/>
              </a:ext>
            </a:extLst>
          </p:cNvPr>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Model performance on </a:t>
            </a:r>
            <a:r>
              <a:rPr lang="en-US" sz="1100" i="1" dirty="0">
                <a:latin typeface="Calibri" pitchFamily="34" charset="0"/>
                <a:ea typeface="Calibri" pitchFamily="34" charset="-122"/>
                <a:cs typeface="Calibri" pitchFamily="34" charset="-120"/>
              </a:rPr>
              <a:t>SGFood-233 after data cleaning</a:t>
            </a:r>
            <a:endParaRPr lang="en-US" sz="1100" dirty="0"/>
          </a:p>
        </p:txBody>
      </p:sp>
      <p:graphicFrame>
        <p:nvGraphicFramePr>
          <p:cNvPr id="16" name="Table 0">
            <a:extLst>
              <a:ext uri="{FF2B5EF4-FFF2-40B4-BE49-F238E27FC236}">
                <a16:creationId xmlns:a16="http://schemas.microsoft.com/office/drawing/2014/main" id="{43220423-10D0-7B47-5BB1-3BB42035E70D}"/>
              </a:ext>
            </a:extLst>
          </p:cNvPr>
          <p:cNvGraphicFramePr>
            <a:graphicFrameLocks noGrp="1"/>
          </p:cNvGraphicFramePr>
          <p:nvPr>
            <p:extLst>
              <p:ext uri="{D42A27DB-BD31-4B8C-83A1-F6EECF244321}">
                <p14:modId xmlns:p14="http://schemas.microsoft.com/office/powerpoint/2010/main" val="331630290"/>
              </p:ext>
            </p:extLst>
          </p:nvPr>
        </p:nvGraphicFramePr>
        <p:xfrm>
          <a:off x="457200" y="1874520"/>
          <a:ext cx="8229600" cy="1536192"/>
        </p:xfrm>
        <a:graphic>
          <a:graphicData uri="http://schemas.openxmlformats.org/drawingml/2006/table">
            <a:tbl>
              <a:tblPr/>
              <a:tblGrid>
                <a:gridCol w="2194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ACC (BEFORE)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ACC (AFTER)</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TEST ACC</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C97B3F"/>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75.09%</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76.11% (+1.02PP)</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76.38%</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0.7479</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5C7A55"/>
                          </a:solidFill>
                          <a:latin typeface="Calibri" pitchFamily="34" charset="0"/>
                          <a:ea typeface="Calibri" pitchFamily="34" charset="-122"/>
                          <a:cs typeface="Calibri" pitchFamily="34" charset="-120"/>
                        </a:rPr>
                        <a:t>ViT-Base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80.16%</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81.03% (+0.87pp)</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81.00%</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200" dirty="0">
                          <a:solidFill>
                            <a:srgbClr val="454545"/>
                          </a:solidFill>
                          <a:latin typeface="Calibri" pitchFamily="34" charset="0"/>
                          <a:ea typeface="Calibri" pitchFamily="34" charset="-122"/>
                          <a:cs typeface="Calibri" pitchFamily="34" charset="-120"/>
                        </a:rPr>
                        <a:t>0.7971</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8B3A3A"/>
                          </a:solidFill>
                          <a:latin typeface="Calibri" pitchFamily="34" charset="0"/>
                          <a:ea typeface="Calibri" pitchFamily="34" charset="-122"/>
                          <a:cs typeface="Calibri" pitchFamily="34" charset="-120"/>
                        </a:rPr>
                        <a:t>ConvNeXt-Base</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83.45%</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84.55% (+1.10pp)</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84.54%</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tc>
                  <a:txBody>
                    <a:bodyPr/>
                    <a:lstStyle/>
                    <a:p>
                      <a:pPr marL="0" indent="0" algn="ctr">
                        <a:buNone/>
                      </a:pPr>
                      <a:r>
                        <a:rPr lang="en-US" sz="1200" b="1" dirty="0">
                          <a:solidFill>
                            <a:srgbClr val="2B2B2B"/>
                          </a:solidFill>
                          <a:latin typeface="Calibri" pitchFamily="34" charset="0"/>
                          <a:ea typeface="Calibri" pitchFamily="34" charset="-122"/>
                          <a:cs typeface="Calibri" pitchFamily="34" charset="-120"/>
                        </a:rPr>
                        <a:t>0.8361</a:t>
                      </a:r>
                      <a:endParaRPr lang="en-US" sz="12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F8E5DD"/>
                    </a:solidFill>
                  </a:tcPr>
                </a:tc>
                <a:extLst>
                  <a:ext uri="{0D108BD9-81ED-4DB2-BD59-A6C34878D82A}">
                    <a16:rowId xmlns:a16="http://schemas.microsoft.com/office/drawing/2014/main" val="10003"/>
                  </a:ext>
                </a:extLst>
              </a:tr>
            </a:tbl>
          </a:graphicData>
        </a:graphic>
      </p:graphicFrame>
      <p:sp>
        <p:nvSpPr>
          <p:cNvPr id="8" name="Shape 5">
            <a:extLst>
              <a:ext uri="{FF2B5EF4-FFF2-40B4-BE49-F238E27FC236}">
                <a16:creationId xmlns:a16="http://schemas.microsoft.com/office/drawing/2014/main" id="{4A98BCA4-FECA-E542-4EF8-1CB577B7E195}"/>
              </a:ext>
            </a:extLst>
          </p:cNvPr>
          <p:cNvSpPr/>
          <p:nvPr/>
        </p:nvSpPr>
        <p:spPr>
          <a:xfrm>
            <a:off x="457200" y="3794760"/>
            <a:ext cx="8229600" cy="914400"/>
          </a:xfrm>
          <a:prstGeom prst="rect">
            <a:avLst/>
          </a:prstGeom>
          <a:solidFill>
            <a:srgbClr val="2B2B2B"/>
          </a:solidFill>
          <a:ln w="12700">
            <a:solidFill>
              <a:srgbClr val="2B2B2B"/>
            </a:solidFill>
            <a:prstDash val="solid"/>
          </a:ln>
        </p:spPr>
        <p:txBody>
          <a:bodyPr/>
          <a:lstStyle/>
          <a:p>
            <a:endParaRPr lang="en-US"/>
          </a:p>
        </p:txBody>
      </p:sp>
      <p:sp>
        <p:nvSpPr>
          <p:cNvPr id="9" name="Text 6">
            <a:extLst>
              <a:ext uri="{FF2B5EF4-FFF2-40B4-BE49-F238E27FC236}">
                <a16:creationId xmlns:a16="http://schemas.microsoft.com/office/drawing/2014/main" id="{5D2D48AE-80BE-9C27-410B-F4736D5777F8}"/>
              </a:ext>
            </a:extLst>
          </p:cNvPr>
          <p:cNvSpPr/>
          <p:nvPr/>
        </p:nvSpPr>
        <p:spPr>
          <a:xfrm>
            <a:off x="640080" y="3886200"/>
            <a:ext cx="7863840" cy="777240"/>
          </a:xfrm>
          <a:prstGeom prst="rect">
            <a:avLst/>
          </a:prstGeom>
          <a:noFill/>
          <a:ln/>
        </p:spPr>
        <p:txBody>
          <a:bodyPr wrap="square" lIns="0" tIns="0" rIns="0" bIns="0" rtlCol="0" anchor="t"/>
          <a:lstStyle/>
          <a:p>
            <a:pPr marL="0" indent="0">
              <a:spcAft>
                <a:spcPts val="400"/>
              </a:spcAft>
              <a:buNone/>
            </a:pPr>
            <a:r>
              <a:rPr lang="en-US" sz="1800" b="1" dirty="0">
                <a:solidFill>
                  <a:srgbClr val="B85042"/>
                </a:solidFill>
                <a:latin typeface="Georgia" pitchFamily="34" charset="0"/>
                <a:ea typeface="Georgia" pitchFamily="34" charset="-122"/>
                <a:cs typeface="Georgia" pitchFamily="34" charset="-120"/>
              </a:rPr>
              <a:t>ConvNeXt &gt; ViT &gt; ResNet50</a:t>
            </a:r>
            <a:endParaRPr lang="en-US" sz="1800" dirty="0"/>
          </a:p>
          <a:p>
            <a:pPr marL="0" indent="0">
              <a:spcAft>
                <a:spcPts val="400"/>
              </a:spcAft>
              <a:buNone/>
            </a:pPr>
            <a:r>
              <a:rPr lang="en-US" sz="1200" dirty="0">
                <a:solidFill>
                  <a:srgbClr val="FFFFFF"/>
                </a:solidFill>
                <a:latin typeface="Calibri" pitchFamily="34" charset="0"/>
                <a:ea typeface="Calibri" pitchFamily="34" charset="-122"/>
                <a:cs typeface="Calibri" pitchFamily="34" charset="-120"/>
              </a:rPr>
              <a:t>same ranking holds on SGFood-233 Before and After data cleaning and on Food-101 (secondary benchmark) </a:t>
            </a:r>
            <a:endParaRPr lang="en-US" sz="1800" dirty="0"/>
          </a:p>
        </p:txBody>
      </p:sp>
    </p:spTree>
    <p:extLst>
      <p:ext uri="{BB962C8B-B14F-4D97-AF65-F5344CB8AC3E}">
        <p14:creationId xmlns:p14="http://schemas.microsoft.com/office/powerpoint/2010/main" val="27935073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6019411-BA73-8994-ED8C-65C40352D2AC}"/>
              </a:ext>
            </a:extLst>
          </p:cNvPr>
          <p:cNvPicPr>
            <a:picLocks noChangeAspect="1"/>
          </p:cNvPicPr>
          <p:nvPr/>
        </p:nvPicPr>
        <p:blipFill>
          <a:blip r:embed="rId3"/>
          <a:stretch>
            <a:fillRect/>
          </a:stretch>
        </p:blipFill>
        <p:spPr>
          <a:xfrm>
            <a:off x="457200" y="2762552"/>
            <a:ext cx="6881101" cy="2133487"/>
          </a:xfrm>
          <a:prstGeom prst="rect">
            <a:avLst/>
          </a:prstGeom>
        </p:spPr>
      </p:pic>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16 / 24</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Performance mirrors embedding geometry</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3353319111"/>
              </p:ext>
            </p:extLst>
          </p:nvPr>
        </p:nvGraphicFramePr>
        <p:xfrm>
          <a:off x="457200" y="1409415"/>
          <a:ext cx="4206240" cy="1274064"/>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EMB. DIM</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SILHOUETTE  (PCA-256, cosine)</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C97B3F"/>
                          </a:solidFill>
                          <a:latin typeface="Calibri" pitchFamily="34" charset="0"/>
                          <a:ea typeface="Calibri" pitchFamily="34" charset="-122"/>
                          <a:cs typeface="Calibri" pitchFamily="34" charset="-120"/>
                        </a:rPr>
                        <a:t>ResNet50</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2048</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0.094</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5C7A55"/>
                          </a:solidFill>
                          <a:latin typeface="Calibri" pitchFamily="34" charset="0"/>
                          <a:ea typeface="Calibri" pitchFamily="34" charset="-122"/>
                          <a:cs typeface="Calibri" pitchFamily="34" charset="-120"/>
                        </a:rPr>
                        <a:t>ViT-Base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768</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0.143</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8B3A3A"/>
                          </a:solidFill>
                          <a:latin typeface="Calibri" pitchFamily="34" charset="0"/>
                          <a:ea typeface="Calibri" pitchFamily="34" charset="-122"/>
                          <a:cs typeface="Calibri" pitchFamily="34" charset="-120"/>
                        </a:rPr>
                        <a:t>ConvNeXt-Base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1024</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b="1" dirty="0">
                          <a:solidFill>
                            <a:srgbClr val="2B2B2B"/>
                          </a:solidFill>
                          <a:latin typeface="Calibri" pitchFamily="34" charset="0"/>
                          <a:ea typeface="Calibri" pitchFamily="34" charset="-122"/>
                          <a:cs typeface="Calibri" pitchFamily="34" charset="-120"/>
                        </a:rPr>
                        <a:t>0.304</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4937760" y="1409415"/>
            <a:ext cx="3474720" cy="1274064"/>
          </a:xfrm>
          <a:prstGeom prst="rect">
            <a:avLst/>
          </a:prstGeom>
          <a:solidFill>
            <a:srgbClr val="FBF8F2"/>
          </a:solidFill>
          <a:ln w="6350">
            <a:solidFill>
              <a:srgbClr val="D8CFC0"/>
            </a:solidFill>
            <a:prstDash val="solid"/>
          </a:ln>
        </p:spPr>
        <p:txBody>
          <a:bodyPr/>
          <a:lstStyle/>
          <a:p>
            <a:endParaRPr lang="en-US"/>
          </a:p>
        </p:txBody>
      </p:sp>
      <p:sp>
        <p:nvSpPr>
          <p:cNvPr id="8" name="Text 5"/>
          <p:cNvSpPr/>
          <p:nvPr/>
        </p:nvSpPr>
        <p:spPr>
          <a:xfrm>
            <a:off x="4937760" y="1500855"/>
            <a:ext cx="3474720" cy="457200"/>
          </a:xfrm>
          <a:prstGeom prst="rect">
            <a:avLst/>
          </a:prstGeom>
          <a:noFill/>
          <a:ln/>
        </p:spPr>
        <p:txBody>
          <a:bodyPr wrap="square" lIns="0" tIns="0" rIns="0" bIns="0" rtlCol="0" anchor="ctr"/>
          <a:lstStyle/>
          <a:p>
            <a:pPr marL="0" indent="0" algn="ctr">
              <a:buNone/>
            </a:pPr>
            <a:r>
              <a:rPr lang="en-US" sz="5600" b="1" dirty="0">
                <a:solidFill>
                  <a:srgbClr val="B85042"/>
                </a:solidFill>
                <a:latin typeface="Georgia" pitchFamily="34" charset="0"/>
                <a:ea typeface="Georgia" pitchFamily="34" charset="-122"/>
                <a:cs typeface="Georgia" pitchFamily="34" charset="-120"/>
              </a:rPr>
              <a:t>3.2×</a:t>
            </a:r>
            <a:endParaRPr lang="en-US" sz="5600" dirty="0"/>
          </a:p>
        </p:txBody>
      </p:sp>
      <p:sp>
        <p:nvSpPr>
          <p:cNvPr id="9" name="Text 6"/>
          <p:cNvSpPr/>
          <p:nvPr/>
        </p:nvSpPr>
        <p:spPr>
          <a:xfrm>
            <a:off x="4937760" y="2323815"/>
            <a:ext cx="3474720" cy="304800"/>
          </a:xfrm>
          <a:prstGeom prst="rect">
            <a:avLst/>
          </a:prstGeom>
          <a:noFill/>
          <a:ln/>
        </p:spPr>
        <p:txBody>
          <a:bodyPr wrap="square" lIns="0" tIns="0" rIns="0" bIns="0" rtlCol="0" anchor="ctr"/>
          <a:lstStyle/>
          <a:p>
            <a:pPr marL="0" indent="0" algn="ctr">
              <a:buNone/>
            </a:pPr>
            <a:r>
              <a:rPr lang="en-US" sz="1100" dirty="0">
                <a:solidFill>
                  <a:srgbClr val="454545"/>
                </a:solidFill>
                <a:latin typeface="Calibri" pitchFamily="34" charset="0"/>
                <a:ea typeface="Calibri" pitchFamily="34" charset="-122"/>
                <a:cs typeface="Calibri" pitchFamily="34" charset="-120"/>
              </a:rPr>
              <a:t>higher class separation</a:t>
            </a:r>
            <a:endParaRPr lang="en-US" sz="1100" dirty="0"/>
          </a:p>
          <a:p>
            <a:pPr marL="0" indent="0" algn="ctr">
              <a:buNone/>
            </a:pPr>
            <a:r>
              <a:rPr lang="en-US" sz="1100" dirty="0">
                <a:solidFill>
                  <a:srgbClr val="454545"/>
                </a:solidFill>
                <a:latin typeface="Calibri" pitchFamily="34" charset="0"/>
                <a:ea typeface="Calibri" pitchFamily="34" charset="-122"/>
                <a:cs typeface="Calibri" pitchFamily="34" charset="-120"/>
              </a:rPr>
              <a:t>ConvNeXt vs. ResNet50  (PCA-equalised)</a:t>
            </a:r>
            <a:endParaRPr lang="en-US" sz="1100" dirty="0"/>
          </a:p>
        </p:txBody>
      </p:sp>
      <p:sp>
        <p:nvSpPr>
          <p:cNvPr id="12" name="Text 9"/>
          <p:cNvSpPr/>
          <p:nvPr/>
        </p:nvSpPr>
        <p:spPr>
          <a:xfrm>
            <a:off x="337246" y="4393119"/>
            <a:ext cx="2514600" cy="502920"/>
          </a:xfrm>
          <a:prstGeom prst="rect">
            <a:avLst/>
          </a:prstGeom>
          <a:noFill/>
          <a:ln/>
        </p:spPr>
        <p:txBody>
          <a:bodyPr wrap="square" lIns="0" tIns="0" rIns="0" bIns="0" rtlCol="0" anchor="ctr"/>
          <a:lstStyle/>
          <a:p>
            <a:pPr marL="0" indent="0" algn="ctr">
              <a:buNone/>
            </a:pPr>
            <a:r>
              <a:rPr lang="en-US" sz="1000" i="1" dirty="0">
                <a:solidFill>
                  <a:srgbClr val="454545"/>
                </a:solidFill>
                <a:latin typeface="Calibri" pitchFamily="34" charset="0"/>
                <a:ea typeface="Calibri" pitchFamily="34" charset="-122"/>
                <a:cs typeface="Calibri" pitchFamily="34" charset="-120"/>
              </a:rPr>
              <a:t>Amorphous cloud,</a:t>
            </a:r>
            <a:r>
              <a:rPr lang="en-US" sz="1000" dirty="0"/>
              <a:t> </a:t>
            </a:r>
          </a:p>
          <a:p>
            <a:pPr marL="0" indent="0" algn="ctr">
              <a:buNone/>
            </a:pPr>
            <a:r>
              <a:rPr lang="en-US" sz="1000" i="1" dirty="0">
                <a:solidFill>
                  <a:srgbClr val="454545"/>
                </a:solidFill>
                <a:latin typeface="Calibri" pitchFamily="34" charset="0"/>
                <a:ea typeface="Calibri" pitchFamily="34" charset="-122"/>
                <a:cs typeface="Calibri" pitchFamily="34" charset="-120"/>
              </a:rPr>
              <a:t>heavy class overlap</a:t>
            </a:r>
            <a:endParaRPr lang="en-US" sz="1000" dirty="0"/>
          </a:p>
        </p:txBody>
      </p:sp>
      <p:sp>
        <p:nvSpPr>
          <p:cNvPr id="15" name="Text 12"/>
          <p:cNvSpPr/>
          <p:nvPr/>
        </p:nvSpPr>
        <p:spPr>
          <a:xfrm>
            <a:off x="2731891" y="4393119"/>
            <a:ext cx="2514600" cy="502920"/>
          </a:xfrm>
          <a:prstGeom prst="rect">
            <a:avLst/>
          </a:prstGeom>
          <a:noFill/>
          <a:ln/>
        </p:spPr>
        <p:txBody>
          <a:bodyPr wrap="square" lIns="0" tIns="0" rIns="0" bIns="0" rtlCol="0" anchor="ctr"/>
          <a:lstStyle/>
          <a:p>
            <a:pPr marL="0" indent="0" algn="ctr">
              <a:buNone/>
            </a:pPr>
            <a:r>
              <a:rPr lang="en-US" sz="1000" i="1" dirty="0">
                <a:solidFill>
                  <a:srgbClr val="454545"/>
                </a:solidFill>
                <a:latin typeface="Calibri" pitchFamily="34" charset="0"/>
                <a:ea typeface="Calibri" pitchFamily="34" charset="-122"/>
                <a:cs typeface="Calibri" pitchFamily="34" charset="-120"/>
              </a:rPr>
              <a:t>Partial clustering,</a:t>
            </a:r>
            <a:endParaRPr lang="en-US" sz="1000" dirty="0"/>
          </a:p>
          <a:p>
            <a:pPr marL="0" indent="0" algn="ctr">
              <a:buNone/>
            </a:pPr>
            <a:r>
              <a:rPr lang="en-US" sz="1000" i="1" dirty="0">
                <a:solidFill>
                  <a:srgbClr val="454545"/>
                </a:solidFill>
                <a:latin typeface="Calibri" pitchFamily="34" charset="0"/>
                <a:ea typeface="Calibri" pitchFamily="34" charset="-122"/>
                <a:cs typeface="Calibri" pitchFamily="34" charset="-120"/>
              </a:rPr>
              <a:t>blurred boundaries</a:t>
            </a:r>
            <a:endParaRPr lang="en-US" sz="1000" dirty="0"/>
          </a:p>
        </p:txBody>
      </p:sp>
      <p:sp>
        <p:nvSpPr>
          <p:cNvPr id="18" name="Text 15"/>
          <p:cNvSpPr/>
          <p:nvPr/>
        </p:nvSpPr>
        <p:spPr>
          <a:xfrm>
            <a:off x="5006582" y="4393119"/>
            <a:ext cx="2514600" cy="502920"/>
          </a:xfrm>
          <a:prstGeom prst="rect">
            <a:avLst/>
          </a:prstGeom>
          <a:noFill/>
          <a:ln/>
        </p:spPr>
        <p:txBody>
          <a:bodyPr wrap="square" lIns="0" tIns="0" rIns="0" bIns="0" rtlCol="0" anchor="ctr"/>
          <a:lstStyle/>
          <a:p>
            <a:pPr marL="0" indent="0" algn="ctr">
              <a:buNone/>
            </a:pPr>
            <a:r>
              <a:rPr lang="en-US" sz="1000" i="1" dirty="0">
                <a:solidFill>
                  <a:srgbClr val="454545"/>
                </a:solidFill>
                <a:latin typeface="Calibri" pitchFamily="34" charset="0"/>
                <a:ea typeface="Calibri" pitchFamily="34" charset="-122"/>
                <a:cs typeface="Calibri" pitchFamily="34" charset="-120"/>
              </a:rPr>
              <a:t>Visibly distinct clusters,</a:t>
            </a:r>
            <a:endParaRPr lang="en-US" sz="1000" dirty="0"/>
          </a:p>
          <a:p>
            <a:pPr marL="0" indent="0" algn="ctr">
              <a:buNone/>
            </a:pPr>
            <a:r>
              <a:rPr lang="en-US" sz="1000" i="1" dirty="0">
                <a:solidFill>
                  <a:srgbClr val="454545"/>
                </a:solidFill>
                <a:latin typeface="Calibri" pitchFamily="34" charset="0"/>
                <a:ea typeface="Calibri" pitchFamily="34" charset="-122"/>
                <a:cs typeface="Calibri" pitchFamily="34" charset="-120"/>
              </a:rPr>
              <a:t>clean separation</a:t>
            </a:r>
            <a:endParaRPr lang="en-US" sz="1000" dirty="0"/>
          </a:p>
        </p:txBody>
      </p:sp>
      <p:sp>
        <p:nvSpPr>
          <p:cNvPr id="19" name="Text 16"/>
          <p:cNvSpPr/>
          <p:nvPr/>
        </p:nvSpPr>
        <p:spPr>
          <a:xfrm>
            <a:off x="457200" y="4889218"/>
            <a:ext cx="8229600" cy="274320"/>
          </a:xfrm>
          <a:prstGeom prst="rect">
            <a:avLst/>
          </a:prstGeom>
          <a:noFill/>
          <a:ln/>
        </p:spPr>
        <p:txBody>
          <a:bodyPr wrap="square" lIns="0" tIns="0" rIns="0" bIns="0" rtlCol="0" anchor="ctr"/>
          <a:lstStyle/>
          <a:p>
            <a:pPr algn="ctr"/>
            <a:r>
              <a:rPr lang="en-US" sz="1000" i="1" dirty="0">
                <a:solidFill>
                  <a:srgbClr val="888888"/>
                </a:solidFill>
                <a:latin typeface="Calibri" pitchFamily="34" charset="0"/>
                <a:ea typeface="Calibri" pitchFamily="34" charset="-122"/>
                <a:cs typeface="Calibri" pitchFamily="34" charset="-120"/>
              </a:rPr>
              <a:t>t-SNE projections of penultimate-layer embeddings for ResNet50, </a:t>
            </a:r>
            <a:r>
              <a:rPr lang="en-US" sz="1000" i="1" dirty="0" err="1">
                <a:solidFill>
                  <a:srgbClr val="888888"/>
                </a:solidFill>
                <a:latin typeface="Calibri" pitchFamily="34" charset="0"/>
                <a:ea typeface="Calibri" pitchFamily="34" charset="-122"/>
                <a:cs typeface="Calibri" pitchFamily="34" charset="-120"/>
              </a:rPr>
              <a:t>ViT</a:t>
            </a:r>
            <a:r>
              <a:rPr lang="en-US" sz="1000" i="1" dirty="0">
                <a:solidFill>
                  <a:srgbClr val="888888"/>
                </a:solidFill>
                <a:latin typeface="Calibri" pitchFamily="34" charset="0"/>
                <a:ea typeface="Calibri" pitchFamily="34" charset="-122"/>
                <a:cs typeface="Calibri" pitchFamily="34" charset="-120"/>
              </a:rPr>
              <a:t>, and ConvNeXt</a:t>
            </a:r>
            <a:endParaRPr lang="en-US" sz="1000" dirty="0"/>
          </a:p>
        </p:txBody>
      </p:sp>
      <p:sp>
        <p:nvSpPr>
          <p:cNvPr id="20" name="AutoShape 2">
            <a:extLst>
              <a:ext uri="{FF2B5EF4-FFF2-40B4-BE49-F238E27FC236}">
                <a16:creationId xmlns:a16="http://schemas.microsoft.com/office/drawing/2014/main" id="{A45E9D4B-D730-3DE9-45A2-FEACC91C1B27}"/>
              </a:ext>
            </a:extLst>
          </p:cNvPr>
          <p:cNvSpPr>
            <a:spLocks noChangeAspect="1" noChangeArrowheads="1"/>
          </p:cNvSpPr>
          <p:nvPr/>
        </p:nvSpPr>
        <p:spPr bwMode="auto">
          <a:xfrm>
            <a:off x="4419600" y="21371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5" name="Table 0">
            <a:extLst>
              <a:ext uri="{FF2B5EF4-FFF2-40B4-BE49-F238E27FC236}">
                <a16:creationId xmlns:a16="http://schemas.microsoft.com/office/drawing/2014/main" id="{3BC718FC-84B4-B891-964A-528C0B9686A5}"/>
              </a:ext>
            </a:extLst>
          </p:cNvPr>
          <p:cNvGraphicFramePr>
            <a:graphicFrameLocks noGrp="1"/>
          </p:cNvGraphicFramePr>
          <p:nvPr>
            <p:extLst>
              <p:ext uri="{D42A27DB-BD31-4B8C-83A1-F6EECF244321}">
                <p14:modId xmlns:p14="http://schemas.microsoft.com/office/powerpoint/2010/main" val="1651137428"/>
              </p:ext>
            </p:extLst>
          </p:nvPr>
        </p:nvGraphicFramePr>
        <p:xfrm>
          <a:off x="7401227" y="3172391"/>
          <a:ext cx="1531380" cy="1546778"/>
        </p:xfrm>
        <a:graphic>
          <a:graphicData uri="http://schemas.openxmlformats.org/drawingml/2006/table">
            <a:tbl>
              <a:tblPr/>
              <a:tblGrid>
                <a:gridCol w="660156">
                  <a:extLst>
                    <a:ext uri="{9D8B030D-6E8A-4147-A177-3AD203B41FA5}">
                      <a16:colId xmlns:a16="http://schemas.microsoft.com/office/drawing/2014/main" val="20000"/>
                    </a:ext>
                  </a:extLst>
                </a:gridCol>
                <a:gridCol w="871224">
                  <a:extLst>
                    <a:ext uri="{9D8B030D-6E8A-4147-A177-3AD203B41FA5}">
                      <a16:colId xmlns:a16="http://schemas.microsoft.com/office/drawing/2014/main" val="20001"/>
                    </a:ext>
                  </a:extLst>
                </a:gridCol>
              </a:tblGrid>
              <a:tr h="26661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Mean ± Std</a:t>
                      </a:r>
                      <a:endParaRPr lang="en-US" sz="10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388818">
                <a:tc>
                  <a:txBody>
                    <a:bodyPr/>
                    <a:lstStyle/>
                    <a:p>
                      <a:pPr marL="0" indent="0">
                        <a:buNone/>
                      </a:pPr>
                      <a:r>
                        <a:rPr lang="en-US" sz="1100" b="1" dirty="0">
                          <a:solidFill>
                            <a:srgbClr val="C97B3F"/>
                          </a:solidFill>
                          <a:latin typeface="Calibri" pitchFamily="34" charset="0"/>
                          <a:ea typeface="Calibri" pitchFamily="34" charset="-122"/>
                          <a:cs typeface="Calibri" pitchFamily="34" charset="-120"/>
                        </a:rPr>
                        <a:t>ResNet50</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-0.2083 ± 0.0006</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1"/>
                  </a:ext>
                </a:extLst>
              </a:tr>
              <a:tr h="388818">
                <a:tc>
                  <a:txBody>
                    <a:bodyPr/>
                    <a:lstStyle/>
                    <a:p>
                      <a:pPr marL="0" indent="0">
                        <a:buNone/>
                      </a:pPr>
                      <a:r>
                        <a:rPr lang="en-US" sz="1100" b="1" dirty="0">
                          <a:solidFill>
                            <a:srgbClr val="5C7A55"/>
                          </a:solidFill>
                          <a:latin typeface="Calibri" pitchFamily="34" charset="0"/>
                          <a:ea typeface="Calibri" pitchFamily="34" charset="-122"/>
                          <a:cs typeface="Calibri" pitchFamily="34" charset="-120"/>
                        </a:rPr>
                        <a:t>ViT-Base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0.0079 ± 0.0013</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2"/>
                  </a:ext>
                </a:extLst>
              </a:tr>
              <a:tr h="388818">
                <a:tc>
                  <a:txBody>
                    <a:bodyPr/>
                    <a:lstStyle/>
                    <a:p>
                      <a:pPr marL="0" indent="0">
                        <a:buNone/>
                      </a:pPr>
                      <a:r>
                        <a:rPr lang="en-US" sz="1100" b="1" dirty="0">
                          <a:solidFill>
                            <a:srgbClr val="8B3A3A"/>
                          </a:solidFill>
                          <a:latin typeface="Calibri" pitchFamily="34" charset="0"/>
                          <a:ea typeface="Calibri" pitchFamily="34" charset="-122"/>
                          <a:cs typeface="Calibri" pitchFamily="34" charset="-120"/>
                        </a:rPr>
                        <a:t>ConvNeXt-Base</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tc>
                  <a:txBody>
                    <a:bodyPr/>
                    <a:lstStyle/>
                    <a:p>
                      <a:pPr marL="0" indent="0" algn="ctr">
                        <a:buNone/>
                      </a:pPr>
                      <a:r>
                        <a:rPr lang="en-US" sz="1100" dirty="0">
                          <a:solidFill>
                            <a:srgbClr val="454545"/>
                          </a:solidFill>
                          <a:latin typeface="Calibri" pitchFamily="34" charset="0"/>
                          <a:ea typeface="Calibri" pitchFamily="34" charset="-122"/>
                          <a:cs typeface="Calibri" pitchFamily="34" charset="-120"/>
                        </a:rPr>
                        <a:t>0.1887 ± 0.0009</a:t>
                      </a:r>
                      <a:endParaRPr lang="en-US" sz="1100" dirty="0">
                        <a:latin typeface="Calibri" charset="0"/>
                        <a:ea typeface="Calibri" charset="0"/>
                        <a:cs typeface="Calibri" charset="0"/>
                      </a:endParaRPr>
                    </a:p>
                  </a:txBody>
                  <a:tcPr>
                    <a:lnL w="6350" cap="flat" cmpd="sng" algn="ctr">
                      <a:solidFill>
                        <a:srgbClr val="D8CFC0"/>
                      </a:solidFill>
                      <a:prstDash val="solid"/>
                      <a:round/>
                      <a:headEnd type="none" w="med" len="med"/>
                      <a:tailEnd type="none" w="med" len="med"/>
                    </a:lnL>
                    <a:lnR w="6350" cap="flat" cmpd="sng" algn="ctr">
                      <a:solidFill>
                        <a:srgbClr val="D8CFC0"/>
                      </a:solidFill>
                      <a:prstDash val="solid"/>
                      <a:round/>
                      <a:headEnd type="none" w="med" len="med"/>
                      <a:tailEnd type="none" w="med" len="med"/>
                    </a:lnR>
                    <a:lnT w="6350" cap="flat" cmpd="sng" algn="ctr">
                      <a:solidFill>
                        <a:srgbClr val="D8CFC0"/>
                      </a:solidFill>
                      <a:prstDash val="solid"/>
                      <a:round/>
                      <a:headEnd type="none" w="med" len="med"/>
                      <a:tailEnd type="none" w="med" len="med"/>
                    </a:lnT>
                    <a:lnB w="6350" cap="flat" cmpd="sng" algn="ctr">
                      <a:solidFill>
                        <a:srgbClr val="D8CF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47550EB3-7D08-5201-DE2F-E345651EDF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426F62-68D6-457E-FBD0-8417758B525C}"/>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0E446E4C-676C-F990-BEFA-62D7DECB0D7F}"/>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A79481C5-21CD-0C20-A0AB-0D0F9B6489E7}"/>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17 / 24</a:t>
            </a:r>
            <a:endParaRPr lang="en-US" sz="900" dirty="0"/>
          </a:p>
        </p:txBody>
      </p:sp>
      <p:sp>
        <p:nvSpPr>
          <p:cNvPr id="5" name="Text 3">
            <a:extLst>
              <a:ext uri="{FF2B5EF4-FFF2-40B4-BE49-F238E27FC236}">
                <a16:creationId xmlns:a16="http://schemas.microsoft.com/office/drawing/2014/main" id="{584F2CFA-7DD3-FFFF-CBE5-354694A9C9AE}"/>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Architectural unique failure signatures</a:t>
            </a:r>
            <a:endParaRPr lang="en-US" sz="2600" dirty="0"/>
          </a:p>
        </p:txBody>
      </p:sp>
      <p:sp>
        <p:nvSpPr>
          <p:cNvPr id="6" name="Text 4">
            <a:extLst>
              <a:ext uri="{FF2B5EF4-FFF2-40B4-BE49-F238E27FC236}">
                <a16:creationId xmlns:a16="http://schemas.microsoft.com/office/drawing/2014/main" id="{76BABE47-B33E-772E-F264-A34BC7C10ED6}"/>
              </a:ext>
            </a:extLst>
          </p:cNvPr>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Each architecture has a distinct failure mode, traceable to its spatial-modelling mechanism</a:t>
            </a:r>
            <a:endParaRPr lang="en-US" sz="1100" dirty="0"/>
          </a:p>
        </p:txBody>
      </p:sp>
      <p:sp>
        <p:nvSpPr>
          <p:cNvPr id="7" name="Shape 5">
            <a:extLst>
              <a:ext uri="{FF2B5EF4-FFF2-40B4-BE49-F238E27FC236}">
                <a16:creationId xmlns:a16="http://schemas.microsoft.com/office/drawing/2014/main" id="{2FAEC40E-70F7-BEA9-00B5-C5F3CE804291}"/>
              </a:ext>
            </a:extLst>
          </p:cNvPr>
          <p:cNvSpPr/>
          <p:nvPr/>
        </p:nvSpPr>
        <p:spPr>
          <a:xfrm>
            <a:off x="457200"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8" name="Shape 6">
            <a:extLst>
              <a:ext uri="{FF2B5EF4-FFF2-40B4-BE49-F238E27FC236}">
                <a16:creationId xmlns:a16="http://schemas.microsoft.com/office/drawing/2014/main" id="{BBBB679C-8794-810E-4350-550EB28C583B}"/>
              </a:ext>
            </a:extLst>
          </p:cNvPr>
          <p:cNvSpPr/>
          <p:nvPr/>
        </p:nvSpPr>
        <p:spPr>
          <a:xfrm>
            <a:off x="457200" y="1920240"/>
            <a:ext cx="2697480" cy="91440"/>
          </a:xfrm>
          <a:prstGeom prst="rect">
            <a:avLst/>
          </a:prstGeom>
          <a:solidFill>
            <a:srgbClr val="C97B3F"/>
          </a:solidFill>
          <a:ln w="12700">
            <a:solidFill>
              <a:srgbClr val="C97B3F"/>
            </a:solidFill>
            <a:prstDash val="solid"/>
          </a:ln>
        </p:spPr>
        <p:txBody>
          <a:bodyPr/>
          <a:lstStyle/>
          <a:p>
            <a:endParaRPr lang="en-US"/>
          </a:p>
        </p:txBody>
      </p:sp>
      <p:sp>
        <p:nvSpPr>
          <p:cNvPr id="9" name="Text 7">
            <a:extLst>
              <a:ext uri="{FF2B5EF4-FFF2-40B4-BE49-F238E27FC236}">
                <a16:creationId xmlns:a16="http://schemas.microsoft.com/office/drawing/2014/main" id="{FC3B7D61-E6A9-D42A-0032-63D6663B3D0F}"/>
              </a:ext>
            </a:extLst>
          </p:cNvPr>
          <p:cNvSpPr/>
          <p:nvPr/>
        </p:nvSpPr>
        <p:spPr>
          <a:xfrm>
            <a:off x="640080" y="2103120"/>
            <a:ext cx="2331720" cy="274320"/>
          </a:xfrm>
          <a:prstGeom prst="rect">
            <a:avLst/>
          </a:prstGeom>
          <a:noFill/>
          <a:ln/>
        </p:spPr>
        <p:txBody>
          <a:bodyPr wrap="square" lIns="0" tIns="0" rIns="0" bIns="0" rtlCol="0" anchor="ctr"/>
          <a:lstStyle/>
          <a:p>
            <a:pPr marL="0" indent="0">
              <a:buNone/>
            </a:pPr>
            <a:r>
              <a:rPr lang="en-US" sz="1000" b="1" kern="0" spc="400" dirty="0">
                <a:solidFill>
                  <a:srgbClr val="C97B3F"/>
                </a:solidFill>
                <a:latin typeface="Calibri" pitchFamily="34" charset="0"/>
                <a:ea typeface="Calibri" pitchFamily="34" charset="-122"/>
                <a:cs typeface="Calibri" pitchFamily="34" charset="-120"/>
              </a:rPr>
              <a:t>RESNET50</a:t>
            </a:r>
            <a:endParaRPr lang="en-US" sz="1000" dirty="0"/>
          </a:p>
        </p:txBody>
      </p:sp>
      <p:sp>
        <p:nvSpPr>
          <p:cNvPr id="10" name="Text 8">
            <a:extLst>
              <a:ext uri="{FF2B5EF4-FFF2-40B4-BE49-F238E27FC236}">
                <a16:creationId xmlns:a16="http://schemas.microsoft.com/office/drawing/2014/main" id="{981F6092-6A9D-374D-D5AE-A34A56D5702A}"/>
              </a:ext>
            </a:extLst>
          </p:cNvPr>
          <p:cNvSpPr/>
          <p:nvPr/>
        </p:nvSpPr>
        <p:spPr>
          <a:xfrm>
            <a:off x="640080"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Local Texture Trap</a:t>
            </a:r>
            <a:endParaRPr lang="en-US" sz="1600" dirty="0"/>
          </a:p>
        </p:txBody>
      </p:sp>
      <p:sp>
        <p:nvSpPr>
          <p:cNvPr id="11" name="Text 9">
            <a:extLst>
              <a:ext uri="{FF2B5EF4-FFF2-40B4-BE49-F238E27FC236}">
                <a16:creationId xmlns:a16="http://schemas.microsoft.com/office/drawing/2014/main" id="{15887F41-1C39-8467-4D70-200D6715A7CD}"/>
              </a:ext>
            </a:extLst>
          </p:cNvPr>
          <p:cNvSpPr/>
          <p:nvPr/>
        </p:nvSpPr>
        <p:spPr>
          <a:xfrm>
            <a:off x="640080"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12" name="Text 10">
            <a:extLst>
              <a:ext uri="{FF2B5EF4-FFF2-40B4-BE49-F238E27FC236}">
                <a16:creationId xmlns:a16="http://schemas.microsoft.com/office/drawing/2014/main" id="{8806DDED-FD10-1813-BDA8-938DBC1E82BA}"/>
              </a:ext>
            </a:extLst>
          </p:cNvPr>
          <p:cNvSpPr/>
          <p:nvPr/>
        </p:nvSpPr>
        <p:spPr>
          <a:xfrm>
            <a:off x="640080"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Har Cheong Gai → Fried Chicken</a:t>
            </a:r>
            <a:endParaRPr lang="en-US" sz="1100" dirty="0"/>
          </a:p>
        </p:txBody>
      </p:sp>
      <p:sp>
        <p:nvSpPr>
          <p:cNvPr id="13" name="Text 11">
            <a:extLst>
              <a:ext uri="{FF2B5EF4-FFF2-40B4-BE49-F238E27FC236}">
                <a16:creationId xmlns:a16="http://schemas.microsoft.com/office/drawing/2014/main" id="{336233F4-3878-76E4-59BA-71D705D33BEF}"/>
              </a:ext>
            </a:extLst>
          </p:cNvPr>
          <p:cNvSpPr/>
          <p:nvPr/>
        </p:nvSpPr>
        <p:spPr>
          <a:xfrm>
            <a:off x="640080"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14" name="Text 12">
            <a:extLst>
              <a:ext uri="{FF2B5EF4-FFF2-40B4-BE49-F238E27FC236}">
                <a16:creationId xmlns:a16="http://schemas.microsoft.com/office/drawing/2014/main" id="{C3D0A798-15EB-E460-792B-85710AF36C96}"/>
              </a:ext>
            </a:extLst>
          </p:cNvPr>
          <p:cNvSpPr/>
          <p:nvPr/>
        </p:nvSpPr>
        <p:spPr>
          <a:xfrm>
            <a:off x="640080"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3×3 kernels + decaying effective receptive field → predictions dominated by local texture patches</a:t>
            </a:r>
            <a:endParaRPr lang="en-US" sz="900" dirty="0"/>
          </a:p>
        </p:txBody>
      </p:sp>
      <p:sp>
        <p:nvSpPr>
          <p:cNvPr id="15" name="Shape 13">
            <a:extLst>
              <a:ext uri="{FF2B5EF4-FFF2-40B4-BE49-F238E27FC236}">
                <a16:creationId xmlns:a16="http://schemas.microsoft.com/office/drawing/2014/main" id="{B4353EB6-6BDE-8698-DAE7-0BA756FAC63F}"/>
              </a:ext>
            </a:extLst>
          </p:cNvPr>
          <p:cNvSpPr/>
          <p:nvPr/>
        </p:nvSpPr>
        <p:spPr>
          <a:xfrm>
            <a:off x="3223260"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16" name="Shape 14">
            <a:extLst>
              <a:ext uri="{FF2B5EF4-FFF2-40B4-BE49-F238E27FC236}">
                <a16:creationId xmlns:a16="http://schemas.microsoft.com/office/drawing/2014/main" id="{EB2C09B0-BC71-B5AB-A7ED-90196E1BE7EA}"/>
              </a:ext>
            </a:extLst>
          </p:cNvPr>
          <p:cNvSpPr/>
          <p:nvPr/>
        </p:nvSpPr>
        <p:spPr>
          <a:xfrm>
            <a:off x="3223260" y="1920240"/>
            <a:ext cx="2697480" cy="91440"/>
          </a:xfrm>
          <a:prstGeom prst="rect">
            <a:avLst/>
          </a:prstGeom>
          <a:solidFill>
            <a:srgbClr val="5C7A55"/>
          </a:solidFill>
          <a:ln w="12700">
            <a:solidFill>
              <a:srgbClr val="5C7A55"/>
            </a:solidFill>
            <a:prstDash val="solid"/>
          </a:ln>
        </p:spPr>
        <p:txBody>
          <a:bodyPr/>
          <a:lstStyle/>
          <a:p>
            <a:endParaRPr lang="en-US"/>
          </a:p>
        </p:txBody>
      </p:sp>
      <p:sp>
        <p:nvSpPr>
          <p:cNvPr id="17" name="Text 15">
            <a:extLst>
              <a:ext uri="{FF2B5EF4-FFF2-40B4-BE49-F238E27FC236}">
                <a16:creationId xmlns:a16="http://schemas.microsoft.com/office/drawing/2014/main" id="{3F0548BB-02BE-3A38-F2EB-B0172545F9F1}"/>
              </a:ext>
            </a:extLst>
          </p:cNvPr>
          <p:cNvSpPr/>
          <p:nvPr/>
        </p:nvSpPr>
        <p:spPr>
          <a:xfrm>
            <a:off x="3406140" y="2103120"/>
            <a:ext cx="233172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VIT</a:t>
            </a:r>
            <a:endParaRPr lang="en-US" sz="1000" dirty="0"/>
          </a:p>
        </p:txBody>
      </p:sp>
      <p:sp>
        <p:nvSpPr>
          <p:cNvPr id="18" name="Text 16">
            <a:extLst>
              <a:ext uri="{FF2B5EF4-FFF2-40B4-BE49-F238E27FC236}">
                <a16:creationId xmlns:a16="http://schemas.microsoft.com/office/drawing/2014/main" id="{8A25C75E-BF4E-9D60-EE27-76FEDCC01545}"/>
              </a:ext>
            </a:extLst>
          </p:cNvPr>
          <p:cNvSpPr/>
          <p:nvPr/>
        </p:nvSpPr>
        <p:spPr>
          <a:xfrm>
            <a:off x="3406140"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Semantic Attractor Collapse</a:t>
            </a:r>
            <a:endParaRPr lang="en-US" sz="1600" dirty="0"/>
          </a:p>
        </p:txBody>
      </p:sp>
      <p:sp>
        <p:nvSpPr>
          <p:cNvPr id="19" name="Text 17">
            <a:extLst>
              <a:ext uri="{FF2B5EF4-FFF2-40B4-BE49-F238E27FC236}">
                <a16:creationId xmlns:a16="http://schemas.microsoft.com/office/drawing/2014/main" id="{C50E5F4E-49A8-8074-9BA3-D8780DB1ED71}"/>
              </a:ext>
            </a:extLst>
          </p:cNvPr>
          <p:cNvSpPr/>
          <p:nvPr/>
        </p:nvSpPr>
        <p:spPr>
          <a:xfrm>
            <a:off x="3406140"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20" name="Text 18">
            <a:extLst>
              <a:ext uri="{FF2B5EF4-FFF2-40B4-BE49-F238E27FC236}">
                <a16:creationId xmlns:a16="http://schemas.microsoft.com/office/drawing/2014/main" id="{E65AF779-E3A6-CE17-4108-6A026D0B8E84}"/>
              </a:ext>
            </a:extLst>
          </p:cNvPr>
          <p:cNvSpPr/>
          <p:nvPr/>
        </p:nvSpPr>
        <p:spPr>
          <a:xfrm>
            <a:off x="3406140"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Cake / Nuts / Snacks → Chocolate</a:t>
            </a:r>
            <a:endParaRPr lang="en-US" sz="1100" dirty="0"/>
          </a:p>
        </p:txBody>
      </p:sp>
      <p:sp>
        <p:nvSpPr>
          <p:cNvPr id="21" name="Text 19">
            <a:extLst>
              <a:ext uri="{FF2B5EF4-FFF2-40B4-BE49-F238E27FC236}">
                <a16:creationId xmlns:a16="http://schemas.microsoft.com/office/drawing/2014/main" id="{D83A4457-4EFF-5E49-5C46-9E853A11D5D3}"/>
              </a:ext>
            </a:extLst>
          </p:cNvPr>
          <p:cNvSpPr/>
          <p:nvPr/>
        </p:nvSpPr>
        <p:spPr>
          <a:xfrm>
            <a:off x="3406140"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22" name="Text 20">
            <a:extLst>
              <a:ext uri="{FF2B5EF4-FFF2-40B4-BE49-F238E27FC236}">
                <a16:creationId xmlns:a16="http://schemas.microsoft.com/office/drawing/2014/main" id="{5C26B092-68BB-A3AF-A039-B850A9D3652F}"/>
              </a:ext>
            </a:extLst>
          </p:cNvPr>
          <p:cNvSpPr/>
          <p:nvPr/>
        </p:nvSpPr>
        <p:spPr>
          <a:xfrm>
            <a:off x="3406140"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Global self-attention abstracts to scene-level concepts → visually distinct classes collapse to a shared semantic</a:t>
            </a:r>
            <a:endParaRPr lang="en-US" sz="900" dirty="0"/>
          </a:p>
        </p:txBody>
      </p:sp>
      <p:sp>
        <p:nvSpPr>
          <p:cNvPr id="23" name="Shape 21">
            <a:extLst>
              <a:ext uri="{FF2B5EF4-FFF2-40B4-BE49-F238E27FC236}">
                <a16:creationId xmlns:a16="http://schemas.microsoft.com/office/drawing/2014/main" id="{136B1E42-6BD7-8762-3224-0DB91E3CF0F4}"/>
              </a:ext>
            </a:extLst>
          </p:cNvPr>
          <p:cNvSpPr/>
          <p:nvPr/>
        </p:nvSpPr>
        <p:spPr>
          <a:xfrm>
            <a:off x="5989320"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24" name="Shape 22">
            <a:extLst>
              <a:ext uri="{FF2B5EF4-FFF2-40B4-BE49-F238E27FC236}">
                <a16:creationId xmlns:a16="http://schemas.microsoft.com/office/drawing/2014/main" id="{20AA90ED-A388-3108-B7E9-376F865FAC00}"/>
              </a:ext>
            </a:extLst>
          </p:cNvPr>
          <p:cNvSpPr/>
          <p:nvPr/>
        </p:nvSpPr>
        <p:spPr>
          <a:xfrm>
            <a:off x="5989320" y="1920240"/>
            <a:ext cx="2697480" cy="91440"/>
          </a:xfrm>
          <a:prstGeom prst="rect">
            <a:avLst/>
          </a:prstGeom>
          <a:solidFill>
            <a:srgbClr val="8B3A3A"/>
          </a:solidFill>
          <a:ln w="12700">
            <a:solidFill>
              <a:srgbClr val="8B3A3A"/>
            </a:solidFill>
            <a:prstDash val="solid"/>
          </a:ln>
        </p:spPr>
        <p:txBody>
          <a:bodyPr/>
          <a:lstStyle/>
          <a:p>
            <a:endParaRPr lang="en-US"/>
          </a:p>
        </p:txBody>
      </p:sp>
      <p:sp>
        <p:nvSpPr>
          <p:cNvPr id="25" name="Text 23">
            <a:extLst>
              <a:ext uri="{FF2B5EF4-FFF2-40B4-BE49-F238E27FC236}">
                <a16:creationId xmlns:a16="http://schemas.microsoft.com/office/drawing/2014/main" id="{77444F2F-78CA-8646-9BD1-B353123C5099}"/>
              </a:ext>
            </a:extLst>
          </p:cNvPr>
          <p:cNvSpPr/>
          <p:nvPr/>
        </p:nvSpPr>
        <p:spPr>
          <a:xfrm>
            <a:off x="6172200" y="2103120"/>
            <a:ext cx="2331720" cy="274320"/>
          </a:xfrm>
          <a:prstGeom prst="rect">
            <a:avLst/>
          </a:prstGeom>
          <a:noFill/>
          <a:ln/>
        </p:spPr>
        <p:txBody>
          <a:bodyPr wrap="square" lIns="0" tIns="0" rIns="0" bIns="0" rtlCol="0" anchor="ctr"/>
          <a:lstStyle/>
          <a:p>
            <a:pPr marL="0" indent="0">
              <a:buNone/>
            </a:pPr>
            <a:r>
              <a:rPr lang="en-US" sz="1000" b="1" kern="0" spc="400" dirty="0">
                <a:solidFill>
                  <a:srgbClr val="8B3A3A"/>
                </a:solidFill>
                <a:latin typeface="Calibri" pitchFamily="34" charset="0"/>
                <a:ea typeface="Calibri" pitchFamily="34" charset="-122"/>
                <a:cs typeface="Calibri" pitchFamily="34" charset="-120"/>
              </a:rPr>
              <a:t>CONVNEXT</a:t>
            </a:r>
            <a:endParaRPr lang="en-US" sz="1000" dirty="0"/>
          </a:p>
        </p:txBody>
      </p:sp>
      <p:sp>
        <p:nvSpPr>
          <p:cNvPr id="26" name="Text 24">
            <a:extLst>
              <a:ext uri="{FF2B5EF4-FFF2-40B4-BE49-F238E27FC236}">
                <a16:creationId xmlns:a16="http://schemas.microsoft.com/office/drawing/2014/main" id="{52CE0302-402F-AAD8-C020-AC83546F910B}"/>
              </a:ext>
            </a:extLst>
          </p:cNvPr>
          <p:cNvSpPr/>
          <p:nvPr/>
        </p:nvSpPr>
        <p:spPr>
          <a:xfrm>
            <a:off x="6172200"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Intermediate-Scale Ambiguity</a:t>
            </a:r>
            <a:endParaRPr lang="en-US" sz="1600" dirty="0"/>
          </a:p>
        </p:txBody>
      </p:sp>
      <p:sp>
        <p:nvSpPr>
          <p:cNvPr id="27" name="Text 25">
            <a:extLst>
              <a:ext uri="{FF2B5EF4-FFF2-40B4-BE49-F238E27FC236}">
                <a16:creationId xmlns:a16="http://schemas.microsoft.com/office/drawing/2014/main" id="{53492B85-5104-CE30-D69E-AE42B384DDB9}"/>
              </a:ext>
            </a:extLst>
          </p:cNvPr>
          <p:cNvSpPr/>
          <p:nvPr/>
        </p:nvSpPr>
        <p:spPr>
          <a:xfrm>
            <a:off x="6172200"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28" name="Text 26">
            <a:extLst>
              <a:ext uri="{FF2B5EF4-FFF2-40B4-BE49-F238E27FC236}">
                <a16:creationId xmlns:a16="http://schemas.microsoft.com/office/drawing/2014/main" id="{ABE514EC-7E66-D2F3-1E6F-DEE0D494D644}"/>
              </a:ext>
            </a:extLst>
          </p:cNvPr>
          <p:cNvSpPr/>
          <p:nvPr/>
        </p:nvSpPr>
        <p:spPr>
          <a:xfrm>
            <a:off x="6172200"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Drunken Prawn → Fried Prawn</a:t>
            </a:r>
            <a:endParaRPr lang="en-US" sz="1100" dirty="0"/>
          </a:p>
        </p:txBody>
      </p:sp>
      <p:sp>
        <p:nvSpPr>
          <p:cNvPr id="29" name="Text 27">
            <a:extLst>
              <a:ext uri="{FF2B5EF4-FFF2-40B4-BE49-F238E27FC236}">
                <a16:creationId xmlns:a16="http://schemas.microsoft.com/office/drawing/2014/main" id="{BCB238AA-55FC-1E51-38A9-2A63AD90BA42}"/>
              </a:ext>
            </a:extLst>
          </p:cNvPr>
          <p:cNvSpPr/>
          <p:nvPr/>
        </p:nvSpPr>
        <p:spPr>
          <a:xfrm>
            <a:off x="6172200"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30" name="Text 28">
            <a:extLst>
              <a:ext uri="{FF2B5EF4-FFF2-40B4-BE49-F238E27FC236}">
                <a16:creationId xmlns:a16="http://schemas.microsoft.com/office/drawing/2014/main" id="{211E6C0E-2F23-0B1B-9D14-DFB892BBEC98}"/>
              </a:ext>
            </a:extLst>
          </p:cNvPr>
          <p:cNvSpPr/>
          <p:nvPr/>
        </p:nvSpPr>
        <p:spPr>
          <a:xfrm>
            <a:off x="6172200"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7×7 kernels resolve the texture trap, but remain local → fail on subtle, spatially-distributed cues</a:t>
            </a:r>
            <a:endParaRPr lang="en-US" sz="900" dirty="0"/>
          </a:p>
        </p:txBody>
      </p:sp>
      <p:sp>
        <p:nvSpPr>
          <p:cNvPr id="31" name="Shape 29">
            <a:extLst>
              <a:ext uri="{FF2B5EF4-FFF2-40B4-BE49-F238E27FC236}">
                <a16:creationId xmlns:a16="http://schemas.microsoft.com/office/drawing/2014/main" id="{B2F3C821-D741-3EFF-3E27-AD84B5F02FFB}"/>
              </a:ext>
            </a:extLst>
          </p:cNvPr>
          <p:cNvSpPr/>
          <p:nvPr/>
        </p:nvSpPr>
        <p:spPr>
          <a:xfrm>
            <a:off x="457200" y="4251960"/>
            <a:ext cx="8229600" cy="457200"/>
          </a:xfrm>
          <a:prstGeom prst="rect">
            <a:avLst/>
          </a:prstGeom>
          <a:solidFill>
            <a:srgbClr val="2B2B2B"/>
          </a:solidFill>
          <a:ln w="12700">
            <a:solidFill>
              <a:srgbClr val="2B2B2B"/>
            </a:solidFill>
            <a:prstDash val="solid"/>
          </a:ln>
        </p:spPr>
        <p:txBody>
          <a:bodyPr/>
          <a:lstStyle/>
          <a:p>
            <a:endParaRPr lang="en-US"/>
          </a:p>
        </p:txBody>
      </p:sp>
      <p:sp>
        <p:nvSpPr>
          <p:cNvPr id="32" name="Text 30">
            <a:extLst>
              <a:ext uri="{FF2B5EF4-FFF2-40B4-BE49-F238E27FC236}">
                <a16:creationId xmlns:a16="http://schemas.microsoft.com/office/drawing/2014/main" id="{CA417305-4A85-5E17-05AE-47CD9E29FB4E}"/>
              </a:ext>
            </a:extLst>
          </p:cNvPr>
          <p:cNvSpPr/>
          <p:nvPr/>
        </p:nvSpPr>
        <p:spPr>
          <a:xfrm>
            <a:off x="640080" y="4251960"/>
            <a:ext cx="786384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Architecture doesn't just affect </a:t>
            </a:r>
            <a:r>
              <a:rPr lang="en-US" sz="1300" i="1" dirty="0">
                <a:solidFill>
                  <a:srgbClr val="FFFFFF"/>
                </a:solidFill>
                <a:latin typeface="Calibri" pitchFamily="34" charset="0"/>
                <a:ea typeface="Calibri" pitchFamily="34" charset="-122"/>
                <a:cs typeface="Calibri" pitchFamily="34" charset="-120"/>
              </a:rPr>
              <a:t>how much</a:t>
            </a:r>
            <a:r>
              <a:rPr lang="en-US" sz="1300" dirty="0">
                <a:solidFill>
                  <a:srgbClr val="FFFFFF"/>
                </a:solidFill>
                <a:latin typeface="Calibri" pitchFamily="34" charset="0"/>
                <a:ea typeface="Calibri" pitchFamily="34" charset="-122"/>
                <a:cs typeface="Calibri" pitchFamily="34" charset="-120"/>
              </a:rPr>
              <a:t> error — it determines </a:t>
            </a:r>
            <a:r>
              <a:rPr lang="en-US" sz="1300" b="1" i="1" dirty="0">
                <a:solidFill>
                  <a:srgbClr val="B85042"/>
                </a:solidFill>
                <a:latin typeface="Calibri" pitchFamily="34" charset="0"/>
                <a:ea typeface="Calibri" pitchFamily="34" charset="-122"/>
                <a:cs typeface="Calibri" pitchFamily="34" charset="-120"/>
              </a:rPr>
              <a:t>what kind</a:t>
            </a:r>
            <a:r>
              <a:rPr lang="en-US" sz="1300" dirty="0">
                <a:solidFill>
                  <a:srgbClr val="FFFFFF"/>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16909595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383559B9-156B-B67E-A661-F7B57FF5DB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6F3B51-7AE4-E7BB-3189-653377E2AE9A}"/>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D1FFD8E2-AB9D-7F08-D2B5-CEE12E43D923}"/>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C04FEE5D-53DD-AABE-AB7C-6FFA2482A73D}"/>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18 / 24</a:t>
            </a:r>
            <a:endParaRPr lang="en-US" sz="900" dirty="0"/>
          </a:p>
        </p:txBody>
      </p:sp>
      <p:sp>
        <p:nvSpPr>
          <p:cNvPr id="5" name="Text 3">
            <a:extLst>
              <a:ext uri="{FF2B5EF4-FFF2-40B4-BE49-F238E27FC236}">
                <a16:creationId xmlns:a16="http://schemas.microsoft.com/office/drawing/2014/main" id="{9B91225D-EDD1-BC4F-BA49-B4DDDDAE169F}"/>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Grad-CAM evidence</a:t>
            </a:r>
            <a:endParaRPr lang="en-US" sz="2600" dirty="0"/>
          </a:p>
        </p:txBody>
      </p:sp>
      <p:sp>
        <p:nvSpPr>
          <p:cNvPr id="6" name="Text 4">
            <a:extLst>
              <a:ext uri="{FF2B5EF4-FFF2-40B4-BE49-F238E27FC236}">
                <a16:creationId xmlns:a16="http://schemas.microsoft.com/office/drawing/2014/main" id="{81C5345F-9F91-9760-6FC7-19D3027557BD}"/>
              </a:ext>
            </a:extLst>
          </p:cNvPr>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Same Har Cheong Gai input  →  three attention patterns  →  three outcomes</a:t>
            </a:r>
            <a:endParaRPr lang="en-US" sz="1100" dirty="0"/>
          </a:p>
        </p:txBody>
      </p:sp>
      <p:sp>
        <p:nvSpPr>
          <p:cNvPr id="7" name="Shape 5">
            <a:extLst>
              <a:ext uri="{FF2B5EF4-FFF2-40B4-BE49-F238E27FC236}">
                <a16:creationId xmlns:a16="http://schemas.microsoft.com/office/drawing/2014/main" id="{B9538236-706B-780B-9C2F-C1A72C3C4914}"/>
              </a:ext>
            </a:extLst>
          </p:cNvPr>
          <p:cNvSpPr/>
          <p:nvPr/>
        </p:nvSpPr>
        <p:spPr>
          <a:xfrm>
            <a:off x="457200" y="1920240"/>
            <a:ext cx="2697480" cy="2240280"/>
          </a:xfrm>
          <a:prstGeom prst="rect">
            <a:avLst/>
          </a:prstGeom>
          <a:solidFill>
            <a:srgbClr val="FBF8F2"/>
          </a:solidFill>
          <a:ln w="6350">
            <a:solidFill>
              <a:srgbClr val="D8CFC0"/>
            </a:solidFill>
            <a:prstDash val="solid"/>
          </a:ln>
        </p:spPr>
        <p:txBody>
          <a:bodyPr/>
          <a:lstStyle/>
          <a:p>
            <a:endParaRPr lang="en-US"/>
          </a:p>
        </p:txBody>
      </p:sp>
      <p:sp>
        <p:nvSpPr>
          <p:cNvPr id="8" name="Shape 6">
            <a:extLst>
              <a:ext uri="{FF2B5EF4-FFF2-40B4-BE49-F238E27FC236}">
                <a16:creationId xmlns:a16="http://schemas.microsoft.com/office/drawing/2014/main" id="{DCFBA970-AE1D-1DBE-A759-A3DDFF34866A}"/>
              </a:ext>
            </a:extLst>
          </p:cNvPr>
          <p:cNvSpPr/>
          <p:nvPr/>
        </p:nvSpPr>
        <p:spPr>
          <a:xfrm>
            <a:off x="457200" y="1920240"/>
            <a:ext cx="2697480" cy="73152"/>
          </a:xfrm>
          <a:prstGeom prst="rect">
            <a:avLst/>
          </a:prstGeom>
          <a:solidFill>
            <a:srgbClr val="C97B3F"/>
          </a:solidFill>
          <a:ln w="12700">
            <a:solidFill>
              <a:srgbClr val="C97B3F"/>
            </a:solidFill>
            <a:prstDash val="solid"/>
          </a:ln>
        </p:spPr>
        <p:txBody>
          <a:bodyPr/>
          <a:lstStyle/>
          <a:p>
            <a:endParaRPr lang="en-US"/>
          </a:p>
        </p:txBody>
      </p:sp>
      <p:sp>
        <p:nvSpPr>
          <p:cNvPr id="9" name="Text 7">
            <a:extLst>
              <a:ext uri="{FF2B5EF4-FFF2-40B4-BE49-F238E27FC236}">
                <a16:creationId xmlns:a16="http://schemas.microsoft.com/office/drawing/2014/main" id="{3148BF5A-A326-F757-A750-35B65DD0E747}"/>
              </a:ext>
            </a:extLst>
          </p:cNvPr>
          <p:cNvSpPr/>
          <p:nvPr/>
        </p:nvSpPr>
        <p:spPr>
          <a:xfrm>
            <a:off x="640080" y="2084832"/>
            <a:ext cx="2331720" cy="274320"/>
          </a:xfrm>
          <a:prstGeom prst="rect">
            <a:avLst/>
          </a:prstGeom>
          <a:noFill/>
          <a:ln/>
        </p:spPr>
        <p:txBody>
          <a:bodyPr wrap="square" lIns="0" tIns="0" rIns="0" bIns="0" rtlCol="0" anchor="ctr"/>
          <a:lstStyle/>
          <a:p>
            <a:pPr marL="0" indent="0">
              <a:buNone/>
            </a:pPr>
            <a:r>
              <a:rPr lang="en-US" sz="1000" b="1" kern="0" spc="400" dirty="0">
                <a:solidFill>
                  <a:srgbClr val="C97B3F"/>
                </a:solidFill>
                <a:latin typeface="Calibri" pitchFamily="34" charset="0"/>
                <a:ea typeface="Calibri" pitchFamily="34" charset="-122"/>
                <a:cs typeface="Calibri" pitchFamily="34" charset="-120"/>
              </a:rPr>
              <a:t>RESNET50</a:t>
            </a:r>
            <a:endParaRPr lang="en-US" sz="1000" dirty="0"/>
          </a:p>
        </p:txBody>
      </p:sp>
      <p:sp>
        <p:nvSpPr>
          <p:cNvPr id="10" name="Text 8">
            <a:extLst>
              <a:ext uri="{FF2B5EF4-FFF2-40B4-BE49-F238E27FC236}">
                <a16:creationId xmlns:a16="http://schemas.microsoft.com/office/drawing/2014/main" id="{2A00283A-E759-A621-06C5-AD5228CBD1DD}"/>
              </a:ext>
            </a:extLst>
          </p:cNvPr>
          <p:cNvSpPr/>
          <p:nvPr/>
        </p:nvSpPr>
        <p:spPr>
          <a:xfrm>
            <a:off x="640080" y="242316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ATTENTION</a:t>
            </a:r>
            <a:endParaRPr lang="en-US" sz="800" dirty="0"/>
          </a:p>
        </p:txBody>
      </p:sp>
      <p:sp>
        <p:nvSpPr>
          <p:cNvPr id="11" name="Text 9">
            <a:extLst>
              <a:ext uri="{FF2B5EF4-FFF2-40B4-BE49-F238E27FC236}">
                <a16:creationId xmlns:a16="http://schemas.microsoft.com/office/drawing/2014/main" id="{99FA8CAA-6EE6-C461-32E2-13963125CDCC}"/>
              </a:ext>
            </a:extLst>
          </p:cNvPr>
          <p:cNvSpPr/>
          <p:nvPr/>
        </p:nvSpPr>
        <p:spPr>
          <a:xfrm>
            <a:off x="640080" y="2633472"/>
            <a:ext cx="2331720" cy="59436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Fragmented hotspots</a:t>
            </a:r>
            <a:endParaRPr lang="en-US" sz="1200" dirty="0"/>
          </a:p>
          <a:p>
            <a:pPr marL="0" indent="0">
              <a:buNone/>
            </a:pPr>
            <a:r>
              <a:rPr lang="en-US" sz="1200" i="1" dirty="0">
                <a:solidFill>
                  <a:srgbClr val="2B2B2B"/>
                </a:solidFill>
                <a:latin typeface="Calibri" pitchFamily="34" charset="0"/>
                <a:ea typeface="Calibri" pitchFamily="34" charset="-122"/>
                <a:cs typeface="Calibri" pitchFamily="34" charset="-120"/>
              </a:rPr>
              <a:t>on shared fried-texture regions</a:t>
            </a:r>
            <a:endParaRPr lang="en-US" sz="1200" dirty="0"/>
          </a:p>
        </p:txBody>
      </p:sp>
      <p:sp>
        <p:nvSpPr>
          <p:cNvPr id="12" name="Text 10">
            <a:extLst>
              <a:ext uri="{FF2B5EF4-FFF2-40B4-BE49-F238E27FC236}">
                <a16:creationId xmlns:a16="http://schemas.microsoft.com/office/drawing/2014/main" id="{04456C3B-74A6-BA65-C050-42CFFB477F20}"/>
              </a:ext>
            </a:extLst>
          </p:cNvPr>
          <p:cNvSpPr/>
          <p:nvPr/>
        </p:nvSpPr>
        <p:spPr>
          <a:xfrm>
            <a:off x="640080" y="329184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OUTCOME</a:t>
            </a:r>
            <a:endParaRPr lang="en-US" sz="800" dirty="0"/>
          </a:p>
        </p:txBody>
      </p:sp>
      <p:sp>
        <p:nvSpPr>
          <p:cNvPr id="13" name="Text 11">
            <a:extLst>
              <a:ext uri="{FF2B5EF4-FFF2-40B4-BE49-F238E27FC236}">
                <a16:creationId xmlns:a16="http://schemas.microsoft.com/office/drawing/2014/main" id="{B343C52F-1AB7-A5CD-96F8-4F34C0875FFD}"/>
              </a:ext>
            </a:extLst>
          </p:cNvPr>
          <p:cNvSpPr/>
          <p:nvPr/>
        </p:nvSpPr>
        <p:spPr>
          <a:xfrm>
            <a:off x="640080" y="3493008"/>
            <a:ext cx="2331720" cy="411480"/>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Misclassified as Ngoh Hiang</a:t>
            </a:r>
            <a:endParaRPr lang="en-US" sz="1100" dirty="0"/>
          </a:p>
        </p:txBody>
      </p:sp>
      <p:sp>
        <p:nvSpPr>
          <p:cNvPr id="14" name="Shape 12">
            <a:extLst>
              <a:ext uri="{FF2B5EF4-FFF2-40B4-BE49-F238E27FC236}">
                <a16:creationId xmlns:a16="http://schemas.microsoft.com/office/drawing/2014/main" id="{CB0A7532-A35D-8704-906A-E92528C31134}"/>
              </a:ext>
            </a:extLst>
          </p:cNvPr>
          <p:cNvSpPr/>
          <p:nvPr/>
        </p:nvSpPr>
        <p:spPr>
          <a:xfrm>
            <a:off x="640080" y="3886200"/>
            <a:ext cx="1097280" cy="201168"/>
          </a:xfrm>
          <a:prstGeom prst="rect">
            <a:avLst/>
          </a:prstGeom>
          <a:solidFill>
            <a:srgbClr val="B85042"/>
          </a:solidFill>
          <a:ln w="12700">
            <a:solidFill>
              <a:srgbClr val="B85042"/>
            </a:solidFill>
            <a:prstDash val="solid"/>
          </a:ln>
        </p:spPr>
        <p:txBody>
          <a:bodyPr/>
          <a:lstStyle/>
          <a:p>
            <a:endParaRPr lang="en-US"/>
          </a:p>
        </p:txBody>
      </p:sp>
      <p:sp>
        <p:nvSpPr>
          <p:cNvPr id="15" name="Text 13">
            <a:extLst>
              <a:ext uri="{FF2B5EF4-FFF2-40B4-BE49-F238E27FC236}">
                <a16:creationId xmlns:a16="http://schemas.microsoft.com/office/drawing/2014/main" id="{E4ABCAB3-9328-3899-DB1A-B8369D00DE8C}"/>
              </a:ext>
            </a:extLst>
          </p:cNvPr>
          <p:cNvSpPr/>
          <p:nvPr/>
        </p:nvSpPr>
        <p:spPr>
          <a:xfrm>
            <a:off x="640080" y="3886200"/>
            <a:ext cx="1097280" cy="20116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44.6%</a:t>
            </a:r>
            <a:endParaRPr lang="en-US" sz="900" dirty="0"/>
          </a:p>
        </p:txBody>
      </p:sp>
      <p:sp>
        <p:nvSpPr>
          <p:cNvPr id="16" name="Shape 14">
            <a:extLst>
              <a:ext uri="{FF2B5EF4-FFF2-40B4-BE49-F238E27FC236}">
                <a16:creationId xmlns:a16="http://schemas.microsoft.com/office/drawing/2014/main" id="{E1D37762-7405-0317-7066-7BAEA961DE98}"/>
              </a:ext>
            </a:extLst>
          </p:cNvPr>
          <p:cNvSpPr/>
          <p:nvPr/>
        </p:nvSpPr>
        <p:spPr>
          <a:xfrm>
            <a:off x="3223260" y="1920240"/>
            <a:ext cx="2697480" cy="2240280"/>
          </a:xfrm>
          <a:prstGeom prst="rect">
            <a:avLst/>
          </a:prstGeom>
          <a:solidFill>
            <a:srgbClr val="FBF8F2"/>
          </a:solidFill>
          <a:ln w="6350">
            <a:solidFill>
              <a:srgbClr val="D8CFC0"/>
            </a:solidFill>
            <a:prstDash val="solid"/>
          </a:ln>
        </p:spPr>
        <p:txBody>
          <a:bodyPr/>
          <a:lstStyle/>
          <a:p>
            <a:endParaRPr lang="en-US"/>
          </a:p>
        </p:txBody>
      </p:sp>
      <p:sp>
        <p:nvSpPr>
          <p:cNvPr id="17" name="Shape 15">
            <a:extLst>
              <a:ext uri="{FF2B5EF4-FFF2-40B4-BE49-F238E27FC236}">
                <a16:creationId xmlns:a16="http://schemas.microsoft.com/office/drawing/2014/main" id="{EC231193-E373-46A5-7819-FE34EDD52A8F}"/>
              </a:ext>
            </a:extLst>
          </p:cNvPr>
          <p:cNvSpPr/>
          <p:nvPr/>
        </p:nvSpPr>
        <p:spPr>
          <a:xfrm>
            <a:off x="3223260" y="1920240"/>
            <a:ext cx="2697480" cy="73152"/>
          </a:xfrm>
          <a:prstGeom prst="rect">
            <a:avLst/>
          </a:prstGeom>
          <a:solidFill>
            <a:srgbClr val="5C7A55"/>
          </a:solidFill>
          <a:ln w="12700">
            <a:solidFill>
              <a:srgbClr val="5C7A55"/>
            </a:solidFill>
            <a:prstDash val="solid"/>
          </a:ln>
        </p:spPr>
        <p:txBody>
          <a:bodyPr/>
          <a:lstStyle/>
          <a:p>
            <a:endParaRPr lang="en-US"/>
          </a:p>
        </p:txBody>
      </p:sp>
      <p:sp>
        <p:nvSpPr>
          <p:cNvPr id="18" name="Text 16">
            <a:extLst>
              <a:ext uri="{FF2B5EF4-FFF2-40B4-BE49-F238E27FC236}">
                <a16:creationId xmlns:a16="http://schemas.microsoft.com/office/drawing/2014/main" id="{6967A2D9-AAFD-882D-28F5-10668C9B043B}"/>
              </a:ext>
            </a:extLst>
          </p:cNvPr>
          <p:cNvSpPr/>
          <p:nvPr/>
        </p:nvSpPr>
        <p:spPr>
          <a:xfrm>
            <a:off x="3406140" y="2084832"/>
            <a:ext cx="2331720" cy="274320"/>
          </a:xfrm>
          <a:prstGeom prst="rect">
            <a:avLst/>
          </a:prstGeom>
          <a:noFill/>
          <a:ln/>
        </p:spPr>
        <p:txBody>
          <a:bodyPr wrap="square" lIns="0" tIns="0" rIns="0" bIns="0" rtlCol="0" anchor="ctr"/>
          <a:lstStyle/>
          <a:p>
            <a:pPr marL="0" indent="0">
              <a:buNone/>
            </a:pPr>
            <a:r>
              <a:rPr lang="en-US" sz="1000" b="1" kern="0" spc="400" dirty="0">
                <a:solidFill>
                  <a:srgbClr val="5C7A55"/>
                </a:solidFill>
                <a:latin typeface="Calibri" pitchFamily="34" charset="0"/>
                <a:ea typeface="Calibri" pitchFamily="34" charset="-122"/>
                <a:cs typeface="Calibri" pitchFamily="34" charset="-120"/>
              </a:rPr>
              <a:t>VIT</a:t>
            </a:r>
            <a:endParaRPr lang="en-US" sz="1000" dirty="0"/>
          </a:p>
        </p:txBody>
      </p:sp>
      <p:sp>
        <p:nvSpPr>
          <p:cNvPr id="19" name="Text 17">
            <a:extLst>
              <a:ext uri="{FF2B5EF4-FFF2-40B4-BE49-F238E27FC236}">
                <a16:creationId xmlns:a16="http://schemas.microsoft.com/office/drawing/2014/main" id="{57F24BBF-BB5C-809C-99B0-3763D48B9DB6}"/>
              </a:ext>
            </a:extLst>
          </p:cNvPr>
          <p:cNvSpPr/>
          <p:nvPr/>
        </p:nvSpPr>
        <p:spPr>
          <a:xfrm>
            <a:off x="3406140" y="242316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ATTENTION</a:t>
            </a:r>
            <a:endParaRPr lang="en-US" sz="800" dirty="0"/>
          </a:p>
        </p:txBody>
      </p:sp>
      <p:sp>
        <p:nvSpPr>
          <p:cNvPr id="20" name="Text 18">
            <a:extLst>
              <a:ext uri="{FF2B5EF4-FFF2-40B4-BE49-F238E27FC236}">
                <a16:creationId xmlns:a16="http://schemas.microsoft.com/office/drawing/2014/main" id="{B2177DAE-D585-8734-1376-9527E16A0743}"/>
              </a:ext>
            </a:extLst>
          </p:cNvPr>
          <p:cNvSpPr/>
          <p:nvPr/>
        </p:nvSpPr>
        <p:spPr>
          <a:xfrm>
            <a:off x="3406140" y="2633472"/>
            <a:ext cx="2331720" cy="59436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Diffuse activation</a:t>
            </a:r>
            <a:endParaRPr lang="en-US" sz="1200" dirty="0"/>
          </a:p>
          <a:p>
            <a:pPr marL="0" indent="0">
              <a:buNone/>
            </a:pPr>
            <a:r>
              <a:rPr lang="en-US" sz="1200" i="1" dirty="0">
                <a:solidFill>
                  <a:srgbClr val="2B2B2B"/>
                </a:solidFill>
                <a:latin typeface="Calibri" pitchFamily="34" charset="0"/>
                <a:ea typeface="Calibri" pitchFamily="34" charset="-122"/>
                <a:cs typeface="Calibri" pitchFamily="34" charset="-120"/>
              </a:rPr>
              <a:t>across the entire plate</a:t>
            </a:r>
            <a:endParaRPr lang="en-US" sz="1200" dirty="0"/>
          </a:p>
        </p:txBody>
      </p:sp>
      <p:sp>
        <p:nvSpPr>
          <p:cNvPr id="21" name="Text 19">
            <a:extLst>
              <a:ext uri="{FF2B5EF4-FFF2-40B4-BE49-F238E27FC236}">
                <a16:creationId xmlns:a16="http://schemas.microsoft.com/office/drawing/2014/main" id="{88C6530F-FA39-8B0D-ABE7-1D6DA53AD87C}"/>
              </a:ext>
            </a:extLst>
          </p:cNvPr>
          <p:cNvSpPr/>
          <p:nvPr/>
        </p:nvSpPr>
        <p:spPr>
          <a:xfrm>
            <a:off x="3406140" y="329184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OUTCOME</a:t>
            </a:r>
            <a:endParaRPr lang="en-US" sz="800" dirty="0"/>
          </a:p>
        </p:txBody>
      </p:sp>
      <p:sp>
        <p:nvSpPr>
          <p:cNvPr id="22" name="Text 20">
            <a:extLst>
              <a:ext uri="{FF2B5EF4-FFF2-40B4-BE49-F238E27FC236}">
                <a16:creationId xmlns:a16="http://schemas.microsoft.com/office/drawing/2014/main" id="{2FA4FD89-7241-85C6-651F-5C98B7802A13}"/>
              </a:ext>
            </a:extLst>
          </p:cNvPr>
          <p:cNvSpPr/>
          <p:nvPr/>
        </p:nvSpPr>
        <p:spPr>
          <a:xfrm>
            <a:off x="3406140" y="3493008"/>
            <a:ext cx="2331720" cy="411480"/>
          </a:xfrm>
          <a:prstGeom prst="rect">
            <a:avLst/>
          </a:prstGeom>
          <a:noFill/>
          <a:ln/>
        </p:spPr>
        <p:txBody>
          <a:bodyPr wrap="square" lIns="0" tIns="0" rIns="0" bIns="0" rtlCol="0" anchor="ctr"/>
          <a:lstStyle/>
          <a:p>
            <a:pPr marL="0" indent="0">
              <a:buNone/>
            </a:pPr>
            <a:r>
              <a:rPr lang="en-US" sz="1100" b="1" dirty="0">
                <a:solidFill>
                  <a:srgbClr val="5C7A55"/>
                </a:solidFill>
                <a:latin typeface="Calibri" pitchFamily="34" charset="0"/>
                <a:ea typeface="Calibri" pitchFamily="34" charset="-122"/>
                <a:cs typeface="Calibri" pitchFamily="34" charset="-120"/>
              </a:rPr>
              <a:t>Correct  —  driven by holistic scene context</a:t>
            </a:r>
            <a:endParaRPr lang="en-US" sz="1100" dirty="0"/>
          </a:p>
        </p:txBody>
      </p:sp>
      <p:sp>
        <p:nvSpPr>
          <p:cNvPr id="23" name="Shape 21">
            <a:extLst>
              <a:ext uri="{FF2B5EF4-FFF2-40B4-BE49-F238E27FC236}">
                <a16:creationId xmlns:a16="http://schemas.microsoft.com/office/drawing/2014/main" id="{EE5791DE-1F17-B4BE-B412-D71A613A0A1F}"/>
              </a:ext>
            </a:extLst>
          </p:cNvPr>
          <p:cNvSpPr/>
          <p:nvPr/>
        </p:nvSpPr>
        <p:spPr>
          <a:xfrm>
            <a:off x="3406140" y="3886200"/>
            <a:ext cx="1097280" cy="201168"/>
          </a:xfrm>
          <a:prstGeom prst="rect">
            <a:avLst/>
          </a:prstGeom>
          <a:solidFill>
            <a:srgbClr val="5C7A55"/>
          </a:solidFill>
          <a:ln w="12700">
            <a:solidFill>
              <a:srgbClr val="5C7A55"/>
            </a:solidFill>
            <a:prstDash val="solid"/>
          </a:ln>
        </p:spPr>
        <p:txBody>
          <a:bodyPr/>
          <a:lstStyle/>
          <a:p>
            <a:endParaRPr lang="en-US"/>
          </a:p>
        </p:txBody>
      </p:sp>
      <p:sp>
        <p:nvSpPr>
          <p:cNvPr id="24" name="Text 22">
            <a:extLst>
              <a:ext uri="{FF2B5EF4-FFF2-40B4-BE49-F238E27FC236}">
                <a16:creationId xmlns:a16="http://schemas.microsoft.com/office/drawing/2014/main" id="{5D2346D0-6F3E-23C8-9711-90CBD6E8103D}"/>
              </a:ext>
            </a:extLst>
          </p:cNvPr>
          <p:cNvSpPr/>
          <p:nvPr/>
        </p:nvSpPr>
        <p:spPr>
          <a:xfrm>
            <a:off x="3406140" y="3886200"/>
            <a:ext cx="1097280" cy="20116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98.0%</a:t>
            </a:r>
            <a:endParaRPr lang="en-US" sz="900" dirty="0"/>
          </a:p>
        </p:txBody>
      </p:sp>
      <p:sp>
        <p:nvSpPr>
          <p:cNvPr id="25" name="Shape 23">
            <a:extLst>
              <a:ext uri="{FF2B5EF4-FFF2-40B4-BE49-F238E27FC236}">
                <a16:creationId xmlns:a16="http://schemas.microsoft.com/office/drawing/2014/main" id="{642997B8-00AE-EF74-9967-734C4AF1E0D4}"/>
              </a:ext>
            </a:extLst>
          </p:cNvPr>
          <p:cNvSpPr/>
          <p:nvPr/>
        </p:nvSpPr>
        <p:spPr>
          <a:xfrm>
            <a:off x="5989320" y="1920240"/>
            <a:ext cx="2697480" cy="2240280"/>
          </a:xfrm>
          <a:prstGeom prst="rect">
            <a:avLst/>
          </a:prstGeom>
          <a:solidFill>
            <a:srgbClr val="FBF8F2"/>
          </a:solidFill>
          <a:ln w="6350">
            <a:solidFill>
              <a:srgbClr val="D8CFC0"/>
            </a:solidFill>
            <a:prstDash val="solid"/>
          </a:ln>
        </p:spPr>
        <p:txBody>
          <a:bodyPr/>
          <a:lstStyle/>
          <a:p>
            <a:endParaRPr lang="en-US"/>
          </a:p>
        </p:txBody>
      </p:sp>
      <p:sp>
        <p:nvSpPr>
          <p:cNvPr id="26" name="Shape 24">
            <a:extLst>
              <a:ext uri="{FF2B5EF4-FFF2-40B4-BE49-F238E27FC236}">
                <a16:creationId xmlns:a16="http://schemas.microsoft.com/office/drawing/2014/main" id="{3E5A17D3-2A37-C3ED-942F-4D7D1CC8CFE8}"/>
              </a:ext>
            </a:extLst>
          </p:cNvPr>
          <p:cNvSpPr/>
          <p:nvPr/>
        </p:nvSpPr>
        <p:spPr>
          <a:xfrm>
            <a:off x="5989320" y="1920240"/>
            <a:ext cx="2697480" cy="73152"/>
          </a:xfrm>
          <a:prstGeom prst="rect">
            <a:avLst/>
          </a:prstGeom>
          <a:solidFill>
            <a:srgbClr val="8B3A3A"/>
          </a:solidFill>
          <a:ln w="12700">
            <a:solidFill>
              <a:srgbClr val="8B3A3A"/>
            </a:solidFill>
            <a:prstDash val="solid"/>
          </a:ln>
        </p:spPr>
        <p:txBody>
          <a:bodyPr/>
          <a:lstStyle/>
          <a:p>
            <a:endParaRPr lang="en-US"/>
          </a:p>
        </p:txBody>
      </p:sp>
      <p:sp>
        <p:nvSpPr>
          <p:cNvPr id="27" name="Text 25">
            <a:extLst>
              <a:ext uri="{FF2B5EF4-FFF2-40B4-BE49-F238E27FC236}">
                <a16:creationId xmlns:a16="http://schemas.microsoft.com/office/drawing/2014/main" id="{F3F681F0-41EA-10B4-7734-1208FADF6CF6}"/>
              </a:ext>
            </a:extLst>
          </p:cNvPr>
          <p:cNvSpPr/>
          <p:nvPr/>
        </p:nvSpPr>
        <p:spPr>
          <a:xfrm>
            <a:off x="6172200" y="2084832"/>
            <a:ext cx="2331720" cy="274320"/>
          </a:xfrm>
          <a:prstGeom prst="rect">
            <a:avLst/>
          </a:prstGeom>
          <a:noFill/>
          <a:ln/>
        </p:spPr>
        <p:txBody>
          <a:bodyPr wrap="square" lIns="0" tIns="0" rIns="0" bIns="0" rtlCol="0" anchor="ctr"/>
          <a:lstStyle/>
          <a:p>
            <a:pPr marL="0" indent="0">
              <a:buNone/>
            </a:pPr>
            <a:r>
              <a:rPr lang="en-US" sz="1000" b="1" kern="0" spc="400" dirty="0">
                <a:solidFill>
                  <a:srgbClr val="8B3A3A"/>
                </a:solidFill>
                <a:latin typeface="Calibri" pitchFamily="34" charset="0"/>
                <a:ea typeface="Calibri" pitchFamily="34" charset="-122"/>
                <a:cs typeface="Calibri" pitchFamily="34" charset="-120"/>
              </a:rPr>
              <a:t>CONVNEXT</a:t>
            </a:r>
            <a:endParaRPr lang="en-US" sz="1000" dirty="0"/>
          </a:p>
        </p:txBody>
      </p:sp>
      <p:sp>
        <p:nvSpPr>
          <p:cNvPr id="28" name="Text 26">
            <a:extLst>
              <a:ext uri="{FF2B5EF4-FFF2-40B4-BE49-F238E27FC236}">
                <a16:creationId xmlns:a16="http://schemas.microsoft.com/office/drawing/2014/main" id="{B2A737C9-3EFD-2805-B566-06FA9EEF516B}"/>
              </a:ext>
            </a:extLst>
          </p:cNvPr>
          <p:cNvSpPr/>
          <p:nvPr/>
        </p:nvSpPr>
        <p:spPr>
          <a:xfrm>
            <a:off x="6172200" y="242316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ATTENTION</a:t>
            </a:r>
            <a:endParaRPr lang="en-US" sz="800" dirty="0"/>
          </a:p>
        </p:txBody>
      </p:sp>
      <p:sp>
        <p:nvSpPr>
          <p:cNvPr id="29" name="Text 27">
            <a:extLst>
              <a:ext uri="{FF2B5EF4-FFF2-40B4-BE49-F238E27FC236}">
                <a16:creationId xmlns:a16="http://schemas.microsoft.com/office/drawing/2014/main" id="{A603D367-FC97-60CF-1540-8C853AD241F8}"/>
              </a:ext>
            </a:extLst>
          </p:cNvPr>
          <p:cNvSpPr/>
          <p:nvPr/>
        </p:nvSpPr>
        <p:spPr>
          <a:xfrm>
            <a:off x="6172200" y="2633472"/>
            <a:ext cx="2331720" cy="59436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Cohesive activation</a:t>
            </a:r>
            <a:endParaRPr lang="en-US" sz="1200" dirty="0"/>
          </a:p>
          <a:p>
            <a:pPr marL="0" indent="0">
              <a:buNone/>
            </a:pPr>
            <a:r>
              <a:rPr lang="en-US" sz="1200" i="1" dirty="0">
                <a:solidFill>
                  <a:srgbClr val="2B2B2B"/>
                </a:solidFill>
                <a:latin typeface="Calibri" pitchFamily="34" charset="0"/>
                <a:ea typeface="Calibri" pitchFamily="34" charset="-122"/>
                <a:cs typeface="Calibri" pitchFamily="34" charset="-120"/>
              </a:rPr>
              <a:t>over chicken pieces</a:t>
            </a:r>
            <a:endParaRPr lang="en-US" sz="1200" dirty="0"/>
          </a:p>
        </p:txBody>
      </p:sp>
      <p:sp>
        <p:nvSpPr>
          <p:cNvPr id="30" name="Text 28">
            <a:extLst>
              <a:ext uri="{FF2B5EF4-FFF2-40B4-BE49-F238E27FC236}">
                <a16:creationId xmlns:a16="http://schemas.microsoft.com/office/drawing/2014/main" id="{6C7FF0D7-54C7-EA4B-FE2C-AEC5946F20A8}"/>
              </a:ext>
            </a:extLst>
          </p:cNvPr>
          <p:cNvSpPr/>
          <p:nvPr/>
        </p:nvSpPr>
        <p:spPr>
          <a:xfrm>
            <a:off x="6172200" y="3291840"/>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OUTCOME</a:t>
            </a:r>
            <a:endParaRPr lang="en-US" sz="800" dirty="0"/>
          </a:p>
        </p:txBody>
      </p:sp>
      <p:sp>
        <p:nvSpPr>
          <p:cNvPr id="31" name="Text 29">
            <a:extLst>
              <a:ext uri="{FF2B5EF4-FFF2-40B4-BE49-F238E27FC236}">
                <a16:creationId xmlns:a16="http://schemas.microsoft.com/office/drawing/2014/main" id="{22FF9B97-FC1F-7012-6387-10BC6D25505D}"/>
              </a:ext>
            </a:extLst>
          </p:cNvPr>
          <p:cNvSpPr/>
          <p:nvPr/>
        </p:nvSpPr>
        <p:spPr>
          <a:xfrm>
            <a:off x="6172200" y="3493008"/>
            <a:ext cx="2331720" cy="411480"/>
          </a:xfrm>
          <a:prstGeom prst="rect">
            <a:avLst/>
          </a:prstGeom>
          <a:noFill/>
          <a:ln/>
        </p:spPr>
        <p:txBody>
          <a:bodyPr wrap="square" lIns="0" tIns="0" rIns="0" bIns="0" rtlCol="0" anchor="ctr"/>
          <a:lstStyle/>
          <a:p>
            <a:pPr marL="0" indent="0">
              <a:buNone/>
            </a:pPr>
            <a:r>
              <a:rPr lang="en-US" sz="1100" b="1" dirty="0">
                <a:solidFill>
                  <a:srgbClr val="5C7A55"/>
                </a:solidFill>
                <a:latin typeface="Calibri" pitchFamily="34" charset="0"/>
                <a:ea typeface="Calibri" pitchFamily="34" charset="-122"/>
                <a:cs typeface="Calibri" pitchFamily="34" charset="-120"/>
              </a:rPr>
              <a:t>Correct  —  spatially-grounded reasoning</a:t>
            </a:r>
            <a:endParaRPr lang="en-US" sz="1100" dirty="0"/>
          </a:p>
        </p:txBody>
      </p:sp>
      <p:sp>
        <p:nvSpPr>
          <p:cNvPr id="32" name="Shape 30">
            <a:extLst>
              <a:ext uri="{FF2B5EF4-FFF2-40B4-BE49-F238E27FC236}">
                <a16:creationId xmlns:a16="http://schemas.microsoft.com/office/drawing/2014/main" id="{E9432048-4524-699C-EDD8-AD555070628C}"/>
              </a:ext>
            </a:extLst>
          </p:cNvPr>
          <p:cNvSpPr/>
          <p:nvPr/>
        </p:nvSpPr>
        <p:spPr>
          <a:xfrm>
            <a:off x="6172200" y="3886200"/>
            <a:ext cx="1097280" cy="201168"/>
          </a:xfrm>
          <a:prstGeom prst="rect">
            <a:avLst/>
          </a:prstGeom>
          <a:solidFill>
            <a:srgbClr val="5C7A55"/>
          </a:solidFill>
          <a:ln w="12700">
            <a:solidFill>
              <a:srgbClr val="5C7A55"/>
            </a:solidFill>
            <a:prstDash val="solid"/>
          </a:ln>
        </p:spPr>
        <p:txBody>
          <a:bodyPr/>
          <a:lstStyle/>
          <a:p>
            <a:endParaRPr lang="en-US"/>
          </a:p>
        </p:txBody>
      </p:sp>
      <p:sp>
        <p:nvSpPr>
          <p:cNvPr id="33" name="Text 31">
            <a:extLst>
              <a:ext uri="{FF2B5EF4-FFF2-40B4-BE49-F238E27FC236}">
                <a16:creationId xmlns:a16="http://schemas.microsoft.com/office/drawing/2014/main" id="{39E67B3E-C9E4-A30F-CD66-03D2477AF170}"/>
              </a:ext>
            </a:extLst>
          </p:cNvPr>
          <p:cNvSpPr/>
          <p:nvPr/>
        </p:nvSpPr>
        <p:spPr>
          <a:xfrm>
            <a:off x="6172200" y="3886200"/>
            <a:ext cx="1097280" cy="20116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high</a:t>
            </a:r>
            <a:endParaRPr lang="en-US" sz="900" dirty="0"/>
          </a:p>
        </p:txBody>
      </p:sp>
      <p:sp>
        <p:nvSpPr>
          <p:cNvPr id="34" name="Text 32">
            <a:extLst>
              <a:ext uri="{FF2B5EF4-FFF2-40B4-BE49-F238E27FC236}">
                <a16:creationId xmlns:a16="http://schemas.microsoft.com/office/drawing/2014/main" id="{787BC82E-5F81-6EF4-DE68-C9143D8E06B3}"/>
              </a:ext>
            </a:extLst>
          </p:cNvPr>
          <p:cNvSpPr/>
          <p:nvPr/>
        </p:nvSpPr>
        <p:spPr>
          <a:xfrm>
            <a:off x="457200" y="4389120"/>
            <a:ext cx="8229600" cy="274320"/>
          </a:xfrm>
          <a:prstGeom prst="rect">
            <a:avLst/>
          </a:prstGeom>
          <a:noFill/>
          <a:ln/>
        </p:spPr>
        <p:txBody>
          <a:bodyPr wrap="square" lIns="0" tIns="0" rIns="0" bIns="0" rtlCol="0" anchor="ctr"/>
          <a:lstStyle/>
          <a:p>
            <a:pPr marL="0" indent="0" algn="ctr">
              <a:buNone/>
            </a:pPr>
            <a:r>
              <a:rPr lang="en-US" sz="1100" i="1" dirty="0">
                <a:solidFill>
                  <a:srgbClr val="2B2B2B"/>
                </a:solidFill>
                <a:latin typeface="Calibri" pitchFamily="34" charset="0"/>
                <a:ea typeface="Calibri" pitchFamily="34" charset="-122"/>
                <a:cs typeface="Calibri" pitchFamily="34" charset="-120"/>
              </a:rPr>
              <a:t>Architectural mechanism produces both the embedding geometry  AND  the visual attention pattern.</a:t>
            </a:r>
            <a:endParaRPr lang="en-US" sz="1100" dirty="0"/>
          </a:p>
        </p:txBody>
      </p:sp>
    </p:spTree>
    <p:extLst>
      <p:ext uri="{BB962C8B-B14F-4D97-AF65-F5344CB8AC3E}">
        <p14:creationId xmlns:p14="http://schemas.microsoft.com/office/powerpoint/2010/main" val="39364176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19 / 24</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Convergence at the extremes</a:t>
            </a:r>
            <a:endParaRPr lang="en-US" sz="2600" dirty="0"/>
          </a:p>
        </p:txBody>
      </p:sp>
      <p:sp>
        <p:nvSpPr>
          <p:cNvPr id="6" name="Text 4"/>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Per-class F1 extremes show near-complete overlap across all three architectures</a:t>
            </a:r>
            <a:endParaRPr lang="en-US" sz="1100" dirty="0"/>
          </a:p>
        </p:txBody>
      </p:sp>
      <p:sp>
        <p:nvSpPr>
          <p:cNvPr id="7" name="Shape 5"/>
          <p:cNvSpPr/>
          <p:nvPr/>
        </p:nvSpPr>
        <p:spPr>
          <a:xfrm>
            <a:off x="457200" y="1874520"/>
            <a:ext cx="4023360" cy="1463040"/>
          </a:xfrm>
          <a:prstGeom prst="rect">
            <a:avLst/>
          </a:prstGeom>
          <a:solidFill>
            <a:srgbClr val="FBF8F2"/>
          </a:solidFill>
          <a:ln w="6350">
            <a:solidFill>
              <a:srgbClr val="D8CFC0"/>
            </a:solidFill>
            <a:prstDash val="solid"/>
          </a:ln>
        </p:spPr>
        <p:txBody>
          <a:bodyPr/>
          <a:lstStyle/>
          <a:p>
            <a:endParaRPr lang="en-US"/>
          </a:p>
        </p:txBody>
      </p:sp>
      <p:sp>
        <p:nvSpPr>
          <p:cNvPr id="8" name="Text 6"/>
          <p:cNvSpPr/>
          <p:nvPr/>
        </p:nvSpPr>
        <p:spPr>
          <a:xfrm>
            <a:off x="640080" y="2011680"/>
            <a:ext cx="3657600" cy="274320"/>
          </a:xfrm>
          <a:prstGeom prst="rect">
            <a:avLst/>
          </a:prstGeom>
          <a:noFill/>
          <a:ln/>
        </p:spPr>
        <p:txBody>
          <a:bodyPr wrap="square" lIns="0" tIns="0" rIns="0" bIns="0" rtlCol="0" anchor="ctr"/>
          <a:lstStyle/>
          <a:p>
            <a:pPr marL="0" indent="0">
              <a:buNone/>
            </a:pPr>
            <a:r>
              <a:rPr lang="en-US" sz="900" b="1" kern="0" spc="400" dirty="0">
                <a:solidFill>
                  <a:srgbClr val="5C7A55"/>
                </a:solidFill>
                <a:latin typeface="Calibri" pitchFamily="34" charset="0"/>
                <a:ea typeface="Calibri" pitchFamily="34" charset="-122"/>
                <a:cs typeface="Calibri" pitchFamily="34" charset="-120"/>
              </a:rPr>
              <a:t>BEST 5 CLASSES</a:t>
            </a:r>
            <a:endParaRPr lang="en-US" sz="900" dirty="0"/>
          </a:p>
        </p:txBody>
      </p:sp>
      <p:sp>
        <p:nvSpPr>
          <p:cNvPr id="9" name="Text 7"/>
          <p:cNvSpPr/>
          <p:nvPr/>
        </p:nvSpPr>
        <p:spPr>
          <a:xfrm>
            <a:off x="640080" y="2331720"/>
            <a:ext cx="365760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pitaya  ·  rambutan  ·  mangosteen  ·  tumpeng  ·  soursop</a:t>
            </a:r>
            <a:endParaRPr lang="en-US" sz="1400" dirty="0"/>
          </a:p>
        </p:txBody>
      </p:sp>
      <p:sp>
        <p:nvSpPr>
          <p:cNvPr id="10" name="Text 8"/>
          <p:cNvSpPr/>
          <p:nvPr/>
        </p:nvSpPr>
        <p:spPr>
          <a:xfrm>
            <a:off x="640080" y="2743200"/>
            <a:ext cx="3657600"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Distinctive, unambiguous fruit forms with no close visual neighbours.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Any architecture handles them.</a:t>
            </a:r>
            <a:endParaRPr lang="en-US" sz="1100" dirty="0"/>
          </a:p>
        </p:txBody>
      </p:sp>
      <p:sp>
        <p:nvSpPr>
          <p:cNvPr id="11" name="Shape 9"/>
          <p:cNvSpPr/>
          <p:nvPr/>
        </p:nvSpPr>
        <p:spPr>
          <a:xfrm>
            <a:off x="4663440" y="1874520"/>
            <a:ext cx="4023360" cy="1463040"/>
          </a:xfrm>
          <a:prstGeom prst="rect">
            <a:avLst/>
          </a:prstGeom>
          <a:solidFill>
            <a:srgbClr val="FBF8F2"/>
          </a:solidFill>
          <a:ln w="6350">
            <a:solidFill>
              <a:srgbClr val="D8CFC0"/>
            </a:solidFill>
            <a:prstDash val="solid"/>
          </a:ln>
        </p:spPr>
        <p:txBody>
          <a:bodyPr/>
          <a:lstStyle/>
          <a:p>
            <a:endParaRPr lang="en-US"/>
          </a:p>
        </p:txBody>
      </p:sp>
      <p:sp>
        <p:nvSpPr>
          <p:cNvPr id="12" name="Text 10"/>
          <p:cNvSpPr/>
          <p:nvPr/>
        </p:nvSpPr>
        <p:spPr>
          <a:xfrm>
            <a:off x="4846320" y="2011680"/>
            <a:ext cx="36576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WORST 5 CLASSES</a:t>
            </a:r>
            <a:endParaRPr lang="en-US" sz="900" dirty="0"/>
          </a:p>
        </p:txBody>
      </p:sp>
      <p:sp>
        <p:nvSpPr>
          <p:cNvPr id="13" name="Text 11"/>
          <p:cNvSpPr/>
          <p:nvPr/>
        </p:nvSpPr>
        <p:spPr>
          <a:xfrm>
            <a:off x="4846320" y="2331720"/>
            <a:ext cx="3657600" cy="365760"/>
          </a:xfrm>
          <a:prstGeom prst="rect">
            <a:avLst/>
          </a:prstGeom>
          <a:noFill/>
          <a:ln/>
        </p:spPr>
        <p:txBody>
          <a:bodyPr wrap="square" lIns="0" tIns="0" rIns="0" bIns="0"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whole wheat  ·  barley  ·  mee siam fried  ·  bee hoon soto  ·  mee kuah</a:t>
            </a:r>
            <a:endParaRPr lang="en-US" sz="1400" dirty="0"/>
          </a:p>
        </p:txBody>
      </p:sp>
      <p:sp>
        <p:nvSpPr>
          <p:cNvPr id="14" name="Text 12"/>
          <p:cNvSpPr/>
          <p:nvPr/>
        </p:nvSpPr>
        <p:spPr>
          <a:xfrm>
            <a:off x="4846320" y="2743200"/>
            <a:ext cx="3657600" cy="548640"/>
          </a:xfrm>
          <a:prstGeom prst="rect">
            <a:avLst/>
          </a:prstGeom>
          <a:noFill/>
          <a:ln/>
        </p:spPr>
        <p:txBody>
          <a:bodyPr wrap="square" lIns="0" tIns="0" rIns="0" bIns="0" rtlCol="0" anchor="ctr"/>
          <a:lstStyle/>
          <a:p>
            <a:pPr marL="0" indent="0">
              <a:buNone/>
            </a:pPr>
            <a:r>
              <a:rPr lang="en-US" sz="1100" i="1" dirty="0">
                <a:solidFill>
                  <a:srgbClr val="454545"/>
                </a:solidFill>
                <a:latin typeface="Calibri" pitchFamily="34" charset="0"/>
                <a:ea typeface="Calibri" pitchFamily="34" charset="-122"/>
                <a:cs typeface="Calibri" pitchFamily="34" charset="-120"/>
              </a:rPr>
              <a:t>Amorphous textures or fine-grained noodle confusions.</a:t>
            </a:r>
            <a:endParaRPr lang="en-US" sz="1100" dirty="0"/>
          </a:p>
          <a:p>
            <a:pPr marL="0" indent="0">
              <a:buNone/>
            </a:pPr>
            <a:r>
              <a:rPr lang="en-US" sz="1100" i="1" dirty="0">
                <a:solidFill>
                  <a:srgbClr val="454545"/>
                </a:solidFill>
                <a:latin typeface="Calibri" pitchFamily="34" charset="0"/>
                <a:ea typeface="Calibri" pitchFamily="34" charset="-122"/>
                <a:cs typeface="Calibri" pitchFamily="34" charset="-120"/>
              </a:rPr>
              <a:t>No architecture handles them well.</a:t>
            </a:r>
            <a:endParaRPr lang="en-US" sz="1100" dirty="0"/>
          </a:p>
        </p:txBody>
      </p:sp>
      <p:sp>
        <p:nvSpPr>
          <p:cNvPr id="15" name="Shape 13"/>
          <p:cNvSpPr/>
          <p:nvPr/>
        </p:nvSpPr>
        <p:spPr>
          <a:xfrm>
            <a:off x="457200" y="3520440"/>
            <a:ext cx="8229600" cy="1188720"/>
          </a:xfrm>
          <a:prstGeom prst="rect">
            <a:avLst/>
          </a:prstGeom>
          <a:solidFill>
            <a:srgbClr val="2B2B2B"/>
          </a:solidFill>
          <a:ln w="12700">
            <a:solidFill>
              <a:srgbClr val="2B2B2B"/>
            </a:solidFill>
            <a:prstDash val="solid"/>
          </a:ln>
        </p:spPr>
        <p:txBody>
          <a:bodyPr/>
          <a:lstStyle/>
          <a:p>
            <a:endParaRPr lang="en-US"/>
          </a:p>
        </p:txBody>
      </p:sp>
      <p:sp>
        <p:nvSpPr>
          <p:cNvPr id="16" name="Text 14"/>
          <p:cNvSpPr/>
          <p:nvPr/>
        </p:nvSpPr>
        <p:spPr>
          <a:xfrm>
            <a:off x="640080" y="3611880"/>
            <a:ext cx="7863840" cy="22860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IMPLICATION</a:t>
            </a:r>
            <a:endParaRPr lang="en-US" sz="900" dirty="0"/>
          </a:p>
        </p:txBody>
      </p:sp>
      <p:sp>
        <p:nvSpPr>
          <p:cNvPr id="17" name="Text 15"/>
          <p:cNvSpPr/>
          <p:nvPr/>
        </p:nvSpPr>
        <p:spPr>
          <a:xfrm>
            <a:off x="640080" y="3886200"/>
            <a:ext cx="7863840" cy="4572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Architectural choice matters most in the </a:t>
            </a:r>
            <a:r>
              <a:rPr lang="en-US" sz="1300" b="1" dirty="0">
                <a:solidFill>
                  <a:srgbClr val="B85042"/>
                </a:solidFill>
                <a:latin typeface="Calibri" pitchFamily="34" charset="0"/>
                <a:ea typeface="Calibri" pitchFamily="34" charset="-122"/>
                <a:cs typeface="Calibri" pitchFamily="34" charset="-120"/>
              </a:rPr>
              <a:t>middle of the difficulty spectrum</a:t>
            </a:r>
            <a:r>
              <a:rPr lang="en-US" sz="1300" dirty="0">
                <a:solidFill>
                  <a:srgbClr val="FFFFFF"/>
                </a:solidFill>
                <a:latin typeface="Calibri" pitchFamily="34" charset="0"/>
                <a:ea typeface="Calibri" pitchFamily="34" charset="-122"/>
                <a:cs typeface="Calibri" pitchFamily="34" charset="-120"/>
              </a:rPr>
              <a:t> — where discriminative features exist but require the right spatial-modelling mechanism.</a:t>
            </a:r>
            <a:endParaRPr lang="en-US" sz="1300" dirty="0"/>
          </a:p>
        </p:txBody>
      </p:sp>
      <p:sp>
        <p:nvSpPr>
          <p:cNvPr id="18" name="Text 16"/>
          <p:cNvSpPr/>
          <p:nvPr/>
        </p:nvSpPr>
        <p:spPr>
          <a:xfrm>
            <a:off x="640080" y="4370832"/>
            <a:ext cx="7863840" cy="274320"/>
          </a:xfrm>
          <a:prstGeom prst="rect">
            <a:avLst/>
          </a:prstGeom>
          <a:noFill/>
          <a:ln/>
        </p:spPr>
        <p:txBody>
          <a:bodyPr wrap="square" lIns="0" tIns="0" rIns="0" bIns="0" rtlCol="0" anchor="ctr"/>
          <a:lstStyle/>
          <a:p>
            <a:pPr marL="0" indent="0">
              <a:buNone/>
            </a:pPr>
            <a:r>
              <a:rPr lang="en-US" sz="1000" i="1" dirty="0">
                <a:solidFill>
                  <a:srgbClr val="BBBBBB"/>
                </a:solidFill>
                <a:latin typeface="Calibri" pitchFamily="34" charset="0"/>
                <a:ea typeface="Calibri" pitchFamily="34" charset="-122"/>
                <a:cs typeface="Calibri" pitchFamily="34" charset="-120"/>
              </a:rPr>
              <a:t>Spearman correlation per-class silhouette ↔ accuracy   ρ &gt; 0.85,  p &lt; 10⁻⁶⁷  for all three architectures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3B1BBDF0-56E2-4BB0-58B7-28B1D7CAC17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975716-10A7-EC74-5650-0CC2CC09BA85}"/>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C2C2486B-2E91-41C9-6B61-52CE4A2AA011}"/>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BD6C343A-7FD1-CCB3-68DA-5F031FE15E92}"/>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17 / 24</a:t>
            </a:r>
            <a:endParaRPr lang="en-US" sz="900" dirty="0"/>
          </a:p>
        </p:txBody>
      </p:sp>
      <p:sp>
        <p:nvSpPr>
          <p:cNvPr id="5" name="Text 3">
            <a:extLst>
              <a:ext uri="{FF2B5EF4-FFF2-40B4-BE49-F238E27FC236}">
                <a16:creationId xmlns:a16="http://schemas.microsoft.com/office/drawing/2014/main" id="{37F64338-3E97-707D-04F9-96BA4D324C31}"/>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Geometric validation via centroid proximity</a:t>
            </a:r>
            <a:endParaRPr lang="en-US" sz="2600" dirty="0"/>
          </a:p>
        </p:txBody>
      </p:sp>
      <p:sp>
        <p:nvSpPr>
          <p:cNvPr id="6" name="Text 4">
            <a:extLst>
              <a:ext uri="{FF2B5EF4-FFF2-40B4-BE49-F238E27FC236}">
                <a16:creationId xmlns:a16="http://schemas.microsoft.com/office/drawing/2014/main" id="{EA5F30E9-7E32-4ACC-915F-510C7C55ACC9}"/>
              </a:ext>
            </a:extLst>
          </p:cNvPr>
          <p:cNvSpPr/>
          <p:nvPr/>
        </p:nvSpPr>
        <p:spPr>
          <a:xfrm>
            <a:off x="457200" y="1554480"/>
            <a:ext cx="82296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Each architecture has a distinct failure mode, traceable to its spatial-modelling mechanism</a:t>
            </a:r>
            <a:endParaRPr lang="en-US" sz="1100" dirty="0"/>
          </a:p>
        </p:txBody>
      </p:sp>
      <p:sp>
        <p:nvSpPr>
          <p:cNvPr id="7" name="Shape 5">
            <a:extLst>
              <a:ext uri="{FF2B5EF4-FFF2-40B4-BE49-F238E27FC236}">
                <a16:creationId xmlns:a16="http://schemas.microsoft.com/office/drawing/2014/main" id="{429AAE4F-A377-9B69-E466-7442980787AF}"/>
              </a:ext>
            </a:extLst>
          </p:cNvPr>
          <p:cNvSpPr/>
          <p:nvPr/>
        </p:nvSpPr>
        <p:spPr>
          <a:xfrm>
            <a:off x="457200"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8" name="Shape 6">
            <a:extLst>
              <a:ext uri="{FF2B5EF4-FFF2-40B4-BE49-F238E27FC236}">
                <a16:creationId xmlns:a16="http://schemas.microsoft.com/office/drawing/2014/main" id="{398F745C-6938-39A5-CF2A-E47F6FAEDFC6}"/>
              </a:ext>
            </a:extLst>
          </p:cNvPr>
          <p:cNvSpPr/>
          <p:nvPr/>
        </p:nvSpPr>
        <p:spPr>
          <a:xfrm>
            <a:off x="457200" y="1920240"/>
            <a:ext cx="2697480" cy="91440"/>
          </a:xfrm>
          <a:prstGeom prst="rect">
            <a:avLst/>
          </a:prstGeom>
          <a:solidFill>
            <a:srgbClr val="C97B3F"/>
          </a:solidFill>
          <a:ln w="12700">
            <a:solidFill>
              <a:srgbClr val="C97B3F"/>
            </a:solidFill>
            <a:prstDash val="solid"/>
          </a:ln>
        </p:spPr>
        <p:txBody>
          <a:bodyPr/>
          <a:lstStyle/>
          <a:p>
            <a:endParaRPr lang="en-US"/>
          </a:p>
        </p:txBody>
      </p:sp>
      <p:sp>
        <p:nvSpPr>
          <p:cNvPr id="9" name="Text 7">
            <a:extLst>
              <a:ext uri="{FF2B5EF4-FFF2-40B4-BE49-F238E27FC236}">
                <a16:creationId xmlns:a16="http://schemas.microsoft.com/office/drawing/2014/main" id="{E88CFF2B-66B2-90F9-FC19-E2523D33BD3D}"/>
              </a:ext>
            </a:extLst>
          </p:cNvPr>
          <p:cNvSpPr/>
          <p:nvPr/>
        </p:nvSpPr>
        <p:spPr>
          <a:xfrm>
            <a:off x="640080" y="2103120"/>
            <a:ext cx="2331720" cy="274320"/>
          </a:xfrm>
          <a:prstGeom prst="rect">
            <a:avLst/>
          </a:prstGeom>
          <a:noFill/>
          <a:ln/>
        </p:spPr>
        <p:txBody>
          <a:bodyPr wrap="square" lIns="0" tIns="0" rIns="0" bIns="0" rtlCol="0" anchor="ctr"/>
          <a:lstStyle/>
          <a:p>
            <a:pPr marL="0" indent="0">
              <a:buNone/>
            </a:pPr>
            <a:r>
              <a:rPr lang="en-US" sz="1000" b="1" kern="0" spc="400" dirty="0">
                <a:solidFill>
                  <a:srgbClr val="C97B3F"/>
                </a:solidFill>
                <a:latin typeface="Calibri" pitchFamily="34" charset="0"/>
                <a:ea typeface="Calibri" pitchFamily="34" charset="-122"/>
                <a:cs typeface="Calibri" pitchFamily="34" charset="-120"/>
              </a:rPr>
              <a:t>RESNET50</a:t>
            </a:r>
            <a:endParaRPr lang="en-US" sz="1000" dirty="0"/>
          </a:p>
        </p:txBody>
      </p:sp>
      <p:sp>
        <p:nvSpPr>
          <p:cNvPr id="10" name="Text 8">
            <a:extLst>
              <a:ext uri="{FF2B5EF4-FFF2-40B4-BE49-F238E27FC236}">
                <a16:creationId xmlns:a16="http://schemas.microsoft.com/office/drawing/2014/main" id="{C9434163-174F-42F8-E5A5-C4973AAAB562}"/>
              </a:ext>
            </a:extLst>
          </p:cNvPr>
          <p:cNvSpPr/>
          <p:nvPr/>
        </p:nvSpPr>
        <p:spPr>
          <a:xfrm>
            <a:off x="640080"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Local Texture Trap</a:t>
            </a:r>
            <a:endParaRPr lang="en-US" sz="1600" dirty="0"/>
          </a:p>
        </p:txBody>
      </p:sp>
      <p:sp>
        <p:nvSpPr>
          <p:cNvPr id="11" name="Text 9">
            <a:extLst>
              <a:ext uri="{FF2B5EF4-FFF2-40B4-BE49-F238E27FC236}">
                <a16:creationId xmlns:a16="http://schemas.microsoft.com/office/drawing/2014/main" id="{938E09FE-5570-9759-0CBA-2A6D04C4AECA}"/>
              </a:ext>
            </a:extLst>
          </p:cNvPr>
          <p:cNvSpPr/>
          <p:nvPr/>
        </p:nvSpPr>
        <p:spPr>
          <a:xfrm>
            <a:off x="640080"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12" name="Text 10">
            <a:extLst>
              <a:ext uri="{FF2B5EF4-FFF2-40B4-BE49-F238E27FC236}">
                <a16:creationId xmlns:a16="http://schemas.microsoft.com/office/drawing/2014/main" id="{16CE5F70-EA68-74D4-2089-D1D49106F8EA}"/>
              </a:ext>
            </a:extLst>
          </p:cNvPr>
          <p:cNvSpPr/>
          <p:nvPr/>
        </p:nvSpPr>
        <p:spPr>
          <a:xfrm>
            <a:off x="640080"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Har Cheong Gai → Fried Chicken</a:t>
            </a:r>
            <a:endParaRPr lang="en-US" sz="1100" dirty="0"/>
          </a:p>
        </p:txBody>
      </p:sp>
      <p:sp>
        <p:nvSpPr>
          <p:cNvPr id="13" name="Text 11">
            <a:extLst>
              <a:ext uri="{FF2B5EF4-FFF2-40B4-BE49-F238E27FC236}">
                <a16:creationId xmlns:a16="http://schemas.microsoft.com/office/drawing/2014/main" id="{1F36225F-7F45-B71A-5537-A9F1957FD627}"/>
              </a:ext>
            </a:extLst>
          </p:cNvPr>
          <p:cNvSpPr/>
          <p:nvPr/>
        </p:nvSpPr>
        <p:spPr>
          <a:xfrm>
            <a:off x="640080"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14" name="Text 12">
            <a:extLst>
              <a:ext uri="{FF2B5EF4-FFF2-40B4-BE49-F238E27FC236}">
                <a16:creationId xmlns:a16="http://schemas.microsoft.com/office/drawing/2014/main" id="{6BD733A2-CF21-518A-5095-D9826D32B3FA}"/>
              </a:ext>
            </a:extLst>
          </p:cNvPr>
          <p:cNvSpPr/>
          <p:nvPr/>
        </p:nvSpPr>
        <p:spPr>
          <a:xfrm>
            <a:off x="640080"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3×3 kernels + decaying effective receptive field → predictions dominated by local texture patches</a:t>
            </a:r>
            <a:endParaRPr lang="en-US" sz="900" dirty="0"/>
          </a:p>
        </p:txBody>
      </p:sp>
      <p:pic>
        <p:nvPicPr>
          <p:cNvPr id="16" name="Picture 15">
            <a:extLst>
              <a:ext uri="{FF2B5EF4-FFF2-40B4-BE49-F238E27FC236}">
                <a16:creationId xmlns:a16="http://schemas.microsoft.com/office/drawing/2014/main" id="{9DE843B1-D490-57A8-FB0E-6FA194142696}"/>
              </a:ext>
            </a:extLst>
          </p:cNvPr>
          <p:cNvPicPr>
            <a:picLocks noChangeAspect="1"/>
          </p:cNvPicPr>
          <p:nvPr/>
        </p:nvPicPr>
        <p:blipFill>
          <a:blip r:embed="rId3"/>
          <a:stretch>
            <a:fillRect/>
          </a:stretch>
        </p:blipFill>
        <p:spPr>
          <a:xfrm>
            <a:off x="3931635" y="2196248"/>
            <a:ext cx="4115374" cy="1552792"/>
          </a:xfrm>
          <a:prstGeom prst="rect">
            <a:avLst/>
          </a:prstGeom>
        </p:spPr>
      </p:pic>
    </p:spTree>
    <p:extLst>
      <p:ext uri="{BB962C8B-B14F-4D97-AF65-F5344CB8AC3E}">
        <p14:creationId xmlns:p14="http://schemas.microsoft.com/office/powerpoint/2010/main" val="1098831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C8DCC002-EB7F-E1D1-0282-4021432F5F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78FE4F-45ED-4A5F-46F9-31AC3EE633E1}"/>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9B368756-A6F9-434F-7C45-80ACD7C71DC2}"/>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D4C183D2-1517-076D-AF3C-CB2124D9C922}"/>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17 / 24</a:t>
            </a:r>
            <a:endParaRPr lang="en-US" sz="900" dirty="0"/>
          </a:p>
        </p:txBody>
      </p:sp>
      <p:sp>
        <p:nvSpPr>
          <p:cNvPr id="5" name="Text 3">
            <a:extLst>
              <a:ext uri="{FF2B5EF4-FFF2-40B4-BE49-F238E27FC236}">
                <a16:creationId xmlns:a16="http://schemas.microsoft.com/office/drawing/2014/main" id="{17BEA0BA-852F-BFF8-37D0-2620B7A90C26}"/>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Architectural unique failure signatures</a:t>
            </a:r>
            <a:endParaRPr lang="en-US" sz="2600" dirty="0"/>
          </a:p>
        </p:txBody>
      </p:sp>
      <p:sp>
        <p:nvSpPr>
          <p:cNvPr id="23" name="Shape 21">
            <a:extLst>
              <a:ext uri="{FF2B5EF4-FFF2-40B4-BE49-F238E27FC236}">
                <a16:creationId xmlns:a16="http://schemas.microsoft.com/office/drawing/2014/main" id="{2F55CA6B-F17F-E619-3966-51B47DD38194}"/>
              </a:ext>
            </a:extLst>
          </p:cNvPr>
          <p:cNvSpPr/>
          <p:nvPr/>
        </p:nvSpPr>
        <p:spPr>
          <a:xfrm>
            <a:off x="493776" y="1920240"/>
            <a:ext cx="2697480" cy="2194560"/>
          </a:xfrm>
          <a:prstGeom prst="rect">
            <a:avLst/>
          </a:prstGeom>
          <a:solidFill>
            <a:srgbClr val="FBF8F2"/>
          </a:solidFill>
          <a:ln w="6350">
            <a:solidFill>
              <a:srgbClr val="D8CFC0"/>
            </a:solidFill>
            <a:prstDash val="solid"/>
          </a:ln>
        </p:spPr>
        <p:txBody>
          <a:bodyPr/>
          <a:lstStyle/>
          <a:p>
            <a:endParaRPr lang="en-US"/>
          </a:p>
        </p:txBody>
      </p:sp>
      <p:sp>
        <p:nvSpPr>
          <p:cNvPr id="24" name="Shape 22">
            <a:extLst>
              <a:ext uri="{FF2B5EF4-FFF2-40B4-BE49-F238E27FC236}">
                <a16:creationId xmlns:a16="http://schemas.microsoft.com/office/drawing/2014/main" id="{684243CC-5CEF-4F48-726B-250CBEEB327C}"/>
              </a:ext>
            </a:extLst>
          </p:cNvPr>
          <p:cNvSpPr/>
          <p:nvPr/>
        </p:nvSpPr>
        <p:spPr>
          <a:xfrm>
            <a:off x="493776" y="1920240"/>
            <a:ext cx="2697480" cy="91440"/>
          </a:xfrm>
          <a:prstGeom prst="rect">
            <a:avLst/>
          </a:prstGeom>
          <a:solidFill>
            <a:srgbClr val="8B3A3A"/>
          </a:solidFill>
          <a:ln w="12700">
            <a:solidFill>
              <a:srgbClr val="8B3A3A"/>
            </a:solidFill>
            <a:prstDash val="solid"/>
          </a:ln>
        </p:spPr>
        <p:txBody>
          <a:bodyPr/>
          <a:lstStyle/>
          <a:p>
            <a:endParaRPr lang="en-US"/>
          </a:p>
        </p:txBody>
      </p:sp>
      <p:sp>
        <p:nvSpPr>
          <p:cNvPr id="25" name="Text 23">
            <a:extLst>
              <a:ext uri="{FF2B5EF4-FFF2-40B4-BE49-F238E27FC236}">
                <a16:creationId xmlns:a16="http://schemas.microsoft.com/office/drawing/2014/main" id="{0BCEB1DB-F321-C3D0-6E91-CC383DA9A8AF}"/>
              </a:ext>
            </a:extLst>
          </p:cNvPr>
          <p:cNvSpPr/>
          <p:nvPr/>
        </p:nvSpPr>
        <p:spPr>
          <a:xfrm>
            <a:off x="676656" y="2103120"/>
            <a:ext cx="2331720" cy="274320"/>
          </a:xfrm>
          <a:prstGeom prst="rect">
            <a:avLst/>
          </a:prstGeom>
          <a:noFill/>
          <a:ln/>
        </p:spPr>
        <p:txBody>
          <a:bodyPr wrap="square" lIns="0" tIns="0" rIns="0" bIns="0" rtlCol="0" anchor="ctr"/>
          <a:lstStyle/>
          <a:p>
            <a:pPr marL="0" indent="0">
              <a:buNone/>
            </a:pPr>
            <a:r>
              <a:rPr lang="en-US" sz="1000" b="1" kern="0" spc="400" dirty="0">
                <a:solidFill>
                  <a:srgbClr val="8B3A3A"/>
                </a:solidFill>
                <a:latin typeface="Calibri" pitchFamily="34" charset="0"/>
                <a:ea typeface="Calibri" pitchFamily="34" charset="-122"/>
                <a:cs typeface="Calibri" pitchFamily="34" charset="-120"/>
              </a:rPr>
              <a:t>CONVNEXT</a:t>
            </a:r>
            <a:endParaRPr lang="en-US" sz="1000" dirty="0"/>
          </a:p>
        </p:txBody>
      </p:sp>
      <p:sp>
        <p:nvSpPr>
          <p:cNvPr id="26" name="Text 24">
            <a:extLst>
              <a:ext uri="{FF2B5EF4-FFF2-40B4-BE49-F238E27FC236}">
                <a16:creationId xmlns:a16="http://schemas.microsoft.com/office/drawing/2014/main" id="{7E8A1F34-5D6F-2434-6388-96D7443CD645}"/>
              </a:ext>
            </a:extLst>
          </p:cNvPr>
          <p:cNvSpPr/>
          <p:nvPr/>
        </p:nvSpPr>
        <p:spPr>
          <a:xfrm>
            <a:off x="676656" y="2423160"/>
            <a:ext cx="2331720" cy="640080"/>
          </a:xfrm>
          <a:prstGeom prst="rect">
            <a:avLst/>
          </a:prstGeom>
          <a:noFill/>
          <a:ln/>
        </p:spPr>
        <p:txBody>
          <a:bodyPr wrap="square" lIns="0" tIns="0" rIns="0" bIns="0" rtlCol="0" anchor="ctr"/>
          <a:lstStyle/>
          <a:p>
            <a:pPr marL="0" indent="0">
              <a:buNone/>
            </a:pPr>
            <a:r>
              <a:rPr lang="en-US" sz="1600" b="1" dirty="0">
                <a:solidFill>
                  <a:srgbClr val="2B2B2B"/>
                </a:solidFill>
                <a:latin typeface="Georgia" pitchFamily="34" charset="0"/>
                <a:ea typeface="Georgia" pitchFamily="34" charset="-122"/>
                <a:cs typeface="Georgia" pitchFamily="34" charset="-120"/>
              </a:rPr>
              <a:t>Intermediate-Scale Ambiguity</a:t>
            </a:r>
            <a:endParaRPr lang="en-US" sz="1600" dirty="0"/>
          </a:p>
        </p:txBody>
      </p:sp>
      <p:sp>
        <p:nvSpPr>
          <p:cNvPr id="27" name="Text 25">
            <a:extLst>
              <a:ext uri="{FF2B5EF4-FFF2-40B4-BE49-F238E27FC236}">
                <a16:creationId xmlns:a16="http://schemas.microsoft.com/office/drawing/2014/main" id="{F9658B55-3444-9C98-C12A-6FF13A9B626B}"/>
              </a:ext>
            </a:extLst>
          </p:cNvPr>
          <p:cNvSpPr/>
          <p:nvPr/>
        </p:nvSpPr>
        <p:spPr>
          <a:xfrm>
            <a:off x="676656" y="306324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EXAMPLE</a:t>
            </a:r>
            <a:endParaRPr lang="en-US" sz="800" dirty="0"/>
          </a:p>
        </p:txBody>
      </p:sp>
      <p:sp>
        <p:nvSpPr>
          <p:cNvPr id="28" name="Text 26">
            <a:extLst>
              <a:ext uri="{FF2B5EF4-FFF2-40B4-BE49-F238E27FC236}">
                <a16:creationId xmlns:a16="http://schemas.microsoft.com/office/drawing/2014/main" id="{357BF087-2765-FF3D-2FFF-CAF18CF71B83}"/>
              </a:ext>
            </a:extLst>
          </p:cNvPr>
          <p:cNvSpPr/>
          <p:nvPr/>
        </p:nvSpPr>
        <p:spPr>
          <a:xfrm>
            <a:off x="676656" y="3246120"/>
            <a:ext cx="2331720" cy="274320"/>
          </a:xfrm>
          <a:prstGeom prst="rect">
            <a:avLst/>
          </a:prstGeom>
          <a:noFill/>
          <a:ln/>
        </p:spPr>
        <p:txBody>
          <a:bodyPr wrap="square" lIns="0" tIns="0" rIns="0" bIns="0"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Drunken Prawn → Fried Prawn</a:t>
            </a:r>
            <a:endParaRPr lang="en-US" sz="1100" dirty="0"/>
          </a:p>
        </p:txBody>
      </p:sp>
      <p:sp>
        <p:nvSpPr>
          <p:cNvPr id="29" name="Text 27">
            <a:extLst>
              <a:ext uri="{FF2B5EF4-FFF2-40B4-BE49-F238E27FC236}">
                <a16:creationId xmlns:a16="http://schemas.microsoft.com/office/drawing/2014/main" id="{0BD397DD-BF7F-94B4-6702-70F3EEB362C2}"/>
              </a:ext>
            </a:extLst>
          </p:cNvPr>
          <p:cNvSpPr/>
          <p:nvPr/>
        </p:nvSpPr>
        <p:spPr>
          <a:xfrm>
            <a:off x="676656" y="3566160"/>
            <a:ext cx="2331720" cy="201168"/>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MECHANISM</a:t>
            </a:r>
            <a:endParaRPr lang="en-US" sz="800" dirty="0"/>
          </a:p>
        </p:txBody>
      </p:sp>
      <p:sp>
        <p:nvSpPr>
          <p:cNvPr id="30" name="Text 28">
            <a:extLst>
              <a:ext uri="{FF2B5EF4-FFF2-40B4-BE49-F238E27FC236}">
                <a16:creationId xmlns:a16="http://schemas.microsoft.com/office/drawing/2014/main" id="{D4454DFF-C6FD-3B89-AC27-0DA7FFE0ABD0}"/>
              </a:ext>
            </a:extLst>
          </p:cNvPr>
          <p:cNvSpPr/>
          <p:nvPr/>
        </p:nvSpPr>
        <p:spPr>
          <a:xfrm>
            <a:off x="676656" y="3749040"/>
            <a:ext cx="2331720" cy="365760"/>
          </a:xfrm>
          <a:prstGeom prst="rect">
            <a:avLst/>
          </a:prstGeom>
          <a:noFill/>
          <a:ln/>
        </p:spPr>
        <p:txBody>
          <a:bodyPr wrap="square" lIns="0" tIns="0" rIns="0" bIns="0" rtlCol="0" anchor="ctr"/>
          <a:lstStyle/>
          <a:p>
            <a:pPr marL="0" indent="0">
              <a:buNone/>
            </a:pPr>
            <a:r>
              <a:rPr lang="en-US" sz="900" dirty="0">
                <a:solidFill>
                  <a:srgbClr val="454545"/>
                </a:solidFill>
                <a:latin typeface="Calibri" pitchFamily="34" charset="0"/>
                <a:ea typeface="Calibri" pitchFamily="34" charset="-122"/>
                <a:cs typeface="Calibri" pitchFamily="34" charset="-120"/>
              </a:rPr>
              <a:t>7×7 kernels resolve the texture trap, but remain local → fail on subtle, spatially-distributed cues</a:t>
            </a:r>
            <a:endParaRPr lang="en-US" sz="900" dirty="0"/>
          </a:p>
        </p:txBody>
      </p:sp>
      <p:pic>
        <p:nvPicPr>
          <p:cNvPr id="34" name="Picture 33">
            <a:extLst>
              <a:ext uri="{FF2B5EF4-FFF2-40B4-BE49-F238E27FC236}">
                <a16:creationId xmlns:a16="http://schemas.microsoft.com/office/drawing/2014/main" id="{846E1F6C-BB55-AC5E-6DBD-42129C728C42}"/>
              </a:ext>
            </a:extLst>
          </p:cNvPr>
          <p:cNvPicPr>
            <a:picLocks noChangeAspect="1"/>
          </p:cNvPicPr>
          <p:nvPr/>
        </p:nvPicPr>
        <p:blipFill>
          <a:blip r:embed="rId3"/>
          <a:stretch>
            <a:fillRect/>
          </a:stretch>
        </p:blipFill>
        <p:spPr>
          <a:xfrm>
            <a:off x="3439672" y="1965960"/>
            <a:ext cx="5430008" cy="2152950"/>
          </a:xfrm>
          <a:prstGeom prst="rect">
            <a:avLst/>
          </a:prstGeom>
        </p:spPr>
      </p:pic>
    </p:spTree>
    <p:extLst>
      <p:ext uri="{BB962C8B-B14F-4D97-AF65-F5344CB8AC3E}">
        <p14:creationId xmlns:p14="http://schemas.microsoft.com/office/powerpoint/2010/main" val="3454535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B4680C4C-7187-6882-7AEE-8D1E4F415D1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B49DF1-CF28-14D3-BCAF-191FDE1C56FA}"/>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a:extLst>
              <a:ext uri="{FF2B5EF4-FFF2-40B4-BE49-F238E27FC236}">
                <a16:creationId xmlns:a16="http://schemas.microsoft.com/office/drawing/2014/main" id="{0122E427-13C8-A7E9-BD7B-22CECF3A2E9B}"/>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a:extLst>
              <a:ext uri="{FF2B5EF4-FFF2-40B4-BE49-F238E27FC236}">
                <a16:creationId xmlns:a16="http://schemas.microsoft.com/office/drawing/2014/main" id="{C3CCD0F5-83A7-6FAA-7B1D-697D6D9D54B5}"/>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18 / 24</a:t>
            </a:r>
            <a:endParaRPr lang="en-US" sz="900" dirty="0"/>
          </a:p>
        </p:txBody>
      </p:sp>
      <p:sp>
        <p:nvSpPr>
          <p:cNvPr id="5" name="Text 3">
            <a:extLst>
              <a:ext uri="{FF2B5EF4-FFF2-40B4-BE49-F238E27FC236}">
                <a16:creationId xmlns:a16="http://schemas.microsoft.com/office/drawing/2014/main" id="{F0F4E8AE-C92F-DFE6-F315-8350A13A5B46}"/>
              </a:ext>
            </a:extLst>
          </p:cNvPr>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Grad-CAM evidence</a:t>
            </a:r>
            <a:endParaRPr lang="en-US" sz="2600" dirty="0"/>
          </a:p>
        </p:txBody>
      </p:sp>
      <p:sp>
        <p:nvSpPr>
          <p:cNvPr id="25" name="Shape 23">
            <a:extLst>
              <a:ext uri="{FF2B5EF4-FFF2-40B4-BE49-F238E27FC236}">
                <a16:creationId xmlns:a16="http://schemas.microsoft.com/office/drawing/2014/main" id="{2D9DFB93-F7EC-26D7-BC3C-65C0E7A9B08C}"/>
              </a:ext>
            </a:extLst>
          </p:cNvPr>
          <p:cNvSpPr/>
          <p:nvPr/>
        </p:nvSpPr>
        <p:spPr>
          <a:xfrm>
            <a:off x="457200" y="1993392"/>
            <a:ext cx="2697480" cy="2240280"/>
          </a:xfrm>
          <a:prstGeom prst="rect">
            <a:avLst/>
          </a:prstGeom>
          <a:solidFill>
            <a:srgbClr val="FBF8F2"/>
          </a:solidFill>
          <a:ln w="6350">
            <a:solidFill>
              <a:srgbClr val="D8CFC0"/>
            </a:solidFill>
            <a:prstDash val="solid"/>
          </a:ln>
        </p:spPr>
        <p:txBody>
          <a:bodyPr/>
          <a:lstStyle/>
          <a:p>
            <a:endParaRPr lang="en-US"/>
          </a:p>
        </p:txBody>
      </p:sp>
      <p:sp>
        <p:nvSpPr>
          <p:cNvPr id="26" name="Shape 24">
            <a:extLst>
              <a:ext uri="{FF2B5EF4-FFF2-40B4-BE49-F238E27FC236}">
                <a16:creationId xmlns:a16="http://schemas.microsoft.com/office/drawing/2014/main" id="{3ED23610-B85F-DBED-626A-7C11CBC8C3F5}"/>
              </a:ext>
            </a:extLst>
          </p:cNvPr>
          <p:cNvSpPr/>
          <p:nvPr/>
        </p:nvSpPr>
        <p:spPr>
          <a:xfrm>
            <a:off x="457200" y="1993392"/>
            <a:ext cx="2697480" cy="73152"/>
          </a:xfrm>
          <a:prstGeom prst="rect">
            <a:avLst/>
          </a:prstGeom>
          <a:solidFill>
            <a:srgbClr val="8B3A3A"/>
          </a:solidFill>
          <a:ln w="12700">
            <a:solidFill>
              <a:srgbClr val="8B3A3A"/>
            </a:solidFill>
            <a:prstDash val="solid"/>
          </a:ln>
        </p:spPr>
        <p:txBody>
          <a:bodyPr/>
          <a:lstStyle/>
          <a:p>
            <a:endParaRPr lang="en-US"/>
          </a:p>
        </p:txBody>
      </p:sp>
      <p:sp>
        <p:nvSpPr>
          <p:cNvPr id="27" name="Text 25">
            <a:extLst>
              <a:ext uri="{FF2B5EF4-FFF2-40B4-BE49-F238E27FC236}">
                <a16:creationId xmlns:a16="http://schemas.microsoft.com/office/drawing/2014/main" id="{93ED30EE-CA6D-ADD7-C9BD-30716B2F1364}"/>
              </a:ext>
            </a:extLst>
          </p:cNvPr>
          <p:cNvSpPr/>
          <p:nvPr/>
        </p:nvSpPr>
        <p:spPr>
          <a:xfrm>
            <a:off x="640080" y="2157984"/>
            <a:ext cx="2331720" cy="274320"/>
          </a:xfrm>
          <a:prstGeom prst="rect">
            <a:avLst/>
          </a:prstGeom>
          <a:noFill/>
          <a:ln/>
        </p:spPr>
        <p:txBody>
          <a:bodyPr wrap="square" lIns="0" tIns="0" rIns="0" bIns="0" rtlCol="0" anchor="ctr"/>
          <a:lstStyle/>
          <a:p>
            <a:pPr marL="0" indent="0">
              <a:buNone/>
            </a:pPr>
            <a:r>
              <a:rPr lang="en-US" sz="1000" b="1" kern="0" spc="400" dirty="0">
                <a:solidFill>
                  <a:srgbClr val="8B3A3A"/>
                </a:solidFill>
                <a:latin typeface="Calibri" pitchFamily="34" charset="0"/>
                <a:ea typeface="Calibri" pitchFamily="34" charset="-122"/>
                <a:cs typeface="Calibri" pitchFamily="34" charset="-120"/>
              </a:rPr>
              <a:t>CONVNEXT</a:t>
            </a:r>
            <a:endParaRPr lang="en-US" sz="1000" dirty="0"/>
          </a:p>
        </p:txBody>
      </p:sp>
      <p:sp>
        <p:nvSpPr>
          <p:cNvPr id="28" name="Text 26">
            <a:extLst>
              <a:ext uri="{FF2B5EF4-FFF2-40B4-BE49-F238E27FC236}">
                <a16:creationId xmlns:a16="http://schemas.microsoft.com/office/drawing/2014/main" id="{03314660-8293-552F-0022-F2CD6499A674}"/>
              </a:ext>
            </a:extLst>
          </p:cNvPr>
          <p:cNvSpPr/>
          <p:nvPr/>
        </p:nvSpPr>
        <p:spPr>
          <a:xfrm>
            <a:off x="640080" y="2496312"/>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ATTENTION</a:t>
            </a:r>
            <a:endParaRPr lang="en-US" sz="800" dirty="0"/>
          </a:p>
        </p:txBody>
      </p:sp>
      <p:sp>
        <p:nvSpPr>
          <p:cNvPr id="29" name="Text 27">
            <a:extLst>
              <a:ext uri="{FF2B5EF4-FFF2-40B4-BE49-F238E27FC236}">
                <a16:creationId xmlns:a16="http://schemas.microsoft.com/office/drawing/2014/main" id="{447B73AB-C9B8-DB06-0307-4B880F01C310}"/>
              </a:ext>
            </a:extLst>
          </p:cNvPr>
          <p:cNvSpPr/>
          <p:nvPr/>
        </p:nvSpPr>
        <p:spPr>
          <a:xfrm>
            <a:off x="640080" y="2706624"/>
            <a:ext cx="2331720" cy="59436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Cohesive activation</a:t>
            </a:r>
            <a:endParaRPr lang="en-US" sz="1200" dirty="0"/>
          </a:p>
          <a:p>
            <a:pPr marL="0" indent="0">
              <a:buNone/>
            </a:pPr>
            <a:r>
              <a:rPr lang="en-US" sz="1200" i="1" dirty="0">
                <a:solidFill>
                  <a:srgbClr val="2B2B2B"/>
                </a:solidFill>
                <a:latin typeface="Calibri" pitchFamily="34" charset="0"/>
                <a:ea typeface="Calibri" pitchFamily="34" charset="-122"/>
                <a:cs typeface="Calibri" pitchFamily="34" charset="-120"/>
              </a:rPr>
              <a:t>over chicken pieces</a:t>
            </a:r>
            <a:endParaRPr lang="en-US" sz="1200" dirty="0"/>
          </a:p>
        </p:txBody>
      </p:sp>
      <p:sp>
        <p:nvSpPr>
          <p:cNvPr id="30" name="Text 28">
            <a:extLst>
              <a:ext uri="{FF2B5EF4-FFF2-40B4-BE49-F238E27FC236}">
                <a16:creationId xmlns:a16="http://schemas.microsoft.com/office/drawing/2014/main" id="{E89CB5FA-62AD-3B4C-346B-FBB2EC6B8828}"/>
              </a:ext>
            </a:extLst>
          </p:cNvPr>
          <p:cNvSpPr/>
          <p:nvPr/>
        </p:nvSpPr>
        <p:spPr>
          <a:xfrm>
            <a:off x="640080" y="3364992"/>
            <a:ext cx="2331720" cy="228600"/>
          </a:xfrm>
          <a:prstGeom prst="rect">
            <a:avLst/>
          </a:prstGeom>
          <a:noFill/>
          <a:ln/>
        </p:spPr>
        <p:txBody>
          <a:bodyPr wrap="square" lIns="0" tIns="0" rIns="0" bIns="0" rtlCol="0" anchor="ctr"/>
          <a:lstStyle/>
          <a:p>
            <a:pPr marL="0" indent="0">
              <a:buNone/>
            </a:pPr>
            <a:r>
              <a:rPr lang="en-US" sz="800" b="1" kern="0" spc="300" dirty="0">
                <a:solidFill>
                  <a:srgbClr val="888888"/>
                </a:solidFill>
                <a:latin typeface="Calibri" pitchFamily="34" charset="0"/>
                <a:ea typeface="Calibri" pitchFamily="34" charset="-122"/>
                <a:cs typeface="Calibri" pitchFamily="34" charset="-120"/>
              </a:rPr>
              <a:t>OUTCOME</a:t>
            </a:r>
            <a:endParaRPr lang="en-US" sz="800" dirty="0"/>
          </a:p>
        </p:txBody>
      </p:sp>
      <p:sp>
        <p:nvSpPr>
          <p:cNvPr id="31" name="Text 29">
            <a:extLst>
              <a:ext uri="{FF2B5EF4-FFF2-40B4-BE49-F238E27FC236}">
                <a16:creationId xmlns:a16="http://schemas.microsoft.com/office/drawing/2014/main" id="{8EE13086-BCCF-7F80-E9E3-7D6D189AC9C8}"/>
              </a:ext>
            </a:extLst>
          </p:cNvPr>
          <p:cNvSpPr/>
          <p:nvPr/>
        </p:nvSpPr>
        <p:spPr>
          <a:xfrm>
            <a:off x="640080" y="3566160"/>
            <a:ext cx="2331720" cy="411480"/>
          </a:xfrm>
          <a:prstGeom prst="rect">
            <a:avLst/>
          </a:prstGeom>
          <a:noFill/>
          <a:ln/>
        </p:spPr>
        <p:txBody>
          <a:bodyPr wrap="square" lIns="0" tIns="0" rIns="0" bIns="0" rtlCol="0" anchor="ctr"/>
          <a:lstStyle/>
          <a:p>
            <a:pPr marL="0" indent="0">
              <a:buNone/>
            </a:pPr>
            <a:r>
              <a:rPr lang="en-US" sz="1100" b="1" dirty="0">
                <a:solidFill>
                  <a:srgbClr val="5C7A55"/>
                </a:solidFill>
                <a:latin typeface="Calibri" pitchFamily="34" charset="0"/>
                <a:ea typeface="Calibri" pitchFamily="34" charset="-122"/>
                <a:cs typeface="Calibri" pitchFamily="34" charset="-120"/>
              </a:rPr>
              <a:t>Correct  —  spatially-grounded reasoning</a:t>
            </a:r>
            <a:endParaRPr lang="en-US" sz="1100" dirty="0"/>
          </a:p>
        </p:txBody>
      </p:sp>
      <p:sp>
        <p:nvSpPr>
          <p:cNvPr id="32" name="Shape 30">
            <a:extLst>
              <a:ext uri="{FF2B5EF4-FFF2-40B4-BE49-F238E27FC236}">
                <a16:creationId xmlns:a16="http://schemas.microsoft.com/office/drawing/2014/main" id="{ED20BDFB-9EBD-8FC3-2753-1E0BD2B4F007}"/>
              </a:ext>
            </a:extLst>
          </p:cNvPr>
          <p:cNvSpPr/>
          <p:nvPr/>
        </p:nvSpPr>
        <p:spPr>
          <a:xfrm>
            <a:off x="640080" y="3959352"/>
            <a:ext cx="1097280" cy="201168"/>
          </a:xfrm>
          <a:prstGeom prst="rect">
            <a:avLst/>
          </a:prstGeom>
          <a:solidFill>
            <a:srgbClr val="5C7A55"/>
          </a:solidFill>
          <a:ln w="12700">
            <a:solidFill>
              <a:srgbClr val="5C7A55"/>
            </a:solidFill>
            <a:prstDash val="solid"/>
          </a:ln>
        </p:spPr>
        <p:txBody>
          <a:bodyPr/>
          <a:lstStyle/>
          <a:p>
            <a:endParaRPr lang="en-US"/>
          </a:p>
        </p:txBody>
      </p:sp>
      <p:sp>
        <p:nvSpPr>
          <p:cNvPr id="33" name="Text 31">
            <a:extLst>
              <a:ext uri="{FF2B5EF4-FFF2-40B4-BE49-F238E27FC236}">
                <a16:creationId xmlns:a16="http://schemas.microsoft.com/office/drawing/2014/main" id="{C55E06F5-0D46-11F2-022D-65573372D417}"/>
              </a:ext>
            </a:extLst>
          </p:cNvPr>
          <p:cNvSpPr/>
          <p:nvPr/>
        </p:nvSpPr>
        <p:spPr>
          <a:xfrm>
            <a:off x="640080" y="3959352"/>
            <a:ext cx="1097280" cy="20116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high</a:t>
            </a:r>
            <a:endParaRPr lang="en-US" sz="900" dirty="0"/>
          </a:p>
        </p:txBody>
      </p:sp>
      <p:pic>
        <p:nvPicPr>
          <p:cNvPr id="36" name="Picture 35">
            <a:extLst>
              <a:ext uri="{FF2B5EF4-FFF2-40B4-BE49-F238E27FC236}">
                <a16:creationId xmlns:a16="http://schemas.microsoft.com/office/drawing/2014/main" id="{D3AAAC4E-7E2E-0C81-0401-BFC66A393CCA}"/>
              </a:ext>
            </a:extLst>
          </p:cNvPr>
          <p:cNvPicPr>
            <a:picLocks noChangeAspect="1"/>
          </p:cNvPicPr>
          <p:nvPr/>
        </p:nvPicPr>
        <p:blipFill>
          <a:blip r:embed="rId3"/>
          <a:stretch>
            <a:fillRect/>
          </a:stretch>
        </p:blipFill>
        <p:spPr>
          <a:xfrm>
            <a:off x="3307660" y="2110223"/>
            <a:ext cx="5363323" cy="1886213"/>
          </a:xfrm>
          <a:prstGeom prst="rect">
            <a:avLst/>
          </a:prstGeom>
        </p:spPr>
      </p:pic>
    </p:spTree>
    <p:extLst>
      <p:ext uri="{BB962C8B-B14F-4D97-AF65-F5344CB8AC3E}">
        <p14:creationId xmlns:p14="http://schemas.microsoft.com/office/powerpoint/2010/main" val="11916210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3" name="Text 1"/>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04  /  RESULTS &amp; DISCUSSION</a:t>
            </a:r>
            <a:endParaRPr lang="en-US" sz="1000" dirty="0"/>
          </a:p>
        </p:txBody>
      </p:sp>
      <p:sp>
        <p:nvSpPr>
          <p:cNvPr id="4" name="Text 2"/>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21 / 24</a:t>
            </a:r>
            <a:endParaRPr lang="en-US" sz="900" dirty="0"/>
          </a:p>
        </p:txBody>
      </p:sp>
      <p:sp>
        <p:nvSpPr>
          <p:cNvPr id="5" name="Text 3"/>
          <p:cNvSpPr/>
          <p:nvPr/>
        </p:nvSpPr>
        <p:spPr>
          <a:xfrm>
            <a:off x="457200" y="914400"/>
            <a:ext cx="8229600" cy="777240"/>
          </a:xfrm>
          <a:prstGeom prst="rect">
            <a:avLst/>
          </a:prstGeom>
          <a:noFill/>
          <a:ln/>
        </p:spPr>
        <p:txBody>
          <a:bodyPr wrap="square" lIns="0" tIns="0" rIns="0" bIns="0" rtlCol="0" anchor="t"/>
          <a:lstStyle/>
          <a:p>
            <a:pPr marL="0" indent="0">
              <a:lnSpc>
                <a:spcPct val="95000"/>
              </a:lnSpc>
              <a:buNone/>
            </a:pPr>
            <a:r>
              <a:rPr lang="en-US" sz="2600" b="1" dirty="0">
                <a:solidFill>
                  <a:srgbClr val="2B2B2B"/>
                </a:solidFill>
                <a:latin typeface="Georgia" pitchFamily="34" charset="0"/>
                <a:ea typeface="Georgia" pitchFamily="34" charset="-122"/>
                <a:cs typeface="Georgia" pitchFamily="34" charset="-120"/>
              </a:rPr>
              <a:t>Hyperparameter robustness</a:t>
            </a:r>
            <a:endParaRPr lang="en-US" sz="2600" dirty="0"/>
          </a:p>
        </p:txBody>
      </p:sp>
      <p:graphicFrame>
        <p:nvGraphicFramePr>
          <p:cNvPr id="6" name="Chart 0"/>
          <p:cNvGraphicFramePr/>
          <p:nvPr/>
        </p:nvGraphicFramePr>
        <p:xfrm>
          <a:off x="457200" y="169164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669280" y="1691640"/>
            <a:ext cx="301752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LR SENSITIVITY PROFILES</a:t>
            </a:r>
            <a:endParaRPr lang="en-US" sz="900" dirty="0"/>
          </a:p>
        </p:txBody>
      </p:sp>
      <p:sp>
        <p:nvSpPr>
          <p:cNvPr id="8" name="Shape 5"/>
          <p:cNvSpPr/>
          <p:nvPr/>
        </p:nvSpPr>
        <p:spPr>
          <a:xfrm>
            <a:off x="5669280" y="2148840"/>
            <a:ext cx="91440" cy="228600"/>
          </a:xfrm>
          <a:prstGeom prst="rect">
            <a:avLst/>
          </a:prstGeom>
          <a:solidFill>
            <a:srgbClr val="C97B3F"/>
          </a:solidFill>
          <a:ln w="12700">
            <a:solidFill>
              <a:srgbClr val="C97B3F"/>
            </a:solidFill>
            <a:prstDash val="solid"/>
          </a:ln>
        </p:spPr>
        <p:txBody>
          <a:bodyPr/>
          <a:lstStyle/>
          <a:p>
            <a:endParaRPr lang="en-US"/>
          </a:p>
        </p:txBody>
      </p:sp>
      <p:sp>
        <p:nvSpPr>
          <p:cNvPr id="9" name="Text 6"/>
          <p:cNvSpPr/>
          <p:nvPr/>
        </p:nvSpPr>
        <p:spPr>
          <a:xfrm>
            <a:off x="5852160" y="2011680"/>
            <a:ext cx="2834640" cy="502920"/>
          </a:xfrm>
          <a:prstGeom prst="rect">
            <a:avLst/>
          </a:prstGeom>
          <a:noFill/>
          <a:ln/>
        </p:spPr>
        <p:txBody>
          <a:bodyPr wrap="square" lIns="0" tIns="0" rIns="0" bIns="0" rtlCol="0" anchor="t"/>
          <a:lstStyle/>
          <a:p>
            <a:pPr marL="0" indent="0">
              <a:buNone/>
            </a:pPr>
            <a:r>
              <a:rPr lang="en-US" sz="1100" b="1" dirty="0">
                <a:solidFill>
                  <a:srgbClr val="2B2B2B"/>
                </a:solidFill>
                <a:latin typeface="Calibri" pitchFamily="34" charset="0"/>
                <a:ea typeface="Calibri" pitchFamily="34" charset="-122"/>
                <a:cs typeface="Calibri" pitchFamily="34" charset="-120"/>
              </a:rPr>
              <a:t>ResNet50</a:t>
            </a:r>
            <a:endParaRPr lang="en-US" sz="1100" dirty="0"/>
          </a:p>
          <a:p>
            <a:pPr marL="0" indent="0">
              <a:buNone/>
            </a:pPr>
            <a:r>
              <a:rPr lang="en-US" sz="1000" dirty="0">
                <a:solidFill>
                  <a:srgbClr val="454545"/>
                </a:solidFill>
                <a:latin typeface="Calibri" pitchFamily="34" charset="0"/>
                <a:ea typeface="Calibri" pitchFamily="34" charset="-122"/>
                <a:cs typeface="Calibri" pitchFamily="34" charset="-120"/>
              </a:rPr>
              <a:t>monotonically increasing  ·  prefers high LR</a:t>
            </a:r>
            <a:endParaRPr lang="en-US" sz="1100" dirty="0"/>
          </a:p>
        </p:txBody>
      </p:sp>
      <p:sp>
        <p:nvSpPr>
          <p:cNvPr id="10" name="Shape 7"/>
          <p:cNvSpPr/>
          <p:nvPr/>
        </p:nvSpPr>
        <p:spPr>
          <a:xfrm>
            <a:off x="5669280" y="2651760"/>
            <a:ext cx="91440" cy="228600"/>
          </a:xfrm>
          <a:prstGeom prst="rect">
            <a:avLst/>
          </a:prstGeom>
          <a:solidFill>
            <a:srgbClr val="5C7A55"/>
          </a:solidFill>
          <a:ln w="12700">
            <a:solidFill>
              <a:srgbClr val="5C7A55"/>
            </a:solidFill>
            <a:prstDash val="solid"/>
          </a:ln>
        </p:spPr>
        <p:txBody>
          <a:bodyPr/>
          <a:lstStyle/>
          <a:p>
            <a:endParaRPr lang="en-US"/>
          </a:p>
        </p:txBody>
      </p:sp>
      <p:sp>
        <p:nvSpPr>
          <p:cNvPr id="11" name="Text 8"/>
          <p:cNvSpPr/>
          <p:nvPr/>
        </p:nvSpPr>
        <p:spPr>
          <a:xfrm>
            <a:off x="5852160" y="2514600"/>
            <a:ext cx="2834640" cy="502920"/>
          </a:xfrm>
          <a:prstGeom prst="rect">
            <a:avLst/>
          </a:prstGeom>
          <a:noFill/>
          <a:ln/>
        </p:spPr>
        <p:txBody>
          <a:bodyPr wrap="square" lIns="0" tIns="0" rIns="0" bIns="0" rtlCol="0" anchor="t"/>
          <a:lstStyle/>
          <a:p>
            <a:pPr marL="0" indent="0">
              <a:buNone/>
            </a:pPr>
            <a:r>
              <a:rPr lang="en-US" sz="1100" b="1" dirty="0">
                <a:solidFill>
                  <a:srgbClr val="2B2B2B"/>
                </a:solidFill>
                <a:latin typeface="Calibri" pitchFamily="34" charset="0"/>
                <a:ea typeface="Calibri" pitchFamily="34" charset="-122"/>
                <a:cs typeface="Calibri" pitchFamily="34" charset="-120"/>
              </a:rPr>
              <a:t>ViT</a:t>
            </a:r>
            <a:endParaRPr lang="en-US" sz="1100" dirty="0"/>
          </a:p>
          <a:p>
            <a:pPr marL="0" indent="0">
              <a:buNone/>
            </a:pPr>
            <a:r>
              <a:rPr lang="en-US" sz="1000" dirty="0">
                <a:solidFill>
                  <a:srgbClr val="454545"/>
                </a:solidFill>
                <a:latin typeface="Calibri" pitchFamily="34" charset="0"/>
                <a:ea typeface="Calibri" pitchFamily="34" charset="-122"/>
                <a:cs typeface="Calibri" pitchFamily="34" charset="-120"/>
              </a:rPr>
              <a:t>sharp peak at 5×10⁻⁵  ·  collapses at high LR</a:t>
            </a:r>
            <a:endParaRPr lang="en-US" sz="1100" dirty="0"/>
          </a:p>
        </p:txBody>
      </p:sp>
      <p:sp>
        <p:nvSpPr>
          <p:cNvPr id="12" name="Shape 9"/>
          <p:cNvSpPr/>
          <p:nvPr/>
        </p:nvSpPr>
        <p:spPr>
          <a:xfrm>
            <a:off x="5669280" y="3154680"/>
            <a:ext cx="91440" cy="228600"/>
          </a:xfrm>
          <a:prstGeom prst="rect">
            <a:avLst/>
          </a:prstGeom>
          <a:solidFill>
            <a:srgbClr val="8B3A3A"/>
          </a:solidFill>
          <a:ln w="12700">
            <a:solidFill>
              <a:srgbClr val="8B3A3A"/>
            </a:solidFill>
            <a:prstDash val="solid"/>
          </a:ln>
        </p:spPr>
        <p:txBody>
          <a:bodyPr/>
          <a:lstStyle/>
          <a:p>
            <a:endParaRPr lang="en-US"/>
          </a:p>
        </p:txBody>
      </p:sp>
      <p:sp>
        <p:nvSpPr>
          <p:cNvPr id="13" name="Text 10"/>
          <p:cNvSpPr/>
          <p:nvPr/>
        </p:nvSpPr>
        <p:spPr>
          <a:xfrm>
            <a:off x="5852160" y="3017520"/>
            <a:ext cx="2834640" cy="502920"/>
          </a:xfrm>
          <a:prstGeom prst="rect">
            <a:avLst/>
          </a:prstGeom>
          <a:noFill/>
          <a:ln/>
        </p:spPr>
        <p:txBody>
          <a:bodyPr wrap="square" lIns="0" tIns="0" rIns="0" bIns="0" rtlCol="0" anchor="t"/>
          <a:lstStyle/>
          <a:p>
            <a:pPr marL="0" indent="0">
              <a:buNone/>
            </a:pPr>
            <a:r>
              <a:rPr lang="en-US" sz="1100" b="1" dirty="0">
                <a:solidFill>
                  <a:srgbClr val="2B2B2B"/>
                </a:solidFill>
                <a:latin typeface="Calibri" pitchFamily="34" charset="0"/>
                <a:ea typeface="Calibri" pitchFamily="34" charset="-122"/>
                <a:cs typeface="Calibri" pitchFamily="34" charset="-120"/>
              </a:rPr>
              <a:t>ConvNeXt</a:t>
            </a:r>
            <a:endParaRPr lang="en-US" sz="1100" dirty="0"/>
          </a:p>
          <a:p>
            <a:pPr marL="0" indent="0">
              <a:buNone/>
            </a:pPr>
            <a:r>
              <a:rPr lang="en-US" sz="1000" dirty="0">
                <a:solidFill>
                  <a:srgbClr val="454545"/>
                </a:solidFill>
                <a:latin typeface="Calibri" pitchFamily="34" charset="0"/>
                <a:ea typeface="Calibri" pitchFamily="34" charset="-122"/>
                <a:cs typeface="Calibri" pitchFamily="34" charset="-120"/>
              </a:rPr>
              <a:t>broad peak  ·  graceful degradation</a:t>
            </a:r>
            <a:endParaRPr lang="en-US" sz="1100" dirty="0"/>
          </a:p>
        </p:txBody>
      </p:sp>
      <p:sp>
        <p:nvSpPr>
          <p:cNvPr id="14" name="Shape 11"/>
          <p:cNvSpPr/>
          <p:nvPr/>
        </p:nvSpPr>
        <p:spPr>
          <a:xfrm>
            <a:off x="5669280" y="3657600"/>
            <a:ext cx="3017520" cy="1051560"/>
          </a:xfrm>
          <a:prstGeom prst="rect">
            <a:avLst/>
          </a:prstGeom>
          <a:solidFill>
            <a:srgbClr val="2B2B2B"/>
          </a:solidFill>
          <a:ln w="12700">
            <a:solidFill>
              <a:srgbClr val="2B2B2B"/>
            </a:solidFill>
            <a:prstDash val="solid"/>
          </a:ln>
        </p:spPr>
        <p:txBody>
          <a:bodyPr/>
          <a:lstStyle/>
          <a:p>
            <a:endParaRPr lang="en-US"/>
          </a:p>
        </p:txBody>
      </p:sp>
      <p:sp>
        <p:nvSpPr>
          <p:cNvPr id="15" name="Text 12"/>
          <p:cNvSpPr/>
          <p:nvPr/>
        </p:nvSpPr>
        <p:spPr>
          <a:xfrm>
            <a:off x="5669280" y="3703320"/>
            <a:ext cx="3017520" cy="502920"/>
          </a:xfrm>
          <a:prstGeom prst="rect">
            <a:avLst/>
          </a:prstGeom>
          <a:noFill/>
          <a:ln/>
        </p:spPr>
        <p:txBody>
          <a:bodyPr wrap="square" lIns="0" tIns="0" rIns="0" bIns="0" rtlCol="0" anchor="ctr"/>
          <a:lstStyle/>
          <a:p>
            <a:pPr marL="0" indent="0" algn="ctr">
              <a:buNone/>
            </a:pPr>
            <a:r>
              <a:rPr lang="en-US" sz="2800" b="1" dirty="0">
                <a:solidFill>
                  <a:srgbClr val="B85042"/>
                </a:solidFill>
                <a:latin typeface="Georgia" pitchFamily="34" charset="0"/>
                <a:ea typeface="Georgia" pitchFamily="34" charset="-122"/>
                <a:cs typeface="Georgia" pitchFamily="34" charset="-120"/>
              </a:rPr>
              <a:t>4–6×</a:t>
            </a:r>
            <a:endParaRPr lang="en-US" sz="2800" dirty="0"/>
          </a:p>
        </p:txBody>
      </p:sp>
      <p:sp>
        <p:nvSpPr>
          <p:cNvPr id="16" name="Text 13"/>
          <p:cNvSpPr/>
          <p:nvPr/>
        </p:nvSpPr>
        <p:spPr>
          <a:xfrm>
            <a:off x="5806440" y="4206240"/>
            <a:ext cx="2743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more LR-tolerant — and the ranking holds at every model's optimal LR</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2B2B2B"/>
        </a:solidFill>
        <a:effectLst/>
      </p:bgPr>
    </p:bg>
    <p:spTree>
      <p:nvGrpSpPr>
        <p:cNvPr id="1" name="">
          <a:extLst>
            <a:ext uri="{FF2B5EF4-FFF2-40B4-BE49-F238E27FC236}">
              <a16:creationId xmlns:a16="http://schemas.microsoft.com/office/drawing/2014/main" id="{A3B678AB-BCDE-7594-C6D6-BBEB52AF30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D35B67-E6A9-2F72-82EC-DE6D66A7563B}"/>
              </a:ext>
            </a:extLst>
          </p:cNvPr>
          <p:cNvSpPr/>
          <p:nvPr/>
        </p:nvSpPr>
        <p:spPr>
          <a:xfrm>
            <a:off x="8229600" y="4800600"/>
            <a:ext cx="640080" cy="274320"/>
          </a:xfrm>
          <a:prstGeom prst="rect">
            <a:avLst/>
          </a:prstGeom>
          <a:noFill/>
          <a:ln/>
        </p:spPr>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22 / 24</a:t>
            </a:r>
            <a:endParaRPr lang="en-US" sz="900" dirty="0"/>
          </a:p>
        </p:txBody>
      </p:sp>
      <p:sp>
        <p:nvSpPr>
          <p:cNvPr id="3" name="Shape 1">
            <a:extLst>
              <a:ext uri="{FF2B5EF4-FFF2-40B4-BE49-F238E27FC236}">
                <a16:creationId xmlns:a16="http://schemas.microsoft.com/office/drawing/2014/main" id="{73DBFF7C-C41A-F375-024E-3122357AF937}"/>
              </a:ext>
            </a:extLst>
          </p:cNvPr>
          <p:cNvSpPr/>
          <p:nvPr/>
        </p:nvSpPr>
        <p:spPr>
          <a:xfrm>
            <a:off x="457200" y="457200"/>
            <a:ext cx="73152" cy="411480"/>
          </a:xfrm>
          <a:prstGeom prst="rect">
            <a:avLst/>
          </a:prstGeom>
          <a:solidFill>
            <a:srgbClr val="B85042"/>
          </a:solidFill>
          <a:ln w="12700">
            <a:solidFill>
              <a:srgbClr val="B85042"/>
            </a:solidFill>
            <a:prstDash val="solid"/>
          </a:ln>
        </p:spPr>
        <p:txBody>
          <a:bodyPr/>
          <a:lstStyle/>
          <a:p>
            <a:endParaRPr lang="en-US"/>
          </a:p>
        </p:txBody>
      </p:sp>
      <p:sp>
        <p:nvSpPr>
          <p:cNvPr id="4" name="Text 2">
            <a:extLst>
              <a:ext uri="{FF2B5EF4-FFF2-40B4-BE49-F238E27FC236}">
                <a16:creationId xmlns:a16="http://schemas.microsoft.com/office/drawing/2014/main" id="{C2F5099C-E71F-D1BA-B6C3-AE300A6E9EE8}"/>
              </a:ext>
            </a:extLst>
          </p:cNvPr>
          <p:cNvSpPr/>
          <p:nvPr/>
        </p:nvSpPr>
        <p:spPr>
          <a:xfrm>
            <a:off x="640080" y="457200"/>
            <a:ext cx="7772400" cy="411480"/>
          </a:xfrm>
          <a:prstGeom prst="rect">
            <a:avLst/>
          </a:prstGeom>
          <a:noFill/>
          <a:ln/>
        </p:spPr>
        <p:txBody>
          <a:bodyPr wrap="square" lIns="0" tIns="0" rIns="0" bIns="0" rtlCol="0" anchor="ctr"/>
          <a:lstStyle/>
          <a:p>
            <a:pPr marL="0" indent="0">
              <a:buNone/>
            </a:pPr>
            <a:r>
              <a:rPr lang="en-US" sz="1000" b="1" kern="0" spc="400" dirty="0">
                <a:solidFill>
                  <a:srgbClr val="B85042"/>
                </a:solidFill>
                <a:latin typeface="Calibri" pitchFamily="34" charset="0"/>
                <a:ea typeface="Calibri" pitchFamily="34" charset="-122"/>
                <a:cs typeface="Calibri" pitchFamily="34" charset="-120"/>
              </a:rPr>
              <a:t>05  /  CONCLUSION</a:t>
            </a:r>
            <a:endParaRPr lang="en-US" sz="1000" dirty="0"/>
          </a:p>
        </p:txBody>
      </p:sp>
      <p:sp>
        <p:nvSpPr>
          <p:cNvPr id="5" name="Text 3">
            <a:extLst>
              <a:ext uri="{FF2B5EF4-FFF2-40B4-BE49-F238E27FC236}">
                <a16:creationId xmlns:a16="http://schemas.microsoft.com/office/drawing/2014/main" id="{7D6C5341-BCC3-3479-C595-7E998BC31E35}"/>
              </a:ext>
            </a:extLst>
          </p:cNvPr>
          <p:cNvSpPr/>
          <p:nvPr/>
        </p:nvSpPr>
        <p:spPr>
          <a:xfrm>
            <a:off x="457200" y="1097280"/>
            <a:ext cx="8229600" cy="1097280"/>
          </a:xfrm>
          <a:prstGeom prst="rect">
            <a:avLst/>
          </a:prstGeom>
          <a:noFill/>
          <a:ln/>
        </p:spPr>
        <p:txBody>
          <a:bodyPr wrap="square" lIns="0" tIns="0" rIns="0" bIns="0" rtlCol="0" anchor="t"/>
          <a:lstStyle/>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Architectural paradigm doesn't just affect </a:t>
            </a:r>
            <a:r>
              <a:rPr lang="en-US" sz="2400" b="1" i="1" dirty="0">
                <a:solidFill>
                  <a:srgbClr val="FFFFFF"/>
                </a:solidFill>
                <a:latin typeface="Georgia" pitchFamily="34" charset="0"/>
                <a:ea typeface="Georgia" pitchFamily="34" charset="-122"/>
                <a:cs typeface="Georgia" pitchFamily="34" charset="-120"/>
              </a:rPr>
              <a:t>how much</a:t>
            </a:r>
            <a:r>
              <a:rPr lang="en-US" sz="2400" b="1" dirty="0">
                <a:solidFill>
                  <a:srgbClr val="FFFFFF"/>
                </a:solidFill>
                <a:latin typeface="Georgia" pitchFamily="34" charset="0"/>
                <a:ea typeface="Georgia" pitchFamily="34" charset="-122"/>
                <a:cs typeface="Georgia" pitchFamily="34" charset="-120"/>
              </a:rPr>
              <a:t> error a model produces —</a:t>
            </a:r>
            <a:endParaRPr lang="en-US" sz="2400" dirty="0"/>
          </a:p>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it determines </a:t>
            </a:r>
            <a:r>
              <a:rPr lang="en-US" sz="2400" b="1" i="1" dirty="0">
                <a:solidFill>
                  <a:srgbClr val="B85042"/>
                </a:solidFill>
                <a:latin typeface="Georgia" pitchFamily="34" charset="0"/>
                <a:ea typeface="Georgia" pitchFamily="34" charset="-122"/>
                <a:cs typeface="Georgia" pitchFamily="34" charset="-120"/>
              </a:rPr>
              <a:t>what kind</a:t>
            </a:r>
            <a:r>
              <a:rPr lang="en-US" sz="2400" b="1" dirty="0">
                <a:solidFill>
                  <a:srgbClr val="FFFFFF"/>
                </a:solidFill>
                <a:latin typeface="Georgia" pitchFamily="34" charset="0"/>
                <a:ea typeface="Georgia" pitchFamily="34" charset="-122"/>
                <a:cs typeface="Georgia" pitchFamily="34" charset="-120"/>
              </a:rPr>
              <a:t> of error.</a:t>
            </a:r>
            <a:endParaRPr lang="en-US" sz="2400" dirty="0"/>
          </a:p>
        </p:txBody>
      </p:sp>
      <p:sp>
        <p:nvSpPr>
          <p:cNvPr id="6" name="Text 4">
            <a:extLst>
              <a:ext uri="{FF2B5EF4-FFF2-40B4-BE49-F238E27FC236}">
                <a16:creationId xmlns:a16="http://schemas.microsoft.com/office/drawing/2014/main" id="{1B8FB9FF-E152-BBF7-DE0B-6CBD724FBF80}"/>
              </a:ext>
            </a:extLst>
          </p:cNvPr>
          <p:cNvSpPr/>
          <p:nvPr/>
        </p:nvSpPr>
        <p:spPr>
          <a:xfrm>
            <a:off x="457200" y="2468880"/>
            <a:ext cx="8229600" cy="274320"/>
          </a:xfrm>
          <a:prstGeom prst="rect">
            <a:avLst/>
          </a:prstGeom>
          <a:noFill/>
          <a:ln/>
        </p:spPr>
        <p:txBody>
          <a:bodyPr wrap="square" lIns="0" tIns="0" rIns="0" bIns="0" rtlCol="0" anchor="ctr"/>
          <a:lstStyle/>
          <a:p>
            <a:pPr marL="0" indent="0">
              <a:buNone/>
            </a:pPr>
            <a:r>
              <a:rPr lang="en-US" sz="900" b="1" kern="0" spc="400" dirty="0">
                <a:solidFill>
                  <a:srgbClr val="B85042"/>
                </a:solidFill>
                <a:latin typeface="Calibri" pitchFamily="34" charset="0"/>
                <a:ea typeface="Calibri" pitchFamily="34" charset="-122"/>
                <a:cs typeface="Calibri" pitchFamily="34" charset="-120"/>
              </a:rPr>
              <a:t>DEMONSTRATED THROUGH</a:t>
            </a:r>
            <a:endParaRPr lang="en-US" sz="900" dirty="0"/>
          </a:p>
        </p:txBody>
      </p:sp>
      <p:sp>
        <p:nvSpPr>
          <p:cNvPr id="7" name="Shape 5">
            <a:extLst>
              <a:ext uri="{FF2B5EF4-FFF2-40B4-BE49-F238E27FC236}">
                <a16:creationId xmlns:a16="http://schemas.microsoft.com/office/drawing/2014/main" id="{C4F5176C-0747-C7F6-B9FF-886CE37C74E0}"/>
              </a:ext>
            </a:extLst>
          </p:cNvPr>
          <p:cNvSpPr/>
          <p:nvPr/>
        </p:nvSpPr>
        <p:spPr>
          <a:xfrm>
            <a:off x="457200" y="2926080"/>
            <a:ext cx="54864" cy="274320"/>
          </a:xfrm>
          <a:prstGeom prst="rect">
            <a:avLst/>
          </a:prstGeom>
          <a:solidFill>
            <a:srgbClr val="B85042"/>
          </a:solidFill>
          <a:ln w="12700">
            <a:solidFill>
              <a:srgbClr val="B85042"/>
            </a:solidFill>
            <a:prstDash val="solid"/>
          </a:ln>
        </p:spPr>
        <p:txBody>
          <a:bodyPr/>
          <a:lstStyle/>
          <a:p>
            <a:endParaRPr lang="en-US"/>
          </a:p>
        </p:txBody>
      </p:sp>
      <p:sp>
        <p:nvSpPr>
          <p:cNvPr id="8" name="Text 6">
            <a:extLst>
              <a:ext uri="{FF2B5EF4-FFF2-40B4-BE49-F238E27FC236}">
                <a16:creationId xmlns:a16="http://schemas.microsoft.com/office/drawing/2014/main" id="{1269AC0A-DF0F-CD8D-3501-B299CD9E36A5}"/>
              </a:ext>
            </a:extLst>
          </p:cNvPr>
          <p:cNvSpPr/>
          <p:nvPr/>
        </p:nvSpPr>
        <p:spPr>
          <a:xfrm>
            <a:off x="640080" y="2788920"/>
            <a:ext cx="8046720" cy="5029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Aggregate performance  </a:t>
            </a:r>
            <a:r>
              <a:rPr lang="en-US" sz="1100" dirty="0">
                <a:solidFill>
                  <a:srgbClr val="CCCCCC"/>
                </a:solidFill>
                <a:latin typeface="Calibri" pitchFamily="34" charset="0"/>
                <a:ea typeface="Calibri" pitchFamily="34" charset="-122"/>
                <a:cs typeface="Calibri" pitchFamily="34" charset="-120"/>
              </a:rPr>
              <a:t>ConvNeXt &gt; ViT &gt; ResNet50, consistent across all four metrics, on both SGFood-233 and Food-101.</a:t>
            </a:r>
            <a:endParaRPr lang="en-US" sz="1200" dirty="0"/>
          </a:p>
        </p:txBody>
      </p:sp>
      <p:sp>
        <p:nvSpPr>
          <p:cNvPr id="9" name="Shape 7">
            <a:extLst>
              <a:ext uri="{FF2B5EF4-FFF2-40B4-BE49-F238E27FC236}">
                <a16:creationId xmlns:a16="http://schemas.microsoft.com/office/drawing/2014/main" id="{7023D1A4-C82E-511D-C0C5-7FCE3CDD751C}"/>
              </a:ext>
            </a:extLst>
          </p:cNvPr>
          <p:cNvSpPr/>
          <p:nvPr/>
        </p:nvSpPr>
        <p:spPr>
          <a:xfrm>
            <a:off x="457200" y="3429000"/>
            <a:ext cx="54864" cy="274320"/>
          </a:xfrm>
          <a:prstGeom prst="rect">
            <a:avLst/>
          </a:prstGeom>
          <a:solidFill>
            <a:srgbClr val="B85042"/>
          </a:solidFill>
          <a:ln w="12700">
            <a:solidFill>
              <a:srgbClr val="B85042"/>
            </a:solidFill>
            <a:prstDash val="solid"/>
          </a:ln>
        </p:spPr>
        <p:txBody>
          <a:bodyPr/>
          <a:lstStyle/>
          <a:p>
            <a:endParaRPr lang="en-US"/>
          </a:p>
        </p:txBody>
      </p:sp>
      <p:sp>
        <p:nvSpPr>
          <p:cNvPr id="10" name="Text 8">
            <a:extLst>
              <a:ext uri="{FF2B5EF4-FFF2-40B4-BE49-F238E27FC236}">
                <a16:creationId xmlns:a16="http://schemas.microsoft.com/office/drawing/2014/main" id="{02E62280-0412-27FF-191B-C4C72DBD626B}"/>
              </a:ext>
            </a:extLst>
          </p:cNvPr>
          <p:cNvSpPr/>
          <p:nvPr/>
        </p:nvSpPr>
        <p:spPr>
          <a:xfrm>
            <a:off x="640080" y="3291840"/>
            <a:ext cx="8046720" cy="5029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Mechanistic error analysis  </a:t>
            </a:r>
            <a:r>
              <a:rPr lang="en-US" sz="1100" dirty="0">
                <a:solidFill>
                  <a:srgbClr val="CCCCCC"/>
                </a:solidFill>
                <a:latin typeface="Calibri" pitchFamily="34" charset="0"/>
                <a:ea typeface="Calibri" pitchFamily="34" charset="-122"/>
                <a:cs typeface="Calibri" pitchFamily="34" charset="-120"/>
              </a:rPr>
              <a:t>Three distinct, architecturally-grounded failure modes — texture trap, semantic attractor, intermediate-scale ambiguity.</a:t>
            </a:r>
            <a:endParaRPr lang="en-US" sz="1200" dirty="0"/>
          </a:p>
        </p:txBody>
      </p:sp>
      <p:sp>
        <p:nvSpPr>
          <p:cNvPr id="11" name="Shape 9">
            <a:extLst>
              <a:ext uri="{FF2B5EF4-FFF2-40B4-BE49-F238E27FC236}">
                <a16:creationId xmlns:a16="http://schemas.microsoft.com/office/drawing/2014/main" id="{0B35F3B8-6FCE-E0DB-68C4-5E68B524A17C}"/>
              </a:ext>
            </a:extLst>
          </p:cNvPr>
          <p:cNvSpPr/>
          <p:nvPr/>
        </p:nvSpPr>
        <p:spPr>
          <a:xfrm>
            <a:off x="457200" y="3931920"/>
            <a:ext cx="54864" cy="274320"/>
          </a:xfrm>
          <a:prstGeom prst="rect">
            <a:avLst/>
          </a:prstGeom>
          <a:solidFill>
            <a:srgbClr val="B85042"/>
          </a:solidFill>
          <a:ln w="12700">
            <a:solidFill>
              <a:srgbClr val="B85042"/>
            </a:solidFill>
            <a:prstDash val="solid"/>
          </a:ln>
        </p:spPr>
        <p:txBody>
          <a:bodyPr/>
          <a:lstStyle/>
          <a:p>
            <a:endParaRPr lang="en-US"/>
          </a:p>
        </p:txBody>
      </p:sp>
      <p:sp>
        <p:nvSpPr>
          <p:cNvPr id="12" name="Text 10">
            <a:extLst>
              <a:ext uri="{FF2B5EF4-FFF2-40B4-BE49-F238E27FC236}">
                <a16:creationId xmlns:a16="http://schemas.microsoft.com/office/drawing/2014/main" id="{92E78508-5266-5F89-F080-3007E71942E1}"/>
              </a:ext>
            </a:extLst>
          </p:cNvPr>
          <p:cNvSpPr/>
          <p:nvPr/>
        </p:nvSpPr>
        <p:spPr>
          <a:xfrm>
            <a:off x="640080" y="3794760"/>
            <a:ext cx="8046720" cy="5029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Robustness verification  </a:t>
            </a:r>
            <a:r>
              <a:rPr lang="en-US" sz="1100" dirty="0">
                <a:solidFill>
                  <a:srgbClr val="CCCCCC"/>
                </a:solidFill>
                <a:latin typeface="Calibri" pitchFamily="34" charset="0"/>
                <a:ea typeface="Calibri" pitchFamily="34" charset="-122"/>
                <a:cs typeface="Calibri" pitchFamily="34" charset="-120"/>
              </a:rPr>
              <a:t>Ranking holds at each model's optimal LR; ConvNeXt is 4–6× more LR-tolerant than alternatives.</a:t>
            </a:r>
            <a:endParaRPr lang="en-US" sz="1200" dirty="0"/>
          </a:p>
        </p:txBody>
      </p:sp>
      <p:sp>
        <p:nvSpPr>
          <p:cNvPr id="13" name="Shape 11">
            <a:extLst>
              <a:ext uri="{FF2B5EF4-FFF2-40B4-BE49-F238E27FC236}">
                <a16:creationId xmlns:a16="http://schemas.microsoft.com/office/drawing/2014/main" id="{D84D507B-F8B1-B92A-8E03-6844BE36D779}"/>
              </a:ext>
            </a:extLst>
          </p:cNvPr>
          <p:cNvSpPr/>
          <p:nvPr/>
        </p:nvSpPr>
        <p:spPr>
          <a:xfrm>
            <a:off x="457200" y="4434840"/>
            <a:ext cx="8229600" cy="365760"/>
          </a:xfrm>
          <a:prstGeom prst="rect">
            <a:avLst/>
          </a:prstGeom>
          <a:solidFill>
            <a:srgbClr val="B85042"/>
          </a:solidFill>
          <a:ln w="12700">
            <a:solidFill>
              <a:srgbClr val="B85042"/>
            </a:solidFill>
            <a:prstDash val="solid"/>
          </a:ln>
        </p:spPr>
        <p:txBody>
          <a:bodyPr/>
          <a:lstStyle/>
          <a:p>
            <a:endParaRPr lang="en-US"/>
          </a:p>
        </p:txBody>
      </p:sp>
      <p:sp>
        <p:nvSpPr>
          <p:cNvPr id="14" name="Text 12">
            <a:extLst>
              <a:ext uri="{FF2B5EF4-FFF2-40B4-BE49-F238E27FC236}">
                <a16:creationId xmlns:a16="http://schemas.microsoft.com/office/drawing/2014/main" id="{16AE753C-02A9-B506-7D77-4B24DC05D9F0}"/>
              </a:ext>
            </a:extLst>
          </p:cNvPr>
          <p:cNvSpPr/>
          <p:nvPr/>
        </p:nvSpPr>
        <p:spPr>
          <a:xfrm>
            <a:off x="640080" y="4434840"/>
            <a:ext cx="7863840" cy="36576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IMPLICATION   </a:t>
            </a:r>
            <a:r>
              <a:rPr lang="en-US" sz="1200" dirty="0">
                <a:solidFill>
                  <a:srgbClr val="FFFFFF"/>
                </a:solidFill>
                <a:latin typeface="Calibri" pitchFamily="34" charset="0"/>
                <a:ea typeface="Calibri" pitchFamily="34" charset="-122"/>
                <a:cs typeface="Calibri" pitchFamily="34" charset="-120"/>
              </a:rPr>
              <a:t>Transformer-inspired </a:t>
            </a:r>
            <a:r>
              <a:rPr lang="en-US" sz="1200" b="1" i="1" dirty="0">
                <a:solidFill>
                  <a:srgbClr val="FFFFFF"/>
                </a:solidFill>
                <a:latin typeface="Calibri" pitchFamily="34" charset="0"/>
                <a:ea typeface="Calibri" pitchFamily="34" charset="-122"/>
                <a:cs typeface="Calibri" pitchFamily="34" charset="-120"/>
              </a:rPr>
              <a:t>design principles</a:t>
            </a:r>
            <a:r>
              <a:rPr lang="en-US" sz="1200" dirty="0">
                <a:solidFill>
                  <a:srgbClr val="FFFFFF"/>
                </a:solidFill>
                <a:latin typeface="Calibri" pitchFamily="34" charset="0"/>
                <a:ea typeface="Calibri" pitchFamily="34" charset="-122"/>
                <a:cs typeface="Calibri" pitchFamily="34" charset="-120"/>
              </a:rPr>
              <a:t> proved more valuable than the self-attention mechanism itself for fine-grained food classification.</a:t>
            </a:r>
            <a:endParaRPr lang="en-US" sz="1000" dirty="0"/>
          </a:p>
        </p:txBody>
      </p:sp>
    </p:spTree>
    <p:extLst>
      <p:ext uri="{BB962C8B-B14F-4D97-AF65-F5344CB8AC3E}">
        <p14:creationId xmlns:p14="http://schemas.microsoft.com/office/powerpoint/2010/main" val="1933934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92557bb-29d9-4db5-97de-94064226b94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AA9D4832DA77F47A0E79BF81D45FC8F" ma:contentTypeVersion="15" ma:contentTypeDescription="Create a new document." ma:contentTypeScope="" ma:versionID="4c42d134a51ab62dccc8b74ae2ba43fb">
  <xsd:schema xmlns:xsd="http://www.w3.org/2001/XMLSchema" xmlns:xs="http://www.w3.org/2001/XMLSchema" xmlns:p="http://schemas.microsoft.com/office/2006/metadata/properties" xmlns:ns3="b92557bb-29d9-4db5-97de-94064226b94a" xmlns:ns4="e248a7f9-d594-4163-89dc-1580db8bad40" targetNamespace="http://schemas.microsoft.com/office/2006/metadata/properties" ma:root="true" ma:fieldsID="d0e075757951356b00ea6f199c7b5673" ns3:_="" ns4:_="">
    <xsd:import namespace="b92557bb-29d9-4db5-97de-94064226b94a"/>
    <xsd:import namespace="e248a7f9-d594-4163-89dc-1580db8bad4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2557bb-29d9-4db5-97de-94064226b9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ObjectDetectorVersions" ma:index="1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_activity" ma:index="18" nillable="true" ma:displayName="_activity" ma:hidden="true" ma:internalName="_activity">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48a7f9-d594-4163-89dc-1580db8bad40"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0655CD-1922-472E-ADBF-D850E38FB253}">
  <ds:schemaRefs>
    <ds:schemaRef ds:uri="http://schemas.microsoft.com/office/2006/metadata/properties"/>
    <ds:schemaRef ds:uri="http://schemas.microsoft.com/office/2006/documentManagement/types"/>
    <ds:schemaRef ds:uri="http://schemas.openxmlformats.org/package/2006/metadata/core-properties"/>
    <ds:schemaRef ds:uri="b92557bb-29d9-4db5-97de-94064226b94a"/>
    <ds:schemaRef ds:uri="http://www.w3.org/XML/1998/namespace"/>
    <ds:schemaRef ds:uri="http://purl.org/dc/terms/"/>
    <ds:schemaRef ds:uri="http://schemas.microsoft.com/office/infopath/2007/PartnerControls"/>
    <ds:schemaRef ds:uri="e248a7f9-d594-4163-89dc-1580db8bad40"/>
    <ds:schemaRef ds:uri="http://purl.org/dc/dcmitype/"/>
    <ds:schemaRef ds:uri="http://purl.org/dc/elements/1.1/"/>
  </ds:schemaRefs>
</ds:datastoreItem>
</file>

<file path=customXml/itemProps2.xml><?xml version="1.0" encoding="utf-8"?>
<ds:datastoreItem xmlns:ds="http://schemas.openxmlformats.org/officeDocument/2006/customXml" ds:itemID="{BEB3571A-6C07-454F-8499-10B1E6944E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2557bb-29d9-4db5-97de-94064226b94a"/>
    <ds:schemaRef ds:uri="e248a7f9-d594-4163-89dc-1580db8bad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9E5AD15-10AC-42F9-92B3-89012C8BE75D}">
  <ds:schemaRefs>
    <ds:schemaRef ds:uri="http://schemas.microsoft.com/sharepoint/v3/contenttype/forms"/>
  </ds:schemaRefs>
</ds:datastoreItem>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13812</TotalTime>
  <Words>8212</Words>
  <Application>Microsoft Office PowerPoint</Application>
  <PresentationFormat>On-screen Show (16:9)</PresentationFormat>
  <Paragraphs>1384</Paragraphs>
  <Slides>51</Slides>
  <Notes>51</Notes>
  <HiddenSlides>19</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CCDS25-0476 — Food Recognition and Classification</dc:title>
  <dc:subject>PptxGenJS Presentation</dc:subject>
  <dc:creator>Lim Xin Wei</dc:creator>
  <cp:lastModifiedBy>#LIM XIN WEI#</cp:lastModifiedBy>
  <cp:revision>2</cp:revision>
  <dcterms:created xsi:type="dcterms:W3CDTF">2026-04-26T13:02:09Z</dcterms:created>
  <dcterms:modified xsi:type="dcterms:W3CDTF">2026-05-07T03:23:10Z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0x0101003AA9D4832DA77F47A0E79BF81D45FC8F</vt:lpwstr>
  </property>
</Properties>
</file>